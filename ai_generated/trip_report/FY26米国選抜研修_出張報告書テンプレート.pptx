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0" r:id="rId4"/>
  </p:sldMasterIdLst>
  <p:notesMasterIdLst>
    <p:notesMasterId r:id="rId22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9"/>
    <p:sldId id="269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04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2D93"/>
    <a:srgbClr val="FEEEF3"/>
    <a:srgbClr val="B48436"/>
    <a:srgbClr val="EBBC39"/>
    <a:srgbClr val="4B4BB3"/>
    <a:srgbClr val="5757B9"/>
    <a:srgbClr val="5F4BB3"/>
    <a:srgbClr val="4146B1"/>
    <a:srgbClr val="C5923F"/>
    <a:srgbClr val="EDC2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65" autoAdjust="0"/>
    <p:restoredTop sz="96242" autoAdjust="0"/>
  </p:normalViewPr>
  <p:slideViewPr>
    <p:cSldViewPr snapToGrid="0">
      <p:cViewPr varScale="1">
        <p:scale>
          <a:sx n="55" d="100"/>
          <a:sy n="55" d="100"/>
        </p:scale>
        <p:origin x="1284" y="264"/>
      </p:cViewPr>
      <p:guideLst>
        <p:guide orient="horz" pos="270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8" Type="http://schemas.openxmlformats.org/officeDocument/2006/relationships/slide" Target="slides/slide14.xml"/><Relationship Id="rId9" Type="http://schemas.openxmlformats.org/officeDocument/2006/relationships/slide" Target="slides/slide13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3173D41C-0B2F-3F48-AC54-C84354B72998}" type="datetimeFigureOut">
              <a:rPr lang="ja-JP" altLang="en-US" smtClean="0"/>
              <a:pPr/>
              <a:t>2026/2/6</a:t>
            </a:fld>
            <a:endParaRPr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95264989-93E1-9545-8BFA-40130515852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54511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訪問先や CES の日数が変わったら、目次と3章のスライドを合わせて直してください。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今年度の研修目的を記入します。前年度の報告書の「研修目的」を参考にしてください。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便名は e申請の旅程から記入しています。変更があれば直してください。【 】は訪問先・イベントに置き換えます。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参加者は確定リスト(US希望7名)から記入しています。確定後に更新してください。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セッション・ブースごとに ①②… を追加します。所感の枠は、自分の言葉で書きます。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セッション・ブースごとに ①②… を追加します。所感の枠は、自分の言葉で書きます。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セッション・ブースごとに ①②… を追加します。所感の枠は、自分の言葉で書きます。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訪問後に記入します。訪問先が公開していない情報の扱いは、訪問先のルールに従ってください。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訪問後に記入します。訪問先が公開していない情報の扱いは、訪問先のルールに従ってください。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訪問後に記入します。訪問先が公開していない情報の扱いは、訪問先のルールに従ってください。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訪問後に記入します。訪問先が公開していない情報の扱いは、訪問先のルールに従ってください。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所感は各自が自分の言葉で書きます。長くなる場合は、1名1スライドに分けてください。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4.png"/><Relationship Id="rId4" Type="http://schemas.microsoft.com/office/2007/relationships/hdphoto" Target="../media/hdphoto1.wdp"/><Relationship Id="rId5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4.png"/><Relationship Id="rId4" Type="http://schemas.microsoft.com/office/2007/relationships/hdphoto" Target="../media/hdphoto1.wdp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4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4.png"/><Relationship Id="rId4" Type="http://schemas.microsoft.com/office/2007/relationships/hdphoto" Target="../media/hdphoto1.wdp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図 25">
            <a:extLst>
              <a:ext uri="{FF2B5EF4-FFF2-40B4-BE49-F238E27FC236}">
                <a16:creationId xmlns:a16="http://schemas.microsoft.com/office/drawing/2014/main" id="{1EF2E3FE-5BD3-F30D-0F76-B8DF9B6BF0F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 flipH="1">
            <a:off x="-1" y="0"/>
            <a:ext cx="12192000" cy="6858000"/>
          </a:xfrm>
          <a:prstGeom prst="rect">
            <a:avLst/>
          </a:prstGeom>
        </p:spPr>
      </p:pic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A86A99E2-387B-E68F-1C36-06CE37502B82}"/>
              </a:ext>
            </a:extLst>
          </p:cNvPr>
          <p:cNvSpPr/>
          <p:nvPr userDrawn="1"/>
        </p:nvSpPr>
        <p:spPr>
          <a:xfrm>
            <a:off x="0" y="0"/>
            <a:ext cx="11925300" cy="6858000"/>
          </a:xfrm>
          <a:prstGeom prst="rect">
            <a:avLst/>
          </a:prstGeom>
          <a:gradFill>
            <a:gsLst>
              <a:gs pos="76000">
                <a:srgbClr val="000C37">
                  <a:alpha val="0"/>
                </a:srgbClr>
              </a:gs>
              <a:gs pos="8000">
                <a:srgbClr val="000C37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6000" y="3261750"/>
            <a:ext cx="10800000" cy="639301"/>
          </a:xfrm>
          <a:prstGeom prst="rect">
            <a:avLst/>
          </a:prstGeom>
        </p:spPr>
        <p:txBody>
          <a:bodyPr lIns="0" tIns="0" rIns="36000" bIns="0" anchor="b" anchorCtr="0">
            <a:noAutofit/>
          </a:bodyPr>
          <a:lstStyle>
            <a:lvl1pPr algn="l">
              <a:lnSpc>
                <a:spcPct val="110000"/>
              </a:lnSpc>
              <a:defRPr sz="5400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0"/>
          </p:nvPr>
        </p:nvSpPr>
        <p:spPr>
          <a:xfrm>
            <a:off x="696000" y="4427944"/>
            <a:ext cx="10800000" cy="274637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400" spc="100" baseline="0">
                <a:solidFill>
                  <a:schemeClr val="bg1"/>
                </a:solidFill>
                <a:latin typeface="+mn-lt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CA1E1519-F8A5-4385-74CE-437DBD4BDABB}"/>
              </a:ext>
            </a:extLst>
          </p:cNvPr>
          <p:cNvSpPr/>
          <p:nvPr/>
        </p:nvSpPr>
        <p:spPr>
          <a:xfrm>
            <a:off x="8955885" y="253005"/>
            <a:ext cx="3014694" cy="639301"/>
          </a:xfrm>
          <a:prstGeom prst="roundRect">
            <a:avLst>
              <a:gd name="adj" fmla="val 77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4046C3A-A168-701D-FA3F-0DB6C85B4217}"/>
              </a:ext>
            </a:extLst>
          </p:cNvPr>
          <p:cNvGrpSpPr/>
          <p:nvPr userDrawn="1"/>
        </p:nvGrpSpPr>
        <p:grpSpPr>
          <a:xfrm>
            <a:off x="-2641253" y="2567733"/>
            <a:ext cx="2472696" cy="4229099"/>
            <a:chOff x="-2641253" y="2567733"/>
            <a:chExt cx="2472696" cy="4229099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8A0A7D72-842E-7BE9-6249-71CB63ACADFE}"/>
                </a:ext>
              </a:extLst>
            </p:cNvPr>
            <p:cNvSpPr/>
            <p:nvPr userDrawn="1"/>
          </p:nvSpPr>
          <p:spPr>
            <a:xfrm>
              <a:off x="-2641253" y="2567733"/>
              <a:ext cx="2472696" cy="4229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9FBBCC80-FA25-D584-92F1-46CB3D373CD8}"/>
                </a:ext>
              </a:extLst>
            </p:cNvPr>
            <p:cNvSpPr txBox="1"/>
            <p:nvPr userDrawn="1"/>
          </p:nvSpPr>
          <p:spPr>
            <a:xfrm>
              <a:off x="-2449933" y="2894355"/>
              <a:ext cx="1944000" cy="28800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32323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ベース</a:t>
              </a:r>
              <a:r>
                <a:rPr kumimoji="1" lang="ja-JP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232323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（テキスト・背景）</a:t>
              </a: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647F3EFB-40FF-5F67-AAAB-3A283CDB85A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449933" y="3179590"/>
              <a:ext cx="360000" cy="360000"/>
            </a:xfrm>
            <a:prstGeom prst="rect">
              <a:avLst/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E8107AC2-588D-1D48-4233-C0DDBCB23BE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958322" y="3179590"/>
              <a:ext cx="360000" cy="360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FFE9F3FD-707E-B189-E290-EA5BE3C2932A}"/>
                </a:ext>
              </a:extLst>
            </p:cNvPr>
            <p:cNvSpPr txBox="1"/>
            <p:nvPr userDrawn="1"/>
          </p:nvSpPr>
          <p:spPr>
            <a:xfrm>
              <a:off x="-2449933" y="3716319"/>
              <a:ext cx="1944000" cy="28800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32323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メイン</a:t>
              </a:r>
              <a:r>
                <a:rPr kumimoji="1" lang="ja-JP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232323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（見出し・強調）</a:t>
              </a: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C6021868-767D-24BB-D06E-191A19A0067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449933" y="4004319"/>
              <a:ext cx="360000" cy="360000"/>
            </a:xfrm>
            <a:prstGeom prst="rect">
              <a:avLst/>
            </a:prstGeom>
            <a:solidFill>
              <a:srgbClr val="192D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F09723A3-57BE-F3A6-BFDF-CC1EFB3D027C}"/>
                </a:ext>
              </a:extLst>
            </p:cNvPr>
            <p:cNvSpPr txBox="1"/>
            <p:nvPr userDrawn="1"/>
          </p:nvSpPr>
          <p:spPr>
            <a:xfrm>
              <a:off x="-2449933" y="4538283"/>
              <a:ext cx="1944000" cy="28800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32323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アクセント</a:t>
              </a:r>
              <a:r>
                <a:rPr kumimoji="1" lang="ja-JP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232323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（注目・注意）</a:t>
              </a: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0FAB321F-C868-2347-F6C1-CA7883AAAF4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449933" y="4826283"/>
              <a:ext cx="360000" cy="360000"/>
            </a:xfrm>
            <a:prstGeom prst="rect">
              <a:avLst/>
            </a:prstGeom>
            <a:solidFill>
              <a:srgbClr val="F753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8108E28D-F4E0-78E7-0B3F-A2DE71DB9A23}"/>
                </a:ext>
              </a:extLst>
            </p:cNvPr>
            <p:cNvSpPr txBox="1"/>
            <p:nvPr userDrawn="1"/>
          </p:nvSpPr>
          <p:spPr>
            <a:xfrm>
              <a:off x="-2449933" y="5360247"/>
              <a:ext cx="1944000" cy="28800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32323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サブ</a:t>
              </a:r>
              <a:r>
                <a:rPr kumimoji="1" lang="ja-JP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232323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（メイン・アクセントの補完）</a:t>
              </a: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A30DC82B-0144-9506-2547-06E4A9ED705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449933" y="5645482"/>
              <a:ext cx="360000" cy="360000"/>
            </a:xfrm>
            <a:prstGeom prst="rect">
              <a:avLst/>
            </a:prstGeom>
            <a:solidFill>
              <a:srgbClr val="F0F3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1330FDD2-C43E-4B99-C5E1-9C4BC5095076}"/>
                </a:ext>
              </a:extLst>
            </p:cNvPr>
            <p:cNvSpPr>
              <a:spLocks/>
            </p:cNvSpPr>
            <p:nvPr/>
          </p:nvSpPr>
          <p:spPr>
            <a:xfrm>
              <a:off x="-2449933" y="6100868"/>
              <a:ext cx="906305" cy="252000"/>
            </a:xfrm>
            <a:prstGeom prst="rect">
              <a:avLst/>
            </a:prstGeom>
            <a:solidFill>
              <a:srgbClr val="172E6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ポジティブ</a:t>
              </a:r>
              <a:endPara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4AA2A9EF-8541-D214-60B5-6041AFFDA028}"/>
                </a:ext>
              </a:extLst>
            </p:cNvPr>
            <p:cNvSpPr>
              <a:spLocks/>
            </p:cNvSpPr>
            <p:nvPr/>
          </p:nvSpPr>
          <p:spPr>
            <a:xfrm>
              <a:off x="-1404905" y="6100868"/>
              <a:ext cx="906305" cy="252000"/>
            </a:xfrm>
            <a:prstGeom prst="rect">
              <a:avLst/>
            </a:prstGeom>
            <a:solidFill>
              <a:srgbClr val="7D818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ネガティブ</a:t>
              </a:r>
              <a:endPara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DB6C3B22-ECFA-2DDA-5BEC-8AAF5437DD93}"/>
                </a:ext>
              </a:extLst>
            </p:cNvPr>
            <p:cNvSpPr/>
            <p:nvPr/>
          </p:nvSpPr>
          <p:spPr>
            <a:xfrm>
              <a:off x="-2449933" y="6405668"/>
              <a:ext cx="608111" cy="252000"/>
            </a:xfrm>
            <a:prstGeom prst="rect">
              <a:avLst/>
            </a:prstGeom>
            <a:solidFill>
              <a:srgbClr val="7D818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過去</a:t>
              </a: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7155A5DC-AA69-CC13-683B-160738456E59}"/>
                </a:ext>
              </a:extLst>
            </p:cNvPr>
            <p:cNvSpPr/>
            <p:nvPr/>
          </p:nvSpPr>
          <p:spPr>
            <a:xfrm>
              <a:off x="-1778322" y="6405668"/>
              <a:ext cx="608111" cy="252000"/>
            </a:xfrm>
            <a:prstGeom prst="rect">
              <a:avLst/>
            </a:prstGeom>
            <a:solidFill>
              <a:srgbClr val="172E6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現在</a:t>
              </a: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42FCE11A-DEE8-D4AC-E0B7-64EB4BBBBEE2}"/>
                </a:ext>
              </a:extLst>
            </p:cNvPr>
            <p:cNvSpPr/>
            <p:nvPr/>
          </p:nvSpPr>
          <p:spPr>
            <a:xfrm>
              <a:off x="-1106711" y="6405668"/>
              <a:ext cx="608111" cy="252000"/>
            </a:xfrm>
            <a:prstGeom prst="rect">
              <a:avLst/>
            </a:prstGeom>
            <a:solidFill>
              <a:srgbClr val="6F8FC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未来</a:t>
              </a:r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6B78CF22-9103-8299-5BC3-4DD65A781A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1935583" y="5645482"/>
              <a:ext cx="360000" cy="360000"/>
            </a:xfrm>
            <a:prstGeom prst="rect">
              <a:avLst/>
            </a:prstGeom>
            <a:solidFill>
              <a:srgbClr val="7D818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7132B14A-55BE-3578-E109-9247AAF152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1421233" y="5645482"/>
              <a:ext cx="360000" cy="360000"/>
            </a:xfrm>
            <a:prstGeom prst="rect">
              <a:avLst/>
            </a:prstGeom>
            <a:solidFill>
              <a:srgbClr val="889C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C5AD4B32-6FF9-F1EB-5EE8-823F1A0BB8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906883" y="5645482"/>
              <a:ext cx="360000" cy="360000"/>
            </a:xfrm>
            <a:prstGeom prst="rect">
              <a:avLst/>
            </a:prstGeom>
            <a:solidFill>
              <a:srgbClr val="5B65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</p:grp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142BDBFE-FA5A-68D6-57F9-4801ACBF2796}"/>
              </a:ext>
            </a:extLst>
          </p:cNvPr>
          <p:cNvGrpSpPr/>
          <p:nvPr userDrawn="1"/>
        </p:nvGrpSpPr>
        <p:grpSpPr>
          <a:xfrm>
            <a:off x="9141619" y="360348"/>
            <a:ext cx="2613529" cy="445847"/>
            <a:chOff x="9141619" y="360348"/>
            <a:chExt cx="2613529" cy="445847"/>
          </a:xfrm>
        </p:grpSpPr>
        <p:pic>
          <p:nvPicPr>
            <p:cNvPr id="30" name="図 29">
              <a:extLst>
                <a:ext uri="{FF2B5EF4-FFF2-40B4-BE49-F238E27FC236}">
                  <a16:creationId xmlns:a16="http://schemas.microsoft.com/office/drawing/2014/main" id="{846EAA66-FB84-7A37-62FD-2AA4F2E322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0153148" y="518766"/>
              <a:ext cx="1602000" cy="115957"/>
            </a:xfrm>
            <a:prstGeom prst="rect">
              <a:avLst/>
            </a:prstGeom>
          </p:spPr>
        </p:pic>
        <p:pic>
          <p:nvPicPr>
            <p:cNvPr id="31" name="図 30">
              <a:extLst>
                <a:ext uri="{FF2B5EF4-FFF2-40B4-BE49-F238E27FC236}">
                  <a16:creationId xmlns:a16="http://schemas.microsoft.com/office/drawing/2014/main" id="{55242A0B-6FF5-D449-F2B5-A633697235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9141619" y="360348"/>
              <a:ext cx="1028700" cy="4458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51503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8">
          <p15:clr>
            <a:srgbClr val="FBAE40"/>
          </p15:clr>
        </p15:guide>
        <p15:guide id="2" pos="724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00273F79-1F69-166F-5F3E-F0A57CAE257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171000"/>
                    </a14:imgEffect>
                    <a14:imgEffect>
                      <a14:brightnessContrast contrast="-62000"/>
                    </a14:imgEffect>
                  </a14:imgLayer>
                </a14:imgProps>
              </a:ext>
            </a:extLst>
          </a:blip>
          <a:srcRect/>
          <a:stretch/>
        </p:blipFill>
        <p:spPr>
          <a:xfrm flipH="1">
            <a:off x="0" y="1335"/>
            <a:ext cx="12189628" cy="6856665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C9ECE0B-5664-F06D-D06B-342DAFED44C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1" name="グラフィックス 26">
            <a:extLst>
              <a:ext uri="{FF2B5EF4-FFF2-40B4-BE49-F238E27FC236}">
                <a16:creationId xmlns:a16="http://schemas.microsoft.com/office/drawing/2014/main" id="{A65CA5F8-CA77-5281-1079-01C765D01894}"/>
              </a:ext>
            </a:extLst>
          </p:cNvPr>
          <p:cNvSpPr/>
          <p:nvPr userDrawn="1"/>
        </p:nvSpPr>
        <p:spPr>
          <a:xfrm>
            <a:off x="11682928" y="6399457"/>
            <a:ext cx="377520" cy="353005"/>
          </a:xfrm>
          <a:prstGeom prst="rect">
            <a:avLst/>
          </a:prstGeom>
          <a:noFill/>
          <a:ln w="12623" cap="flat">
            <a:noFill/>
            <a:prstDash val="solid"/>
            <a:miter/>
          </a:ln>
        </p:spPr>
        <p:txBody>
          <a:bodyPr wrap="none" lIns="0" tIns="36000" rIns="0" bIns="0" rtlCol="0" anchor="ctr"/>
          <a:lstStyle/>
          <a:p>
            <a:pPr algn="r"/>
            <a:fld id="{40C893B2-09BA-4D0D-933E-13433E6B7757}" type="slidenum">
              <a:rPr lang="en-US" altLang="ja-JP" sz="1100" b="1" spc="100" baseline="0" smtClean="0">
                <a:solidFill>
                  <a:schemeClr val="tx2">
                    <a:lumMod val="75000"/>
                  </a:schemeClr>
                </a:solidFill>
                <a:latin typeface="+mj-lt"/>
              </a:rPr>
              <a:pPr algn="r"/>
              <a:t>‹#›</a:t>
            </a:fld>
            <a:endParaRPr lang="ja-JP" altLang="en-US" sz="1100" b="1" spc="100" baseline="0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1EB0B37-ED4C-BC51-9407-2579777909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6000" y="3128400"/>
            <a:ext cx="10800000" cy="63930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ct val="110000"/>
              </a:lnSpc>
              <a:defRPr sz="360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CF06AB66-10B8-33DE-996A-64F0EA43CF8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10" t="33285" r="10" b="33285"/>
          <a:stretch/>
        </p:blipFill>
        <p:spPr>
          <a:xfrm flipH="1">
            <a:off x="1186" y="2282687"/>
            <a:ext cx="12189628" cy="2292626"/>
          </a:xfrm>
          <a:custGeom>
            <a:avLst/>
            <a:gdLst>
              <a:gd name="connsiteX0" fmla="*/ 12189628 w 12189628"/>
              <a:gd name="connsiteY0" fmla="*/ 0 h 2292626"/>
              <a:gd name="connsiteX1" fmla="*/ 0 w 12189628"/>
              <a:gd name="connsiteY1" fmla="*/ 0 h 2292626"/>
              <a:gd name="connsiteX2" fmla="*/ 0 w 12189628"/>
              <a:gd name="connsiteY2" fmla="*/ 2292626 h 2292626"/>
              <a:gd name="connsiteX3" fmla="*/ 12189628 w 12189628"/>
              <a:gd name="connsiteY3" fmla="*/ 2292626 h 2292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9628" h="2292626">
                <a:moveTo>
                  <a:pt x="12189628" y="0"/>
                </a:moveTo>
                <a:lnTo>
                  <a:pt x="0" y="0"/>
                </a:lnTo>
                <a:lnTo>
                  <a:pt x="0" y="2292626"/>
                </a:lnTo>
                <a:lnTo>
                  <a:pt x="12189628" y="2292626"/>
                </a:lnTo>
                <a:close/>
              </a:path>
            </a:pathLst>
          </a:custGeom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D3F7986-837A-A923-0E66-60A3B563A63F}"/>
              </a:ext>
            </a:extLst>
          </p:cNvPr>
          <p:cNvSpPr/>
          <p:nvPr userDrawn="1"/>
        </p:nvSpPr>
        <p:spPr>
          <a:xfrm>
            <a:off x="-1" y="2279374"/>
            <a:ext cx="12189628" cy="2292626"/>
          </a:xfrm>
          <a:prstGeom prst="rect">
            <a:avLst/>
          </a:prstGeom>
          <a:gradFill>
            <a:gsLst>
              <a:gs pos="76000">
                <a:srgbClr val="000C37">
                  <a:alpha val="0"/>
                </a:srgbClr>
              </a:gs>
              <a:gs pos="8000">
                <a:srgbClr val="000C37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2293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8">
          <p15:clr>
            <a:srgbClr val="FBAE40"/>
          </p15:clr>
        </p15:guide>
        <p15:guide id="2" pos="724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編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0EB6D7A-BBCA-BD21-390B-A1A21D49F68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171000"/>
                    </a14:imgEffect>
                    <a14:imgEffect>
                      <a14:brightnessContrast contrast="-62000"/>
                    </a14:imgEffect>
                  </a14:imgLayer>
                </a14:imgProps>
              </a:ext>
            </a:extLst>
          </a:blip>
          <a:srcRect/>
          <a:stretch/>
        </p:blipFill>
        <p:spPr>
          <a:xfrm flipH="1">
            <a:off x="1186" y="1335"/>
            <a:ext cx="12189628" cy="6856665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1E78F3E-BDD0-5F21-8FD3-A6793ABE1B6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2716219-318F-E1DA-B995-32D63893F481}"/>
              </a:ext>
            </a:extLst>
          </p:cNvPr>
          <p:cNvSpPr/>
          <p:nvPr userDrawn="1"/>
        </p:nvSpPr>
        <p:spPr>
          <a:xfrm>
            <a:off x="0" y="0"/>
            <a:ext cx="12192000" cy="756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60000">
                <a:schemeClr val="bg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A4B3693-73C5-310F-9347-FC1946D169F8}"/>
              </a:ext>
            </a:extLst>
          </p:cNvPr>
          <p:cNvSpPr/>
          <p:nvPr userDrawn="1"/>
        </p:nvSpPr>
        <p:spPr>
          <a:xfrm>
            <a:off x="0" y="0"/>
            <a:ext cx="108000" cy="75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1" name="グラフィックス 26">
            <a:extLst>
              <a:ext uri="{FF2B5EF4-FFF2-40B4-BE49-F238E27FC236}">
                <a16:creationId xmlns:a16="http://schemas.microsoft.com/office/drawing/2014/main" id="{A65CA5F8-CA77-5281-1079-01C765D01894}"/>
              </a:ext>
            </a:extLst>
          </p:cNvPr>
          <p:cNvSpPr/>
          <p:nvPr userDrawn="1"/>
        </p:nvSpPr>
        <p:spPr>
          <a:xfrm>
            <a:off x="11682928" y="6494707"/>
            <a:ext cx="377520" cy="353005"/>
          </a:xfrm>
          <a:prstGeom prst="rect">
            <a:avLst/>
          </a:prstGeom>
          <a:noFill/>
          <a:ln w="12623" cap="flat">
            <a:noFill/>
            <a:prstDash val="solid"/>
            <a:miter/>
          </a:ln>
        </p:spPr>
        <p:txBody>
          <a:bodyPr wrap="none" lIns="0" tIns="36000" rIns="0" bIns="0" rtlCol="0" anchor="ctr"/>
          <a:lstStyle/>
          <a:p>
            <a:pPr algn="r"/>
            <a:fld id="{40C893B2-09BA-4D0D-933E-13433E6B7757}" type="slidenum">
              <a:rPr lang="en-US" altLang="ja-JP" sz="1200" b="1" spc="100" baseline="0" smtClean="0">
                <a:solidFill>
                  <a:schemeClr val="tx2">
                    <a:lumMod val="75000"/>
                  </a:schemeClr>
                </a:solidFill>
                <a:latin typeface="+mj-lt"/>
              </a:rPr>
              <a:pPr algn="r"/>
              <a:t>‹#›</a:t>
            </a:fld>
            <a:endParaRPr lang="ja-JP" altLang="en-US" sz="1200" b="1" spc="100" baseline="0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7" name="タイトル 16">
            <a:extLst>
              <a:ext uri="{FF2B5EF4-FFF2-40B4-BE49-F238E27FC236}">
                <a16:creationId xmlns:a16="http://schemas.microsoft.com/office/drawing/2014/main" id="{D7F59FCC-024D-3ADC-3CAD-DE59CC030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00" y="227028"/>
            <a:ext cx="11376000" cy="360000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 spc="20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BC4B4942-353E-6CDD-DA36-C0BF1731341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565239" y="203217"/>
            <a:ext cx="2412000" cy="411469"/>
            <a:chOff x="9141619" y="360348"/>
            <a:chExt cx="2613529" cy="445847"/>
          </a:xfrm>
        </p:grpSpPr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84F856D4-196E-6EA6-EEEB-8DD920DE349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10153148" y="518766"/>
              <a:ext cx="1602000" cy="115957"/>
            </a:xfrm>
            <a:prstGeom prst="rect">
              <a:avLst/>
            </a:prstGeom>
          </p:spPr>
        </p:pic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AEE6BDCF-DC40-B55F-EE1F-A554F2B3589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9141619" y="360348"/>
              <a:ext cx="1028700" cy="4458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461459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8">
          <p15:clr>
            <a:srgbClr val="FBAE40"/>
          </p15:clr>
        </p15:guide>
        <p15:guide id="2" pos="7242">
          <p15:clr>
            <a:srgbClr val="FBAE40"/>
          </p15:clr>
        </p15:guide>
        <p15:guide id="3" pos="7423">
          <p15:clr>
            <a:srgbClr val="FBAE40"/>
          </p15:clr>
        </p15:guide>
        <p15:guide id="4" pos="257">
          <p15:clr>
            <a:srgbClr val="FBAE40"/>
          </p15:clr>
        </p15:guide>
        <p15:guide id="6" orient="horz" pos="4065" userDrawn="1">
          <p15:clr>
            <a:srgbClr val="FBAE40"/>
          </p15:clr>
        </p15:guide>
        <p15:guide id="7" orient="horz" pos="107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表紙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AACC110-3F5D-5A11-AB9D-36D0854D6D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171000"/>
                    </a14:imgEffect>
                    <a14:imgEffect>
                      <a14:brightnessContrast contrast="-62000"/>
                    </a14:imgEffect>
                  </a14:imgLayer>
                </a14:imgProps>
              </a:ext>
            </a:extLst>
          </a:blip>
          <a:srcRect/>
          <a:stretch/>
        </p:blipFill>
        <p:spPr>
          <a:xfrm flipH="1">
            <a:off x="1186" y="1335"/>
            <a:ext cx="12189628" cy="6856665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D157256-EA13-E0F2-3EC9-57A7E5826B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969E115-AE41-F222-877A-0E7E3F968442}"/>
              </a:ext>
            </a:extLst>
          </p:cNvPr>
          <p:cNvSpPr/>
          <p:nvPr userDrawn="1"/>
        </p:nvSpPr>
        <p:spPr>
          <a:xfrm>
            <a:off x="-1" y="2279374"/>
            <a:ext cx="12189628" cy="2292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ja-JP" altLang="en-US" dirty="0">
              <a:solidFill>
                <a:schemeClr val="tx1"/>
              </a:solidFill>
            </a:endParaRP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967B24F7-DF6C-A551-7296-674CB433345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600854" y="2919401"/>
            <a:ext cx="6624000" cy="1130003"/>
            <a:chOff x="9141619" y="360348"/>
            <a:chExt cx="2613529" cy="445847"/>
          </a:xfrm>
        </p:grpSpPr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6C846CB2-0E44-6DF9-71BC-00899808C56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10153148" y="518766"/>
              <a:ext cx="1602000" cy="115957"/>
            </a:xfrm>
            <a:prstGeom prst="rect">
              <a:avLst/>
            </a:prstGeom>
          </p:spPr>
        </p:pic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F5B3830C-18D1-FE10-DC58-4F77AE3534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9141619" y="360348"/>
              <a:ext cx="1028700" cy="4458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00524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グループ化 65">
            <a:extLst>
              <a:ext uri="{FF2B5EF4-FFF2-40B4-BE49-F238E27FC236}">
                <a16:creationId xmlns:a16="http://schemas.microsoft.com/office/drawing/2014/main" id="{41B694B8-6245-73F7-5979-C4CAA028A822}"/>
              </a:ext>
            </a:extLst>
          </p:cNvPr>
          <p:cNvGrpSpPr/>
          <p:nvPr userDrawn="1"/>
        </p:nvGrpSpPr>
        <p:grpSpPr>
          <a:xfrm>
            <a:off x="-2641253" y="2567733"/>
            <a:ext cx="2472696" cy="4229099"/>
            <a:chOff x="-2641253" y="2567733"/>
            <a:chExt cx="2472696" cy="4229099"/>
          </a:xfrm>
        </p:grpSpPr>
        <p:sp>
          <p:nvSpPr>
            <p:cNvPr id="67" name="正方形/長方形 66">
              <a:extLst>
                <a:ext uri="{FF2B5EF4-FFF2-40B4-BE49-F238E27FC236}">
                  <a16:creationId xmlns:a16="http://schemas.microsoft.com/office/drawing/2014/main" id="{4245B4D3-D7BB-9395-521D-298340C461EF}"/>
                </a:ext>
              </a:extLst>
            </p:cNvPr>
            <p:cNvSpPr/>
            <p:nvPr userDrawn="1"/>
          </p:nvSpPr>
          <p:spPr>
            <a:xfrm>
              <a:off x="-2641253" y="2567733"/>
              <a:ext cx="2472696" cy="42290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68" name="テキスト ボックス 67">
              <a:extLst>
                <a:ext uri="{FF2B5EF4-FFF2-40B4-BE49-F238E27FC236}">
                  <a16:creationId xmlns:a16="http://schemas.microsoft.com/office/drawing/2014/main" id="{1D449A53-D808-1F76-5321-47EE8BA8AC3B}"/>
                </a:ext>
              </a:extLst>
            </p:cNvPr>
            <p:cNvSpPr txBox="1"/>
            <p:nvPr userDrawn="1"/>
          </p:nvSpPr>
          <p:spPr>
            <a:xfrm>
              <a:off x="-2449933" y="2894355"/>
              <a:ext cx="1944000" cy="28800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32323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ベース</a:t>
              </a:r>
              <a:r>
                <a:rPr kumimoji="1" lang="ja-JP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232323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（テキスト・背景）</a:t>
              </a:r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55AD1DE0-8B32-EC62-C9B0-FAEAA30FB34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449933" y="3179590"/>
              <a:ext cx="360000" cy="360000"/>
            </a:xfrm>
            <a:prstGeom prst="rect">
              <a:avLst/>
            </a:prstGeom>
            <a:solidFill>
              <a:srgbClr val="23232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71" name="正方形/長方形 70">
              <a:extLst>
                <a:ext uri="{FF2B5EF4-FFF2-40B4-BE49-F238E27FC236}">
                  <a16:creationId xmlns:a16="http://schemas.microsoft.com/office/drawing/2014/main" id="{CAA3FBE2-DEBD-1EE2-CCD5-D2D65C1617E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1958322" y="3179590"/>
              <a:ext cx="360000" cy="360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72" name="テキスト ボックス 71">
              <a:extLst>
                <a:ext uri="{FF2B5EF4-FFF2-40B4-BE49-F238E27FC236}">
                  <a16:creationId xmlns:a16="http://schemas.microsoft.com/office/drawing/2014/main" id="{1B948EF1-590B-5212-0727-F29FA5A017E1}"/>
                </a:ext>
              </a:extLst>
            </p:cNvPr>
            <p:cNvSpPr txBox="1"/>
            <p:nvPr userDrawn="1"/>
          </p:nvSpPr>
          <p:spPr>
            <a:xfrm>
              <a:off x="-2449933" y="3716319"/>
              <a:ext cx="1944000" cy="28800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32323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メイン</a:t>
              </a:r>
              <a:r>
                <a:rPr kumimoji="1" lang="ja-JP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232323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（見出し・強調）</a:t>
              </a:r>
            </a:p>
          </p:txBody>
        </p:sp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E31AD677-EB30-735B-8D5B-1A20F95681E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449933" y="4004319"/>
              <a:ext cx="360000" cy="360000"/>
            </a:xfrm>
            <a:prstGeom prst="rect">
              <a:avLst/>
            </a:prstGeom>
            <a:solidFill>
              <a:srgbClr val="192D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74" name="テキスト ボックス 73">
              <a:extLst>
                <a:ext uri="{FF2B5EF4-FFF2-40B4-BE49-F238E27FC236}">
                  <a16:creationId xmlns:a16="http://schemas.microsoft.com/office/drawing/2014/main" id="{2185FB00-93DA-B985-CBBB-59D9349EC4C6}"/>
                </a:ext>
              </a:extLst>
            </p:cNvPr>
            <p:cNvSpPr txBox="1"/>
            <p:nvPr userDrawn="1"/>
          </p:nvSpPr>
          <p:spPr>
            <a:xfrm>
              <a:off x="-2449933" y="4538283"/>
              <a:ext cx="1944000" cy="28800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32323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アクセント</a:t>
              </a:r>
              <a:r>
                <a:rPr kumimoji="1" lang="ja-JP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232323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（注目・注意）</a:t>
              </a:r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82779B81-39C1-DE64-432D-4C377A8E19E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449933" y="4826283"/>
              <a:ext cx="360000" cy="360000"/>
            </a:xfrm>
            <a:prstGeom prst="rect">
              <a:avLst/>
            </a:prstGeom>
            <a:solidFill>
              <a:srgbClr val="F7538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76" name="テキスト ボックス 75">
              <a:extLst>
                <a:ext uri="{FF2B5EF4-FFF2-40B4-BE49-F238E27FC236}">
                  <a16:creationId xmlns:a16="http://schemas.microsoft.com/office/drawing/2014/main" id="{D08467D0-FC79-CFBA-4775-D3D9C72AD584}"/>
                </a:ext>
              </a:extLst>
            </p:cNvPr>
            <p:cNvSpPr txBox="1"/>
            <p:nvPr userDrawn="1"/>
          </p:nvSpPr>
          <p:spPr>
            <a:xfrm>
              <a:off x="-2449933" y="5360247"/>
              <a:ext cx="1944000" cy="28800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232323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サブ</a:t>
              </a:r>
              <a:r>
                <a:rPr kumimoji="1" lang="ja-JP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232323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（メイン・アクセントの補完）</a:t>
              </a:r>
            </a:p>
          </p:txBody>
        </p:sp>
        <p:sp>
          <p:nvSpPr>
            <p:cNvPr id="77" name="正方形/長方形 76">
              <a:extLst>
                <a:ext uri="{FF2B5EF4-FFF2-40B4-BE49-F238E27FC236}">
                  <a16:creationId xmlns:a16="http://schemas.microsoft.com/office/drawing/2014/main" id="{FF39B0FD-BB73-C389-0081-92368DC53C9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-2449933" y="5645482"/>
              <a:ext cx="360000" cy="360000"/>
            </a:xfrm>
            <a:prstGeom prst="rect">
              <a:avLst/>
            </a:prstGeom>
            <a:solidFill>
              <a:srgbClr val="F0F3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D87ADCEF-9128-6E1A-F865-7CB9A624953A}"/>
                </a:ext>
              </a:extLst>
            </p:cNvPr>
            <p:cNvSpPr>
              <a:spLocks/>
            </p:cNvSpPr>
            <p:nvPr/>
          </p:nvSpPr>
          <p:spPr>
            <a:xfrm>
              <a:off x="-2449933" y="6100868"/>
              <a:ext cx="906305" cy="252000"/>
            </a:xfrm>
            <a:prstGeom prst="rect">
              <a:avLst/>
            </a:prstGeom>
            <a:solidFill>
              <a:srgbClr val="172E6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ポジティブ</a:t>
              </a:r>
              <a:endPara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79" name="正方形/長方形 78">
              <a:extLst>
                <a:ext uri="{FF2B5EF4-FFF2-40B4-BE49-F238E27FC236}">
                  <a16:creationId xmlns:a16="http://schemas.microsoft.com/office/drawing/2014/main" id="{5F6F0CA4-AF4C-81E9-9A21-8C54B820899A}"/>
                </a:ext>
              </a:extLst>
            </p:cNvPr>
            <p:cNvSpPr>
              <a:spLocks/>
            </p:cNvSpPr>
            <p:nvPr/>
          </p:nvSpPr>
          <p:spPr>
            <a:xfrm>
              <a:off x="-1404905" y="6100868"/>
              <a:ext cx="906305" cy="252000"/>
            </a:xfrm>
            <a:prstGeom prst="rect">
              <a:avLst/>
            </a:prstGeom>
            <a:solidFill>
              <a:srgbClr val="7D818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ネガティブ</a:t>
              </a:r>
              <a:endPara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769E83D1-B443-67BB-6CBF-53BA2CE96A00}"/>
                </a:ext>
              </a:extLst>
            </p:cNvPr>
            <p:cNvSpPr/>
            <p:nvPr/>
          </p:nvSpPr>
          <p:spPr>
            <a:xfrm>
              <a:off x="-2449933" y="6405668"/>
              <a:ext cx="608111" cy="252000"/>
            </a:xfrm>
            <a:prstGeom prst="rect">
              <a:avLst/>
            </a:prstGeom>
            <a:solidFill>
              <a:srgbClr val="7D818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過去</a:t>
              </a:r>
            </a:p>
          </p:txBody>
        </p:sp>
        <p:sp>
          <p:nvSpPr>
            <p:cNvPr id="81" name="正方形/長方形 80">
              <a:extLst>
                <a:ext uri="{FF2B5EF4-FFF2-40B4-BE49-F238E27FC236}">
                  <a16:creationId xmlns:a16="http://schemas.microsoft.com/office/drawing/2014/main" id="{8B63DB3E-7DD1-F250-E241-CADD983D4858}"/>
                </a:ext>
              </a:extLst>
            </p:cNvPr>
            <p:cNvSpPr/>
            <p:nvPr/>
          </p:nvSpPr>
          <p:spPr>
            <a:xfrm>
              <a:off x="-1778322" y="6405668"/>
              <a:ext cx="608111" cy="252000"/>
            </a:xfrm>
            <a:prstGeom prst="rect">
              <a:avLst/>
            </a:prstGeom>
            <a:solidFill>
              <a:srgbClr val="172E6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現在</a:t>
              </a:r>
            </a:p>
          </p:txBody>
        </p:sp>
        <p:sp>
          <p:nvSpPr>
            <p:cNvPr id="82" name="正方形/長方形 81">
              <a:extLst>
                <a:ext uri="{FF2B5EF4-FFF2-40B4-BE49-F238E27FC236}">
                  <a16:creationId xmlns:a16="http://schemas.microsoft.com/office/drawing/2014/main" id="{3DED9999-7404-5C6E-270A-863566435D65}"/>
                </a:ext>
              </a:extLst>
            </p:cNvPr>
            <p:cNvSpPr/>
            <p:nvPr/>
          </p:nvSpPr>
          <p:spPr>
            <a:xfrm>
              <a:off x="-1106711" y="6405668"/>
              <a:ext cx="608111" cy="252000"/>
            </a:xfrm>
            <a:prstGeom prst="rect">
              <a:avLst/>
            </a:prstGeom>
            <a:solidFill>
              <a:srgbClr val="6F8FC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未来</a:t>
              </a:r>
            </a:p>
          </p:txBody>
        </p:sp>
        <p:sp>
          <p:nvSpPr>
            <p:cNvPr id="83" name="正方形/長方形 82">
              <a:extLst>
                <a:ext uri="{FF2B5EF4-FFF2-40B4-BE49-F238E27FC236}">
                  <a16:creationId xmlns:a16="http://schemas.microsoft.com/office/drawing/2014/main" id="{87821C8A-A88B-6032-1443-DB571731829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1935583" y="5645482"/>
              <a:ext cx="360000" cy="360000"/>
            </a:xfrm>
            <a:prstGeom prst="rect">
              <a:avLst/>
            </a:prstGeom>
            <a:solidFill>
              <a:srgbClr val="7D818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B321F4D1-DCA4-DC30-B4FE-2B8873C6A5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1421233" y="5645482"/>
              <a:ext cx="360000" cy="360000"/>
            </a:xfrm>
            <a:prstGeom prst="rect">
              <a:avLst/>
            </a:prstGeom>
            <a:solidFill>
              <a:srgbClr val="889C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sp>
          <p:nvSpPr>
            <p:cNvPr id="86" name="正方形/長方形 85">
              <a:extLst>
                <a:ext uri="{FF2B5EF4-FFF2-40B4-BE49-F238E27FC236}">
                  <a16:creationId xmlns:a16="http://schemas.microsoft.com/office/drawing/2014/main" id="{F28577B3-3569-04E0-959A-2809356FE2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906883" y="5645482"/>
              <a:ext cx="360000" cy="360000"/>
            </a:xfrm>
            <a:prstGeom prst="rect">
              <a:avLst/>
            </a:prstGeom>
            <a:solidFill>
              <a:srgbClr val="5B65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3184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5" r:id="rId3"/>
    <p:sldLayoutId id="2147483663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120000"/>
        </a:lnSpc>
        <a:spcBef>
          <a:spcPts val="1000"/>
        </a:spcBef>
        <a:spcAft>
          <a:spcPts val="70"/>
        </a:spcAft>
        <a:buFont typeface="Arial" panose="020B0604020202020204" pitchFamily="34" charset="0"/>
        <a:buChar char="•"/>
        <a:defRPr kumimoji="1" sz="2800" kern="1200" baseline="0">
          <a:solidFill>
            <a:schemeClr val="tx1"/>
          </a:solidFill>
          <a:latin typeface="+mn-lt"/>
          <a:ea typeface="+mn-ea"/>
          <a:cs typeface="メイリオ" panose="020B0604030504040204" pitchFamily="50" charset="-128"/>
        </a:defRPr>
      </a:lvl1pPr>
      <a:lvl2pPr marL="685800" indent="-228600" algn="just" defTabSz="914400" rtl="0" eaLnBrk="1" latinLnBrk="0" hangingPunct="1">
        <a:lnSpc>
          <a:spcPct val="120000"/>
        </a:lnSpc>
        <a:spcBef>
          <a:spcPts val="500"/>
        </a:spcBef>
        <a:spcAft>
          <a:spcPts val="70"/>
        </a:spcAft>
        <a:buFont typeface="Arial" panose="020B0604020202020204" pitchFamily="34" charset="0"/>
        <a:buChar char="•"/>
        <a:defRPr kumimoji="1" sz="2400" kern="1200" baseline="0">
          <a:solidFill>
            <a:schemeClr val="tx1"/>
          </a:solidFill>
          <a:latin typeface="+mn-lt"/>
          <a:ea typeface="+mn-ea"/>
          <a:cs typeface="メイリオ" panose="020B0604030504040204" pitchFamily="50" charset="-128"/>
        </a:defRPr>
      </a:lvl2pPr>
      <a:lvl3pPr marL="1143000" indent="-228600" algn="just" defTabSz="914400" rtl="0" eaLnBrk="1" latinLnBrk="0" hangingPunct="1">
        <a:lnSpc>
          <a:spcPct val="120000"/>
        </a:lnSpc>
        <a:spcBef>
          <a:spcPts val="500"/>
        </a:spcBef>
        <a:spcAft>
          <a:spcPts val="70"/>
        </a:spcAft>
        <a:buFont typeface="Arial" panose="020B0604020202020204" pitchFamily="34" charset="0"/>
        <a:buChar char="•"/>
        <a:defRPr kumimoji="1" sz="2000" kern="1200" baseline="0">
          <a:solidFill>
            <a:schemeClr val="tx1"/>
          </a:solidFill>
          <a:latin typeface="+mn-lt"/>
          <a:ea typeface="+mn-ea"/>
          <a:cs typeface="メイリオ" panose="020B0604030504040204" pitchFamily="50" charset="-128"/>
        </a:defRPr>
      </a:lvl3pPr>
      <a:lvl4pPr marL="1600200" indent="-228600" algn="just" defTabSz="914400" rtl="0" eaLnBrk="1" latinLnBrk="0" hangingPunct="1">
        <a:lnSpc>
          <a:spcPct val="120000"/>
        </a:lnSpc>
        <a:spcBef>
          <a:spcPts val="500"/>
        </a:spcBef>
        <a:spcAft>
          <a:spcPts val="70"/>
        </a:spcAft>
        <a:buFont typeface="Arial" panose="020B0604020202020204" pitchFamily="34" charset="0"/>
        <a:buChar char="•"/>
        <a:defRPr kumimoji="1" sz="1800" kern="1200" baseline="0">
          <a:solidFill>
            <a:schemeClr val="tx1"/>
          </a:solidFill>
          <a:latin typeface="+mn-lt"/>
          <a:ea typeface="+mn-ea"/>
          <a:cs typeface="メイリオ" panose="020B0604030504040204" pitchFamily="50" charset="-128"/>
        </a:defRPr>
      </a:lvl4pPr>
      <a:lvl5pPr marL="2057400" indent="-228600" algn="just" defTabSz="914400" rtl="0" eaLnBrk="1" latinLnBrk="0" hangingPunct="1">
        <a:lnSpc>
          <a:spcPct val="120000"/>
        </a:lnSpc>
        <a:spcBef>
          <a:spcPts val="500"/>
        </a:spcBef>
        <a:spcAft>
          <a:spcPts val="70"/>
        </a:spcAft>
        <a:buFont typeface="Arial" panose="020B0604020202020204" pitchFamily="34" charset="0"/>
        <a:buChar char="•"/>
        <a:defRPr kumimoji="1" sz="1800" kern="1200" baseline="0">
          <a:solidFill>
            <a:schemeClr val="tx1"/>
          </a:solidFill>
          <a:latin typeface="+mn-lt"/>
          <a:ea typeface="+mn-ea"/>
          <a:cs typeface="メイリオ" panose="020B0604030504040204" pitchFamily="50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FY26 情通事業G</a:t>
            </a:r>
          </a:p>
          <a:p>
            <a:r>
              <a:t>米国選抜研修</a:t>
            </a:r>
          </a:p>
          <a:p>
            <a:r>
              <a:t>報告書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【20XX年XX月XX日】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62626"/>
                </a:solidFill>
                <a:latin typeface="メイリオ"/>
              </a:rPr>
              <a:t>1.  研修目的</a:t>
            </a:r>
          </a:p>
          <a:p>
            <a:r>
              <a:rPr sz="2000" b="0">
                <a:solidFill>
                  <a:srgbClr val="262626"/>
                </a:solidFill>
                <a:latin typeface="メイリオ"/>
              </a:rPr>
              <a:t/>
            </a:r>
          </a:p>
          <a:p>
            <a:r>
              <a:rPr sz="2000" b="0">
                <a:solidFill>
                  <a:srgbClr val="262626"/>
                </a:solidFill>
                <a:latin typeface="メイリオ"/>
              </a:rPr>
              <a:t>2.  スケジュール概要/参加者</a:t>
            </a:r>
          </a:p>
          <a:p>
            <a:r>
              <a:rPr sz="2000" b="0">
                <a:solidFill>
                  <a:srgbClr val="262626"/>
                </a:solidFill>
                <a:latin typeface="メイリオ"/>
              </a:rPr>
              <a:t/>
            </a:r>
          </a:p>
          <a:p>
            <a:r>
              <a:rPr sz="2000" b="0">
                <a:solidFill>
                  <a:srgbClr val="262626"/>
                </a:solidFill>
                <a:latin typeface="メイリオ"/>
              </a:rPr>
              <a:t>3.  訪問先概要</a:t>
            </a:r>
          </a:p>
          <a:p>
            <a:r>
              <a:rPr sz="2000" b="0">
                <a:solidFill>
                  <a:srgbClr val="262626"/>
                </a:solidFill>
                <a:latin typeface="メイリオ"/>
              </a:rPr>
              <a:t>      ●  CES 2027(1日目〜3日目)</a:t>
            </a:r>
          </a:p>
          <a:p>
            <a:r>
              <a:rPr sz="2000" b="0">
                <a:solidFill>
                  <a:srgbClr val="262626"/>
                </a:solidFill>
                <a:latin typeface="メイリオ"/>
              </a:rPr>
              <a:t>      ●  Cisco</a:t>
            </a:r>
          </a:p>
          <a:p>
            <a:r>
              <a:rPr sz="2000" b="0">
                <a:solidFill>
                  <a:srgbClr val="262626"/>
                </a:solidFill>
                <a:latin typeface="メイリオ"/>
              </a:rPr>
              <a:t>      ●  Exaforce</a:t>
            </a:r>
          </a:p>
          <a:p>
            <a:r>
              <a:rPr sz="2000" b="0">
                <a:solidFill>
                  <a:srgbClr val="262626"/>
                </a:solidFill>
                <a:latin typeface="メイリオ"/>
              </a:rPr>
              <a:t>      ●  Forward Networks</a:t>
            </a:r>
          </a:p>
          <a:p>
            <a:r>
              <a:rPr sz="2000" b="0">
                <a:solidFill>
                  <a:srgbClr val="262626"/>
                </a:solidFill>
                <a:latin typeface="メイリオ"/>
              </a:rPr>
              <a:t>      ●  CTC America</a:t>
            </a:r>
          </a:p>
          <a:p>
            <a:r>
              <a:rPr sz="2000" b="0">
                <a:solidFill>
                  <a:srgbClr val="262626"/>
                </a:solidFill>
                <a:latin typeface="メイリオ"/>
              </a:rPr>
              <a:t/>
            </a:r>
          </a:p>
          <a:p>
            <a:r>
              <a:rPr sz="2000" b="0">
                <a:solidFill>
                  <a:srgbClr val="262626"/>
                </a:solidFill>
                <a:latin typeface="メイリオ"/>
              </a:rPr>
              <a:t>4.  所感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研修目的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38560" cy="4937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8575">
            <a:solidFill>
              <a:srgbClr val="1B2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>
                <a:solidFill>
                  <a:srgbClr val="7F7F7F"/>
                </a:solidFill>
                <a:latin typeface="メイリオ"/>
              </a:rPr>
              <a:t>•  【研修目的1】</a:t>
            </a:r>
          </a:p>
          <a:p>
            <a:pPr algn="ctr"/>
            <a:r>
              <a:rPr sz="2000">
                <a:solidFill>
                  <a:srgbClr val="7F7F7F"/>
                </a:solidFill>
                <a:latin typeface="メイリオ"/>
              </a:rPr>
              <a:t/>
            </a:r>
          </a:p>
          <a:p>
            <a:pPr algn="ctr"/>
            <a:r>
              <a:rPr sz="2000">
                <a:solidFill>
                  <a:srgbClr val="7F7F7F"/>
                </a:solidFill>
                <a:latin typeface="メイリオ"/>
              </a:rPr>
              <a:t>•  【研修目的2】</a:t>
            </a:r>
          </a:p>
          <a:p>
            <a:pPr algn="ctr"/>
            <a:r>
              <a:rPr sz="2000">
                <a:solidFill>
                  <a:srgbClr val="7F7F7F"/>
                </a:solidFill>
                <a:latin typeface="メイリオ"/>
              </a:rPr>
              <a:t/>
            </a:r>
          </a:p>
          <a:p>
            <a:pPr algn="ctr"/>
            <a:r>
              <a:rPr sz="2000">
                <a:solidFill>
                  <a:srgbClr val="7F7F7F"/>
                </a:solidFill>
                <a:latin typeface="メイリオ"/>
              </a:rPr>
              <a:t>•  【研修目的3】</a:t>
            </a:r>
          </a:p>
          <a:p>
            <a:pPr algn="ctr"/>
            <a:r>
              <a:rPr sz="2000">
                <a:solidFill>
                  <a:srgbClr val="7F7F7F"/>
                </a:solidFill>
                <a:latin typeface="メイリオ"/>
              </a:rPr>
              <a:t/>
            </a:r>
          </a:p>
          <a:p>
            <a:pPr algn="ctr"/>
            <a:r>
              <a:rPr sz="2000">
                <a:solidFill>
                  <a:srgbClr val="7F7F7F"/>
                </a:solidFill>
                <a:latin typeface="メイリオ"/>
              </a:rPr>
              <a:t>•  【研修目的4】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スケジュール概要/参加者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8696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62626"/>
                </a:solidFill>
                <a:latin typeface="メイリオ"/>
              </a:rPr>
              <a:t>◆ スケジュール : 2027年1月5日(火)〜1月14日(木)</a:t>
            </a:r>
          </a:p>
          <a:p>
            <a:r>
              <a:rPr sz="1600" b="0">
                <a:solidFill>
                  <a:srgbClr val="7F7F7F"/>
                </a:solidFill>
                <a:latin typeface="メイリオ"/>
              </a:rPr>
              <a:t>   【研修の概要を1行で。例: CES 視察と米国ベンダー訪問】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600200"/>
          <a:ext cx="113385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822960"/>
                <a:gridCol w="2926080"/>
                <a:gridCol w="438912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日付</a:t>
                      </a:r>
                    </a:p>
                  </a:txBody>
                  <a:tcPr anchor="ctr">
                    <a:solidFill>
                      <a:srgbClr val="1B2A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曜日</a:t>
                      </a:r>
                    </a:p>
                  </a:txBody>
                  <a:tcPr anchor="ctr">
                    <a:solidFill>
                      <a:srgbClr val="1B2A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午前</a:t>
                      </a:r>
                    </a:p>
                  </a:txBody>
                  <a:tcPr anchor="ctr">
                    <a:solidFill>
                      <a:srgbClr val="1B2A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午後</a:t>
                      </a:r>
                    </a:p>
                  </a:txBody>
                  <a:tcPr anchor="ctr">
                    <a:solidFill>
                      <a:srgbClr val="1B2A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</a:rPr>
                        <a:t>宿泊</a:t>
                      </a:r>
                    </a:p>
                  </a:txBody>
                  <a:tcPr anchor="ctr">
                    <a:solidFill>
                      <a:srgbClr val="1B2A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メイリオ"/>
                        </a:rPr>
                        <a:t>1/5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メイリオ"/>
                        </a:rPr>
                        <a:t>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メイリオ"/>
                        </a:rPr>
                        <a:t>出国便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メイリオ"/>
                        </a:rPr>
                        <a:t>NH008 成田→サンフランシスコ / UA661 →ラスベガス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メイリオ"/>
                        </a:rPr>
                        <a:t>Mandalay Bay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メイリオ"/>
                        </a:rPr>
                        <a:t>1/6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メイリオ"/>
                        </a:rPr>
                        <a:t>水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  <a:latin typeface="メイリオ"/>
                        </a:rPr>
                        <a:t>【CES 1日目】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  <a:latin typeface="メイリオ"/>
                        </a:rPr>
                        <a:t>【CES 1日目】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メイリオ"/>
                        </a:rPr>
                        <a:t>Mandalay Bay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メイリオ"/>
                        </a:rPr>
                        <a:t>1/7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メイリオ"/>
                        </a:rPr>
                        <a:t>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  <a:latin typeface="メイリオ"/>
                        </a:rPr>
                        <a:t>【CES 2日目】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  <a:latin typeface="メイリオ"/>
                        </a:rPr>
                        <a:t>【CES 2日目】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メイリオ"/>
                        </a:rPr>
                        <a:t>Mandalay Bay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メイリオ"/>
                        </a:rPr>
                        <a:t>1/8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メイリオ"/>
                        </a:rPr>
                        <a:t>金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  <a:latin typeface="メイリオ"/>
                        </a:rPr>
                        <a:t>【CES 3日目】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  <a:latin typeface="メイリオ"/>
                        </a:rPr>
                        <a:t>【CES 3日目】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メイリオ"/>
                        </a:rPr>
                        <a:t>Mandalay Bay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メイリオ"/>
                        </a:rPr>
                        <a:t>1/9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メイリオ"/>
                        </a:rPr>
                        <a:t>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  <a:latin typeface="メイリオ"/>
                        </a:rPr>
                        <a:t>【予定】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メイリオ"/>
                        </a:rPr>
                        <a:t>WN2203 ラスベガス→サンフランシスコ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  <a:latin typeface="メイリオ"/>
                        </a:rPr>
                        <a:t>【サンフランシスコのホテル】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メイリオ"/>
                        </a:rPr>
                        <a:t>1/10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メイリオ"/>
                        </a:rPr>
                        <a:t>日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  <a:latin typeface="メイリオ"/>
                        </a:rPr>
                        <a:t>【予定】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  <a:latin typeface="メイリオ"/>
                        </a:rPr>
                        <a:t>【予定】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  <a:latin typeface="メイリオ"/>
                        </a:rPr>
                        <a:t>【サンフランシスコのホテル】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メイリオ"/>
                        </a:rPr>
                        <a:t>1/11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メイリオ"/>
                        </a:rPr>
                        <a:t>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  <a:latin typeface="メイリオ"/>
                        </a:rPr>
                        <a:t>【予定】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  <a:latin typeface="メイリオ"/>
                        </a:rPr>
                        <a:t>【予定】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  <a:latin typeface="メイリオ"/>
                        </a:rPr>
                        <a:t>【サンフランシスコのホテル】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メイリオ"/>
                        </a:rPr>
                        <a:t>1/12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メイリオ"/>
                        </a:rPr>
                        <a:t>火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  <a:latin typeface="メイリオ"/>
                        </a:rPr>
                        <a:t>【予定】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  <a:latin typeface="メイリオ"/>
                        </a:rPr>
                        <a:t>【予定】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  <a:latin typeface="メイリオ"/>
                        </a:rPr>
                        <a:t>【サンフランシスコのホテル】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メイリオ"/>
                        </a:rPr>
                        <a:t>1/13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メイリオ"/>
                        </a:rPr>
                        <a:t>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7F7F7F"/>
                          </a:solidFill>
                          <a:latin typeface="メイリオ"/>
                        </a:rPr>
                        <a:t>【予定】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メイリオ"/>
                        </a:rPr>
                        <a:t>NH107 サンフランシスコ→羽田(帰国便)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メイリオ"/>
                        </a:rPr>
                        <a:t>機内泊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メイリオ"/>
                        </a:rPr>
                        <a:t>1/14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メイリオ"/>
                        </a:rPr>
                        <a:t>木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メイリオ"/>
                        </a:rPr>
                        <a:t>羽田着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メイリオ"/>
                        </a:rPr>
                        <a:t>帰宅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2626"/>
                          </a:solidFill>
                          <a:latin typeface="メイリオ"/>
                        </a:rPr>
                        <a:t>—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スケジュール概要/参加者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8696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7F7F7F"/>
                </a:solidFill>
                <a:latin typeface="メイリオ"/>
              </a:rPr>
              <a:t>◆ 参加者 : 計7名【確定後に更新】</a:t>
            </a:r>
          </a:p>
          <a:p>
            <a:r>
              <a:rPr sz="1600" b="0">
                <a:solidFill>
                  <a:srgbClr val="7F7F7F"/>
                </a:solidFill>
                <a:latin typeface="メイリオ"/>
              </a:rPr>
              <a:t>◆ 職種割合 : 営業3名、SE4名【確定後に更新】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737360"/>
          <a:ext cx="113385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474720"/>
                <a:gridCol w="3566160"/>
                <a:gridCol w="192024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メイリオ"/>
                        </a:rPr>
                        <a:t>#</a:t>
                      </a:r>
                    </a:p>
                  </a:txBody>
                  <a:tcPr anchor="ctr">
                    <a:solidFill>
                      <a:srgbClr val="1B2A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メイリオ"/>
                        </a:rPr>
                        <a:t>本部</a:t>
                      </a:r>
                    </a:p>
                  </a:txBody>
                  <a:tcPr anchor="ctr">
                    <a:solidFill>
                      <a:srgbClr val="1B2A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メイリオ"/>
                        </a:rPr>
                        <a:t>部署</a:t>
                      </a:r>
                    </a:p>
                  </a:txBody>
                  <a:tcPr anchor="ctr">
                    <a:solidFill>
                      <a:srgbClr val="1B2A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メイリオ"/>
                        </a:rPr>
                        <a:t>名前</a:t>
                      </a:r>
                    </a:p>
                  </a:txBody>
                  <a:tcPr anchor="ctr">
                    <a:solidFill>
                      <a:srgbClr val="1B2A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メイリオ"/>
                        </a:rPr>
                        <a:t>役職</a:t>
                      </a:r>
                    </a:p>
                  </a:txBody>
                  <a:tcPr anchor="ctr">
                    <a:solidFill>
                      <a:srgbClr val="1B2A8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>情報通信第1本部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>テクニカルデザイン第4部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>神 崇人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>2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>情報通信第1本部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>通信ビジネス営業第2部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>正木 洋晃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/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>情報通信第3本部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>営業第1部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>平松 優季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>4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>モバイル&amp;サービス本部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>デジタルテクノロジー第3部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>岡崎 勇人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>主任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>SP・メディア技術第2部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>メディア技術第2本部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>菅野 海咲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>6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>情報通信ビジネス企画統括本部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>情報通信事業開発部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>川北 敬仁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/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>情報通信ビジネス企画統括本部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>情報通信事業開発部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>王 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>主任(リーダー)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訪問先概要  CES 2027  1日目  【1/●】参加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869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7F7F7F"/>
                </a:solidFill>
                <a:latin typeface="メイリオ"/>
              </a:rPr>
              <a:t>◆ 【この日に参加した内容の概要。例: 基調講演、展示ブース視察、ベンダーとの面談】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41732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F7F7F"/>
                </a:solidFill>
                <a:latin typeface="メイリオ"/>
              </a:rPr>
              <a:t>①  【時間】 【セッション / ブース名】</a:t>
            </a:r>
          </a:p>
          <a:p>
            <a:r>
              <a:rPr sz="1400" b="0">
                <a:solidFill>
                  <a:srgbClr val="7F7F7F"/>
                </a:solidFill>
                <a:latin typeface="メイリオ"/>
              </a:rPr>
              <a:t>      【登壇者・担当者】</a:t>
            </a:r>
          </a:p>
          <a:p>
            <a:r>
              <a:rPr sz="1400" b="0">
                <a:solidFill>
                  <a:srgbClr val="7F7F7F"/>
                </a:solidFill>
                <a:latin typeface="メイリオ"/>
              </a:rPr>
              <a:t>      【概要: 何が発表・展示されたか】</a:t>
            </a:r>
          </a:p>
          <a:p>
            <a:r>
              <a:rPr sz="1400" b="0">
                <a:solidFill>
                  <a:srgbClr val="262626"/>
                </a:solidFill>
                <a:latin typeface="メイリオ"/>
              </a:rPr>
              <a:t/>
            </a:r>
          </a:p>
          <a:p>
            <a:r>
              <a:rPr sz="1400" b="0">
                <a:solidFill>
                  <a:srgbClr val="7F7F7F"/>
                </a:solidFill>
                <a:latin typeface="メイリオ"/>
              </a:rPr>
              <a:t>②  【時間】 【セッション / ブース名】</a:t>
            </a:r>
          </a:p>
          <a:p>
            <a:r>
              <a:rPr sz="1400" b="0">
                <a:solidFill>
                  <a:srgbClr val="7F7F7F"/>
                </a:solidFill>
                <a:latin typeface="メイリオ"/>
              </a:rPr>
              <a:t>      【登壇者・担当者】</a:t>
            </a:r>
          </a:p>
          <a:p>
            <a:r>
              <a:rPr sz="1400" b="0">
                <a:solidFill>
                  <a:srgbClr val="7F7F7F"/>
                </a:solidFill>
                <a:latin typeface="メイリオ"/>
              </a:rPr>
              <a:t>      【概要】</a:t>
            </a:r>
          </a:p>
          <a:p>
            <a:r>
              <a:rPr sz="1400" b="0">
                <a:solidFill>
                  <a:srgbClr val="262626"/>
                </a:solidFill>
                <a:latin typeface="メイリオ"/>
              </a:rPr>
              <a:t/>
            </a:r>
          </a:p>
          <a:p>
            <a:r>
              <a:rPr sz="1400" b="0">
                <a:solidFill>
                  <a:srgbClr val="7F7F7F"/>
                </a:solidFill>
                <a:latin typeface="メイリオ"/>
              </a:rPr>
              <a:t>③  【時間】 【セッション / ブース名】</a:t>
            </a:r>
          </a:p>
          <a:p>
            <a:r>
              <a:rPr sz="1400" b="0">
                <a:solidFill>
                  <a:srgbClr val="7F7F7F"/>
                </a:solidFill>
                <a:latin typeface="メイリオ"/>
              </a:rPr>
              <a:t>      【概要】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1417320"/>
            <a:ext cx="2011680" cy="1463040"/>
          </a:xfrm>
          <a:prstGeom prst="rect">
            <a:avLst/>
          </a:prstGeom>
          <a:solidFill>
            <a:srgbClr val="DDE0EE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  <a:latin typeface="メイリオ"/>
              </a:rPr>
              <a:t>写真</a:t>
            </a:r>
          </a:p>
        </p:txBody>
      </p:sp>
      <p:sp>
        <p:nvSpPr>
          <p:cNvPr id="6" name="Rectangle 5"/>
          <p:cNvSpPr/>
          <p:nvPr/>
        </p:nvSpPr>
        <p:spPr>
          <a:xfrm>
            <a:off x="9738360" y="1417320"/>
            <a:ext cx="2011680" cy="1463040"/>
          </a:xfrm>
          <a:prstGeom prst="rect">
            <a:avLst/>
          </a:prstGeom>
          <a:solidFill>
            <a:srgbClr val="DDE0EE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  <a:latin typeface="メイリオ"/>
              </a:rPr>
              <a:t>写真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3017520"/>
            <a:ext cx="4160520" cy="2377440"/>
          </a:xfrm>
          <a:prstGeom prst="rect">
            <a:avLst/>
          </a:prstGeom>
          <a:solidFill>
            <a:srgbClr val="DDE0EE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  <a:latin typeface="メイリオ"/>
              </a:rPr>
              <a:t>集合写真・展示の写真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" y="5687568"/>
            <a:ext cx="11795760" cy="104241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8575">
            <a:solidFill>
              <a:srgbClr val="1B2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7F7F7F"/>
                </a:solidFill>
                <a:latin typeface="メイリオ"/>
              </a:rPr>
              <a:t>【所感(自分の言葉で)。印象に残った点、日本市場・CTCの事業への示唆など】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訪問先概要  CES 2027  2日目  【1/●】参加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869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7F7F7F"/>
                </a:solidFill>
                <a:latin typeface="メイリオ"/>
              </a:rPr>
              <a:t>◆ 【この日に参加した内容の概要。例: 基調講演、展示ブース視察、ベンダーとの面談】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41732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F7F7F"/>
                </a:solidFill>
                <a:latin typeface="メイリオ"/>
              </a:rPr>
              <a:t>①  【時間】 【セッション / ブース名】</a:t>
            </a:r>
          </a:p>
          <a:p>
            <a:r>
              <a:rPr sz="1400" b="0">
                <a:solidFill>
                  <a:srgbClr val="7F7F7F"/>
                </a:solidFill>
                <a:latin typeface="メイリオ"/>
              </a:rPr>
              <a:t>      【登壇者・担当者】</a:t>
            </a:r>
          </a:p>
          <a:p>
            <a:r>
              <a:rPr sz="1400" b="0">
                <a:solidFill>
                  <a:srgbClr val="7F7F7F"/>
                </a:solidFill>
                <a:latin typeface="メイリオ"/>
              </a:rPr>
              <a:t>      【概要: 何が発表・展示されたか】</a:t>
            </a:r>
          </a:p>
          <a:p>
            <a:r>
              <a:rPr sz="1400" b="0">
                <a:solidFill>
                  <a:srgbClr val="262626"/>
                </a:solidFill>
                <a:latin typeface="メイリオ"/>
              </a:rPr>
              <a:t/>
            </a:r>
          </a:p>
          <a:p>
            <a:r>
              <a:rPr sz="1400" b="0">
                <a:solidFill>
                  <a:srgbClr val="7F7F7F"/>
                </a:solidFill>
                <a:latin typeface="メイリオ"/>
              </a:rPr>
              <a:t>②  【時間】 【セッション / ブース名】</a:t>
            </a:r>
          </a:p>
          <a:p>
            <a:r>
              <a:rPr sz="1400" b="0">
                <a:solidFill>
                  <a:srgbClr val="7F7F7F"/>
                </a:solidFill>
                <a:latin typeface="メイリオ"/>
              </a:rPr>
              <a:t>      【登壇者・担当者】</a:t>
            </a:r>
          </a:p>
          <a:p>
            <a:r>
              <a:rPr sz="1400" b="0">
                <a:solidFill>
                  <a:srgbClr val="7F7F7F"/>
                </a:solidFill>
                <a:latin typeface="メイリオ"/>
              </a:rPr>
              <a:t>      【概要】</a:t>
            </a:r>
          </a:p>
          <a:p>
            <a:r>
              <a:rPr sz="1400" b="0">
                <a:solidFill>
                  <a:srgbClr val="262626"/>
                </a:solidFill>
                <a:latin typeface="メイリオ"/>
              </a:rPr>
              <a:t/>
            </a:r>
          </a:p>
          <a:p>
            <a:r>
              <a:rPr sz="1400" b="0">
                <a:solidFill>
                  <a:srgbClr val="7F7F7F"/>
                </a:solidFill>
                <a:latin typeface="メイリオ"/>
              </a:rPr>
              <a:t>③  【時間】 【セッション / ブース名】</a:t>
            </a:r>
          </a:p>
          <a:p>
            <a:r>
              <a:rPr sz="1400" b="0">
                <a:solidFill>
                  <a:srgbClr val="7F7F7F"/>
                </a:solidFill>
                <a:latin typeface="メイリオ"/>
              </a:rPr>
              <a:t>      【概要】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1417320"/>
            <a:ext cx="2011680" cy="1463040"/>
          </a:xfrm>
          <a:prstGeom prst="rect">
            <a:avLst/>
          </a:prstGeom>
          <a:solidFill>
            <a:srgbClr val="DDE0EE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  <a:latin typeface="メイリオ"/>
              </a:rPr>
              <a:t>写真</a:t>
            </a:r>
          </a:p>
        </p:txBody>
      </p:sp>
      <p:sp>
        <p:nvSpPr>
          <p:cNvPr id="6" name="Rectangle 5"/>
          <p:cNvSpPr/>
          <p:nvPr/>
        </p:nvSpPr>
        <p:spPr>
          <a:xfrm>
            <a:off x="9738360" y="1417320"/>
            <a:ext cx="2011680" cy="1463040"/>
          </a:xfrm>
          <a:prstGeom prst="rect">
            <a:avLst/>
          </a:prstGeom>
          <a:solidFill>
            <a:srgbClr val="DDE0EE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  <a:latin typeface="メイリオ"/>
              </a:rPr>
              <a:t>写真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3017520"/>
            <a:ext cx="4160520" cy="2377440"/>
          </a:xfrm>
          <a:prstGeom prst="rect">
            <a:avLst/>
          </a:prstGeom>
          <a:solidFill>
            <a:srgbClr val="DDE0EE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  <a:latin typeface="メイリオ"/>
              </a:rPr>
              <a:t>集合写真・展示の写真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" y="5687568"/>
            <a:ext cx="11795760" cy="104241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8575">
            <a:solidFill>
              <a:srgbClr val="1B2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7F7F7F"/>
                </a:solidFill>
                <a:latin typeface="メイリオ"/>
              </a:rPr>
              <a:t>【所感(自分の言葉で)。印象に残った点、日本市場・CTCの事業への示唆など】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訪問先概要  CES 2027  3日目  【1/●】参加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869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7F7F7F"/>
                </a:solidFill>
                <a:latin typeface="メイリオ"/>
              </a:rPr>
              <a:t>◆ 【この日に参加した内容の概要。例: 基調講演、展示ブース視察、ベンダーとの面談】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41732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F7F7F"/>
                </a:solidFill>
                <a:latin typeface="メイリオ"/>
              </a:rPr>
              <a:t>①  【時間】 【セッション / ブース名】</a:t>
            </a:r>
          </a:p>
          <a:p>
            <a:r>
              <a:rPr sz="1400" b="0">
                <a:solidFill>
                  <a:srgbClr val="7F7F7F"/>
                </a:solidFill>
                <a:latin typeface="メイリオ"/>
              </a:rPr>
              <a:t>      【登壇者・担当者】</a:t>
            </a:r>
          </a:p>
          <a:p>
            <a:r>
              <a:rPr sz="1400" b="0">
                <a:solidFill>
                  <a:srgbClr val="7F7F7F"/>
                </a:solidFill>
                <a:latin typeface="メイリオ"/>
              </a:rPr>
              <a:t>      【概要: 何が発表・展示されたか】</a:t>
            </a:r>
          </a:p>
          <a:p>
            <a:r>
              <a:rPr sz="1400" b="0">
                <a:solidFill>
                  <a:srgbClr val="262626"/>
                </a:solidFill>
                <a:latin typeface="メイリオ"/>
              </a:rPr>
              <a:t/>
            </a:r>
          </a:p>
          <a:p>
            <a:r>
              <a:rPr sz="1400" b="0">
                <a:solidFill>
                  <a:srgbClr val="7F7F7F"/>
                </a:solidFill>
                <a:latin typeface="メイリオ"/>
              </a:rPr>
              <a:t>②  【時間】 【セッション / ブース名】</a:t>
            </a:r>
          </a:p>
          <a:p>
            <a:r>
              <a:rPr sz="1400" b="0">
                <a:solidFill>
                  <a:srgbClr val="7F7F7F"/>
                </a:solidFill>
                <a:latin typeface="メイリオ"/>
              </a:rPr>
              <a:t>      【登壇者・担当者】</a:t>
            </a:r>
          </a:p>
          <a:p>
            <a:r>
              <a:rPr sz="1400" b="0">
                <a:solidFill>
                  <a:srgbClr val="7F7F7F"/>
                </a:solidFill>
                <a:latin typeface="メイリオ"/>
              </a:rPr>
              <a:t>      【概要】</a:t>
            </a:r>
          </a:p>
          <a:p>
            <a:r>
              <a:rPr sz="1400" b="0">
                <a:solidFill>
                  <a:srgbClr val="262626"/>
                </a:solidFill>
                <a:latin typeface="メイリオ"/>
              </a:rPr>
              <a:t/>
            </a:r>
          </a:p>
          <a:p>
            <a:r>
              <a:rPr sz="1400" b="0">
                <a:solidFill>
                  <a:srgbClr val="7F7F7F"/>
                </a:solidFill>
                <a:latin typeface="メイリオ"/>
              </a:rPr>
              <a:t>③  【時間】 【セッション / ブース名】</a:t>
            </a:r>
          </a:p>
          <a:p>
            <a:r>
              <a:rPr sz="1400" b="0">
                <a:solidFill>
                  <a:srgbClr val="7F7F7F"/>
                </a:solidFill>
                <a:latin typeface="メイリオ"/>
              </a:rPr>
              <a:t>      【概要】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1417320"/>
            <a:ext cx="2011680" cy="1463040"/>
          </a:xfrm>
          <a:prstGeom prst="rect">
            <a:avLst/>
          </a:prstGeom>
          <a:solidFill>
            <a:srgbClr val="DDE0EE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  <a:latin typeface="メイリオ"/>
              </a:rPr>
              <a:t>写真</a:t>
            </a:r>
          </a:p>
        </p:txBody>
      </p:sp>
      <p:sp>
        <p:nvSpPr>
          <p:cNvPr id="6" name="Rectangle 5"/>
          <p:cNvSpPr/>
          <p:nvPr/>
        </p:nvSpPr>
        <p:spPr>
          <a:xfrm>
            <a:off x="9738360" y="1417320"/>
            <a:ext cx="2011680" cy="1463040"/>
          </a:xfrm>
          <a:prstGeom prst="rect">
            <a:avLst/>
          </a:prstGeom>
          <a:solidFill>
            <a:srgbClr val="DDE0EE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  <a:latin typeface="メイリオ"/>
              </a:rPr>
              <a:t>写真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3017520"/>
            <a:ext cx="4160520" cy="2377440"/>
          </a:xfrm>
          <a:prstGeom prst="rect">
            <a:avLst/>
          </a:prstGeom>
          <a:solidFill>
            <a:srgbClr val="DDE0EE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  <a:latin typeface="メイリオ"/>
              </a:rPr>
              <a:t>集合写真・展示の写真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" y="5687568"/>
            <a:ext cx="11795760" cy="104241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8575">
            <a:solidFill>
              <a:srgbClr val="1B2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7F7F7F"/>
                </a:solidFill>
                <a:latin typeface="メイリオ"/>
              </a:rPr>
              <a:t>【所感(自分の言葉で)。印象に残った点、日本市場・CTCの事業への示唆など】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訪問先概要  Cisco  【月/日 AM/PM】訪問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869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7F7F7F"/>
                </a:solidFill>
                <a:latin typeface="メイリオ"/>
              </a:rPr>
              <a:t>◆ 【訪問内容の概要。例: 会社紹介、製品紹介、デモ、質疑応答】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41732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62626"/>
                </a:solidFill>
                <a:latin typeface="メイリオ"/>
              </a:rPr>
              <a:t>①  会社紹介</a:t>
            </a:r>
          </a:p>
          <a:p>
            <a:r>
              <a:rPr sz="1400" b="0">
                <a:solidFill>
                  <a:srgbClr val="7F7F7F"/>
                </a:solidFill>
                <a:latin typeface="メイリオ"/>
              </a:rPr>
              <a:t>      【設立年・従業員数・本社所在地・拠点】</a:t>
            </a:r>
          </a:p>
          <a:p>
            <a:r>
              <a:rPr sz="1400" b="0">
                <a:solidFill>
                  <a:srgbClr val="7F7F7F"/>
                </a:solidFill>
                <a:latin typeface="メイリオ"/>
              </a:rPr>
              <a:t>      【主力製品・事業の特徴】</a:t>
            </a:r>
          </a:p>
          <a:p>
            <a:r>
              <a:rPr sz="1400" b="0">
                <a:solidFill>
                  <a:srgbClr val="262626"/>
                </a:solidFill>
                <a:latin typeface="メイリオ"/>
              </a:rPr>
              <a:t/>
            </a:r>
          </a:p>
          <a:p>
            <a:r>
              <a:rPr sz="1400" b="0">
                <a:solidFill>
                  <a:srgbClr val="262626"/>
                </a:solidFill>
                <a:latin typeface="メイリオ"/>
              </a:rPr>
              <a:t>②  訪問内容</a:t>
            </a:r>
          </a:p>
          <a:p>
            <a:r>
              <a:rPr sz="1400" b="0">
                <a:solidFill>
                  <a:srgbClr val="7F7F7F"/>
                </a:solidFill>
                <a:latin typeface="メイリオ"/>
              </a:rPr>
              <a:t>      【お会いした方(役職)・説明を受けた内容】</a:t>
            </a:r>
          </a:p>
          <a:p>
            <a:r>
              <a:rPr sz="1400" b="0">
                <a:solidFill>
                  <a:srgbClr val="7F7F7F"/>
                </a:solidFill>
                <a:latin typeface="メイリオ"/>
              </a:rPr>
              <a:t>      【見学した設備・デモ】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1417320"/>
            <a:ext cx="2011680" cy="1463040"/>
          </a:xfrm>
          <a:prstGeom prst="rect">
            <a:avLst/>
          </a:prstGeom>
          <a:solidFill>
            <a:srgbClr val="DDE0EE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  <a:latin typeface="メイリオ"/>
              </a:rPr>
              <a:t>写真</a:t>
            </a:r>
          </a:p>
        </p:txBody>
      </p:sp>
      <p:sp>
        <p:nvSpPr>
          <p:cNvPr id="6" name="Rectangle 5"/>
          <p:cNvSpPr/>
          <p:nvPr/>
        </p:nvSpPr>
        <p:spPr>
          <a:xfrm>
            <a:off x="9738360" y="1417320"/>
            <a:ext cx="2011680" cy="1463040"/>
          </a:xfrm>
          <a:prstGeom prst="rect">
            <a:avLst/>
          </a:prstGeom>
          <a:solidFill>
            <a:srgbClr val="DDE0EE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  <a:latin typeface="メイリオ"/>
              </a:rPr>
              <a:t>写真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3017520"/>
            <a:ext cx="4160520" cy="2377440"/>
          </a:xfrm>
          <a:prstGeom prst="rect">
            <a:avLst/>
          </a:prstGeom>
          <a:solidFill>
            <a:srgbClr val="DDE0EE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  <a:latin typeface="メイリオ"/>
              </a:rPr>
              <a:t>集合写真・展示の写真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" y="5687568"/>
            <a:ext cx="11795760" cy="104241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8575">
            <a:solidFill>
              <a:srgbClr val="1B2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7F7F7F"/>
                </a:solidFill>
                <a:latin typeface="メイリオ"/>
              </a:rPr>
              <a:t>【所感(自分の言葉で)。印象に残った点、日本市場・CTCの事業への示唆など】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訪問先概要  Exaforce  【月/日 AM/PM】訪問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869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7F7F7F"/>
                </a:solidFill>
                <a:latin typeface="メイリオ"/>
              </a:rPr>
              <a:t>◆ 【訪問内容の概要。例: 会社紹介、製品紹介、デモ、質疑応答】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41732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62626"/>
                </a:solidFill>
                <a:latin typeface="メイリオ"/>
              </a:rPr>
              <a:t>①  会社紹介</a:t>
            </a:r>
          </a:p>
          <a:p>
            <a:r>
              <a:rPr sz="1400" b="0">
                <a:solidFill>
                  <a:srgbClr val="7F7F7F"/>
                </a:solidFill>
                <a:latin typeface="メイリオ"/>
              </a:rPr>
              <a:t>      【設立年・従業員数・本社所在地・拠点】</a:t>
            </a:r>
          </a:p>
          <a:p>
            <a:r>
              <a:rPr sz="1400" b="0">
                <a:solidFill>
                  <a:srgbClr val="7F7F7F"/>
                </a:solidFill>
                <a:latin typeface="メイリオ"/>
              </a:rPr>
              <a:t>      【主力製品・事業の特徴】</a:t>
            </a:r>
          </a:p>
          <a:p>
            <a:r>
              <a:rPr sz="1400" b="0">
                <a:solidFill>
                  <a:srgbClr val="262626"/>
                </a:solidFill>
                <a:latin typeface="メイリオ"/>
              </a:rPr>
              <a:t/>
            </a:r>
          </a:p>
          <a:p>
            <a:r>
              <a:rPr sz="1400" b="0">
                <a:solidFill>
                  <a:srgbClr val="262626"/>
                </a:solidFill>
                <a:latin typeface="メイリオ"/>
              </a:rPr>
              <a:t>②  訪問内容</a:t>
            </a:r>
          </a:p>
          <a:p>
            <a:r>
              <a:rPr sz="1400" b="0">
                <a:solidFill>
                  <a:srgbClr val="7F7F7F"/>
                </a:solidFill>
                <a:latin typeface="メイリオ"/>
              </a:rPr>
              <a:t>      【お会いした方(役職)・説明を受けた内容】</a:t>
            </a:r>
          </a:p>
          <a:p>
            <a:r>
              <a:rPr sz="1400" b="0">
                <a:solidFill>
                  <a:srgbClr val="7F7F7F"/>
                </a:solidFill>
                <a:latin typeface="メイリオ"/>
              </a:rPr>
              <a:t>      【見学した設備・デモ】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1417320"/>
            <a:ext cx="2011680" cy="1463040"/>
          </a:xfrm>
          <a:prstGeom prst="rect">
            <a:avLst/>
          </a:prstGeom>
          <a:solidFill>
            <a:srgbClr val="DDE0EE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  <a:latin typeface="メイリオ"/>
              </a:rPr>
              <a:t>写真</a:t>
            </a:r>
          </a:p>
        </p:txBody>
      </p:sp>
      <p:sp>
        <p:nvSpPr>
          <p:cNvPr id="6" name="Rectangle 5"/>
          <p:cNvSpPr/>
          <p:nvPr/>
        </p:nvSpPr>
        <p:spPr>
          <a:xfrm>
            <a:off x="9738360" y="1417320"/>
            <a:ext cx="2011680" cy="1463040"/>
          </a:xfrm>
          <a:prstGeom prst="rect">
            <a:avLst/>
          </a:prstGeom>
          <a:solidFill>
            <a:srgbClr val="DDE0EE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  <a:latin typeface="メイリオ"/>
              </a:rPr>
              <a:t>写真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3017520"/>
            <a:ext cx="4160520" cy="2377440"/>
          </a:xfrm>
          <a:prstGeom prst="rect">
            <a:avLst/>
          </a:prstGeom>
          <a:solidFill>
            <a:srgbClr val="DDE0EE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  <a:latin typeface="メイリオ"/>
              </a:rPr>
              <a:t>集合写真・展示の写真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" y="5687568"/>
            <a:ext cx="11795760" cy="104241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8575">
            <a:solidFill>
              <a:srgbClr val="1B2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7F7F7F"/>
                </a:solidFill>
                <a:latin typeface="メイリオ"/>
              </a:rPr>
              <a:t>【所感(自分の言葉で)。印象に残った点、日本市場・CTCの事業への示唆など】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訪問先概要  Forward Networks  【月/日 AM/PM】訪問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869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7F7F7F"/>
                </a:solidFill>
                <a:latin typeface="メイリオ"/>
              </a:rPr>
              <a:t>◆ 【訪問内容の概要。例: 会社紹介、製品紹介、デモ、質疑応答】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41732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62626"/>
                </a:solidFill>
                <a:latin typeface="メイリオ"/>
              </a:rPr>
              <a:t>①  会社紹介</a:t>
            </a:r>
          </a:p>
          <a:p>
            <a:r>
              <a:rPr sz="1400" b="0">
                <a:solidFill>
                  <a:srgbClr val="7F7F7F"/>
                </a:solidFill>
                <a:latin typeface="メイリオ"/>
              </a:rPr>
              <a:t>      【設立年・従業員数・本社所在地・拠点】</a:t>
            </a:r>
          </a:p>
          <a:p>
            <a:r>
              <a:rPr sz="1400" b="0">
                <a:solidFill>
                  <a:srgbClr val="7F7F7F"/>
                </a:solidFill>
                <a:latin typeface="メイリオ"/>
              </a:rPr>
              <a:t>      【主力製品・事業の特徴】</a:t>
            </a:r>
          </a:p>
          <a:p>
            <a:r>
              <a:rPr sz="1400" b="0">
                <a:solidFill>
                  <a:srgbClr val="262626"/>
                </a:solidFill>
                <a:latin typeface="メイリオ"/>
              </a:rPr>
              <a:t/>
            </a:r>
          </a:p>
          <a:p>
            <a:r>
              <a:rPr sz="1400" b="0">
                <a:solidFill>
                  <a:srgbClr val="262626"/>
                </a:solidFill>
                <a:latin typeface="メイリオ"/>
              </a:rPr>
              <a:t>②  訪問内容</a:t>
            </a:r>
          </a:p>
          <a:p>
            <a:r>
              <a:rPr sz="1400" b="0">
                <a:solidFill>
                  <a:srgbClr val="7F7F7F"/>
                </a:solidFill>
                <a:latin typeface="メイリオ"/>
              </a:rPr>
              <a:t>      【お会いした方(役職)・説明を受けた内容】</a:t>
            </a:r>
          </a:p>
          <a:p>
            <a:r>
              <a:rPr sz="1400" b="0">
                <a:solidFill>
                  <a:srgbClr val="7F7F7F"/>
                </a:solidFill>
                <a:latin typeface="メイリオ"/>
              </a:rPr>
              <a:t>      【見学した設備・デモ】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1417320"/>
            <a:ext cx="2011680" cy="1463040"/>
          </a:xfrm>
          <a:prstGeom prst="rect">
            <a:avLst/>
          </a:prstGeom>
          <a:solidFill>
            <a:srgbClr val="DDE0EE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  <a:latin typeface="メイリオ"/>
              </a:rPr>
              <a:t>写真</a:t>
            </a:r>
          </a:p>
        </p:txBody>
      </p:sp>
      <p:sp>
        <p:nvSpPr>
          <p:cNvPr id="6" name="Rectangle 5"/>
          <p:cNvSpPr/>
          <p:nvPr/>
        </p:nvSpPr>
        <p:spPr>
          <a:xfrm>
            <a:off x="9738360" y="1417320"/>
            <a:ext cx="2011680" cy="1463040"/>
          </a:xfrm>
          <a:prstGeom prst="rect">
            <a:avLst/>
          </a:prstGeom>
          <a:solidFill>
            <a:srgbClr val="DDE0EE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  <a:latin typeface="メイリオ"/>
              </a:rPr>
              <a:t>写真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3017520"/>
            <a:ext cx="4160520" cy="2377440"/>
          </a:xfrm>
          <a:prstGeom prst="rect">
            <a:avLst/>
          </a:prstGeom>
          <a:solidFill>
            <a:srgbClr val="DDE0EE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  <a:latin typeface="メイリオ"/>
              </a:rPr>
              <a:t>集合写真・展示の写真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" y="5687568"/>
            <a:ext cx="11795760" cy="104241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8575">
            <a:solidFill>
              <a:srgbClr val="1B2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7F7F7F"/>
                </a:solidFill>
                <a:latin typeface="メイリオ"/>
              </a:rPr>
              <a:t>【所感(自分の言葉で)。印象に残った点、日本市場・CTCの事業への示唆など】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訪問先概要  CTC America  【月/日 AM/PM】訪問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869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7F7F7F"/>
                </a:solidFill>
                <a:latin typeface="メイリオ"/>
              </a:rPr>
              <a:t>◆ 【訪問内容の概要。例: 会社紹介、製品紹介、デモ、質疑応答】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41732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62626"/>
                </a:solidFill>
                <a:latin typeface="メイリオ"/>
              </a:rPr>
              <a:t>①  拠点紹介</a:t>
            </a:r>
          </a:p>
          <a:p>
            <a:r>
              <a:rPr sz="1400" b="0">
                <a:solidFill>
                  <a:srgbClr val="7F7F7F"/>
                </a:solidFill>
                <a:latin typeface="メイリオ"/>
              </a:rPr>
              <a:t>      【拠点の所在地・体制・役割】</a:t>
            </a:r>
          </a:p>
          <a:p>
            <a:r>
              <a:rPr sz="1400" b="0">
                <a:solidFill>
                  <a:srgbClr val="7F7F7F"/>
                </a:solidFill>
                <a:latin typeface="メイリオ"/>
              </a:rPr>
              <a:t>      【現地での事業内容・取り組み】</a:t>
            </a:r>
          </a:p>
          <a:p>
            <a:r>
              <a:rPr sz="1400" b="0">
                <a:solidFill>
                  <a:srgbClr val="262626"/>
                </a:solidFill>
                <a:latin typeface="メイリオ"/>
              </a:rPr>
              <a:t/>
            </a:r>
          </a:p>
          <a:p>
            <a:r>
              <a:rPr sz="1400" b="0">
                <a:solidFill>
                  <a:srgbClr val="262626"/>
                </a:solidFill>
                <a:latin typeface="メイリオ"/>
              </a:rPr>
              <a:t>②  訪問内容</a:t>
            </a:r>
          </a:p>
          <a:p>
            <a:r>
              <a:rPr sz="1400" b="0">
                <a:solidFill>
                  <a:srgbClr val="7F7F7F"/>
                </a:solidFill>
                <a:latin typeface="メイリオ"/>
              </a:rPr>
              <a:t>      【お会いした方(役職)・説明を受けた内容】</a:t>
            </a:r>
          </a:p>
          <a:p>
            <a:r>
              <a:rPr sz="1400" b="0">
                <a:solidFill>
                  <a:srgbClr val="7F7F7F"/>
                </a:solidFill>
                <a:latin typeface="メイリオ"/>
              </a:rPr>
              <a:t>      【見学した設備・デモ】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1417320"/>
            <a:ext cx="2011680" cy="1463040"/>
          </a:xfrm>
          <a:prstGeom prst="rect">
            <a:avLst/>
          </a:prstGeom>
          <a:solidFill>
            <a:srgbClr val="DDE0EE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  <a:latin typeface="メイリオ"/>
              </a:rPr>
              <a:t>写真</a:t>
            </a:r>
          </a:p>
        </p:txBody>
      </p:sp>
      <p:sp>
        <p:nvSpPr>
          <p:cNvPr id="6" name="Rectangle 5"/>
          <p:cNvSpPr/>
          <p:nvPr/>
        </p:nvSpPr>
        <p:spPr>
          <a:xfrm>
            <a:off x="9738360" y="1417320"/>
            <a:ext cx="2011680" cy="1463040"/>
          </a:xfrm>
          <a:prstGeom prst="rect">
            <a:avLst/>
          </a:prstGeom>
          <a:solidFill>
            <a:srgbClr val="DDE0EE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  <a:latin typeface="メイリオ"/>
              </a:rPr>
              <a:t>写真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3017520"/>
            <a:ext cx="4160520" cy="2377440"/>
          </a:xfrm>
          <a:prstGeom prst="rect">
            <a:avLst/>
          </a:prstGeom>
          <a:solidFill>
            <a:srgbClr val="DDE0EE"/>
          </a:solidFill>
          <a:ln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7F7F7F"/>
                </a:solidFill>
                <a:latin typeface="メイリオ"/>
              </a:rPr>
              <a:t>集合写真・展示の写真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" y="5687568"/>
            <a:ext cx="11795760" cy="104241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8575">
            <a:solidFill>
              <a:srgbClr val="1B2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7F7F7F"/>
                </a:solidFill>
                <a:latin typeface="メイリオ"/>
              </a:rPr>
              <a:t>【所感(自分の言葉で)。印象に残った点、日本市場・CTCの事業への示唆など】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所感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097280"/>
          <a:ext cx="113385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50976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メイリオ"/>
                        </a:rPr>
                        <a:t>氏名</a:t>
                      </a:r>
                    </a:p>
                  </a:txBody>
                  <a:tcPr anchor="ctr">
                    <a:solidFill>
                      <a:srgbClr val="1B2A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メイリオ"/>
                        </a:rPr>
                        <a:t>所感(自分の言葉で記入)</a:t>
                      </a:r>
                    </a:p>
                  </a:txBody>
                  <a:tcPr anchor="ctr">
                    <a:solidFill>
                      <a:srgbClr val="1B2A8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>神 崇人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7F7F7F"/>
                          </a:solidFill>
                          <a:latin typeface="メイリオ"/>
                        </a:rPr>
                        <a:t>【所感】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>正木 洋晃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7F7F7F"/>
                          </a:solidFill>
                          <a:latin typeface="メイリオ"/>
                        </a:rPr>
                        <a:t>【所感】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>平松 優季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7F7F7F"/>
                          </a:solidFill>
                          <a:latin typeface="メイリオ"/>
                        </a:rPr>
                        <a:t>【所感】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>岡崎 勇人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7F7F7F"/>
                          </a:solidFill>
                          <a:latin typeface="メイリオ"/>
                        </a:rPr>
                        <a:t>【所感】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>菅野 海咲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7F7F7F"/>
                          </a:solidFill>
                          <a:latin typeface="メイリオ"/>
                        </a:rPr>
                        <a:t>【所感】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>川北 敬仁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7F7F7F"/>
                          </a:solidFill>
                          <a:latin typeface="メイリオ"/>
                        </a:rPr>
                        <a:t>【所感】</a:t>
                      </a:r>
                    </a:p>
                  </a:txBody>
                  <a:tcPr anchor="ctr">
                    <a:solidFill>
                      <a:srgbClr val="DDE0E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  <a:latin typeface="メイリオ"/>
                        </a:rPr>
                        <a:t>王 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7F7F7F"/>
                          </a:solidFill>
                          <a:latin typeface="メイリオ"/>
                        </a:rPr>
                        <a:t>【所感】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1_Office テーマ">
  <a:themeElements>
    <a:clrScheme name="ユーザー定義AX">
      <a:dk1>
        <a:srgbClr val="232323"/>
      </a:dk1>
      <a:lt1>
        <a:srgbClr val="FFFFFF"/>
      </a:lt1>
      <a:dk2>
        <a:srgbClr val="7D8187"/>
      </a:dk2>
      <a:lt2>
        <a:srgbClr val="F0F3F7"/>
      </a:lt2>
      <a:accent1>
        <a:srgbClr val="192D93"/>
      </a:accent1>
      <a:accent2>
        <a:srgbClr val="F75386"/>
      </a:accent2>
      <a:accent3>
        <a:srgbClr val="889CCA"/>
      </a:accent3>
      <a:accent4>
        <a:srgbClr val="5B6597"/>
      </a:accent4>
      <a:accent5>
        <a:srgbClr val="7D8187"/>
      </a:accent5>
      <a:accent6>
        <a:srgbClr val="F0F3F7"/>
      </a:accent6>
      <a:hlink>
        <a:srgbClr val="192D93"/>
      </a:hlink>
      <a:folHlink>
        <a:srgbClr val="5B6597"/>
      </a:folHlink>
    </a:clrScheme>
    <a:fontScheme name="ユーザー定義 286">
      <a:majorFont>
        <a:latin typeface="Segoe UI"/>
        <a:ea typeface="BIZ UDPゴシック"/>
        <a:cs typeface=""/>
      </a:majorFont>
      <a:minorFont>
        <a:latin typeface="Segoe UI"/>
        <a:ea typeface="BIZ UDPゴシック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bg1"/>
        </a:solidFill>
        <a:ln>
          <a:noFill/>
        </a:ln>
      </a:spPr>
      <a:bodyPr wrap="square" lIns="0" tIns="0" rIns="0" bIns="0" rtlCol="0">
        <a:noAutofit/>
      </a:bodyPr>
      <a:lstStyle>
        <a:defPPr algn="l">
          <a:defRPr kumimoji="1" dirty="0"/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txDef>
  </a:objectDefaults>
  <a:extraClrSchemeLst/>
  <a:extLst>
    <a:ext uri="{05A4C25C-085E-4340-85A3-A5531E510DB2}">
      <thm15:themeFamily xmlns:thm15="http://schemas.microsoft.com/office/thememl/2012/main" name="プレゼンテーション8" id="{AEB2CFDC-5FE6-4CA7-9961-5E60E31F75D2}" vid="{641D7EDE-F3D1-41D9-9F94-8D35A93FF567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ユーザー定義AX">
    <a:dk1>
      <a:srgbClr val="232323"/>
    </a:dk1>
    <a:lt1>
      <a:srgbClr val="FFFFFF"/>
    </a:lt1>
    <a:dk2>
      <a:srgbClr val="7D8187"/>
    </a:dk2>
    <a:lt2>
      <a:srgbClr val="F0F3F7"/>
    </a:lt2>
    <a:accent1>
      <a:srgbClr val="192D93"/>
    </a:accent1>
    <a:accent2>
      <a:srgbClr val="F75386"/>
    </a:accent2>
    <a:accent3>
      <a:srgbClr val="889CCA"/>
    </a:accent3>
    <a:accent4>
      <a:srgbClr val="5B6597"/>
    </a:accent4>
    <a:accent5>
      <a:srgbClr val="7D8187"/>
    </a:accent5>
    <a:accent6>
      <a:srgbClr val="F0F3F7"/>
    </a:accent6>
    <a:hlink>
      <a:srgbClr val="192D93"/>
    </a:hlink>
    <a:folHlink>
      <a:srgbClr val="5B6597"/>
    </a:folHlink>
  </a:clrScheme>
</a:themeOverride>
</file>

<file path=ppt/theme/themeOverride2.xml><?xml version="1.0" encoding="utf-8"?>
<a:themeOverride xmlns:a="http://schemas.openxmlformats.org/drawingml/2006/main">
  <a:clrScheme name="ユーザー定義AX">
    <a:dk1>
      <a:srgbClr val="232323"/>
    </a:dk1>
    <a:lt1>
      <a:srgbClr val="FFFFFF"/>
    </a:lt1>
    <a:dk2>
      <a:srgbClr val="7D8187"/>
    </a:dk2>
    <a:lt2>
      <a:srgbClr val="F0F3F7"/>
    </a:lt2>
    <a:accent1>
      <a:srgbClr val="192D93"/>
    </a:accent1>
    <a:accent2>
      <a:srgbClr val="F75386"/>
    </a:accent2>
    <a:accent3>
      <a:srgbClr val="889CCA"/>
    </a:accent3>
    <a:accent4>
      <a:srgbClr val="5B6597"/>
    </a:accent4>
    <a:accent5>
      <a:srgbClr val="7D8187"/>
    </a:accent5>
    <a:accent6>
      <a:srgbClr val="F0F3F7"/>
    </a:accent6>
    <a:hlink>
      <a:srgbClr val="192D93"/>
    </a:hlink>
    <a:folHlink>
      <a:srgbClr val="5B6597"/>
    </a:folHlink>
  </a:clrScheme>
</a:themeOverride>
</file>

<file path=ppt/theme/themeOverride3.xml><?xml version="1.0" encoding="utf-8"?>
<a:themeOverride xmlns:a="http://schemas.openxmlformats.org/drawingml/2006/main">
  <a:clrScheme name="ユーザー定義AX">
    <a:dk1>
      <a:srgbClr val="232323"/>
    </a:dk1>
    <a:lt1>
      <a:srgbClr val="FFFFFF"/>
    </a:lt1>
    <a:dk2>
      <a:srgbClr val="7D8187"/>
    </a:dk2>
    <a:lt2>
      <a:srgbClr val="F0F3F7"/>
    </a:lt2>
    <a:accent1>
      <a:srgbClr val="192D93"/>
    </a:accent1>
    <a:accent2>
      <a:srgbClr val="F75386"/>
    </a:accent2>
    <a:accent3>
      <a:srgbClr val="889CCA"/>
    </a:accent3>
    <a:accent4>
      <a:srgbClr val="5B6597"/>
    </a:accent4>
    <a:accent5>
      <a:srgbClr val="7D8187"/>
    </a:accent5>
    <a:accent6>
      <a:srgbClr val="F0F3F7"/>
    </a:accent6>
    <a:hlink>
      <a:srgbClr val="192D93"/>
    </a:hlink>
    <a:folHlink>
      <a:srgbClr val="5B6597"/>
    </a:folHlink>
  </a:clrScheme>
</a:themeOverride>
</file>

<file path=ppt/theme/themeOverride4.xml><?xml version="1.0" encoding="utf-8"?>
<a:themeOverride xmlns:a="http://schemas.openxmlformats.org/drawingml/2006/main">
  <a:clrScheme name="ユーザー定義AX">
    <a:dk1>
      <a:srgbClr val="232323"/>
    </a:dk1>
    <a:lt1>
      <a:srgbClr val="FFFFFF"/>
    </a:lt1>
    <a:dk2>
      <a:srgbClr val="7D8187"/>
    </a:dk2>
    <a:lt2>
      <a:srgbClr val="F0F3F7"/>
    </a:lt2>
    <a:accent1>
      <a:srgbClr val="192D93"/>
    </a:accent1>
    <a:accent2>
      <a:srgbClr val="F75386"/>
    </a:accent2>
    <a:accent3>
      <a:srgbClr val="889CCA"/>
    </a:accent3>
    <a:accent4>
      <a:srgbClr val="5B6597"/>
    </a:accent4>
    <a:accent5>
      <a:srgbClr val="7D8187"/>
    </a:accent5>
    <a:accent6>
      <a:srgbClr val="F0F3F7"/>
    </a:accent6>
    <a:hlink>
      <a:srgbClr val="192D93"/>
    </a:hlink>
    <a:folHlink>
      <a:srgbClr val="5B6597"/>
    </a:folHlink>
  </a:clr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C13F9709C88A0D449EF28A31ABBCACAA" ma:contentTypeVersion="11" ma:contentTypeDescription="新しいドキュメントを作成します。" ma:contentTypeScope="" ma:versionID="414908ae8fbc46e2a29a6361f6d9be25">
  <xsd:schema xmlns:xsd="http://www.w3.org/2001/XMLSchema" xmlns:xs="http://www.w3.org/2001/XMLSchema" xmlns:p="http://schemas.microsoft.com/office/2006/metadata/properties" xmlns:ns2="7cbb4f9e-2250-4599-a2ce-5cd06e788ad7" xmlns:ns3="29e8591e-e8fc-46a7-b753-2c564ebbff88" targetNamespace="http://schemas.microsoft.com/office/2006/metadata/properties" ma:root="true" ma:fieldsID="e6af132aec19738db245972a0b280a80" ns2:_="" ns3:_="">
    <xsd:import namespace="7cbb4f9e-2250-4599-a2ce-5cd06e788ad7"/>
    <xsd:import namespace="29e8591e-e8fc-46a7-b753-2c564ebbff8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bb4f9e-2250-4599-a2ce-5cd06e788a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画像タグ" ma:readOnly="false" ma:fieldId="{5cf76f15-5ced-4ddc-b409-7134ff3c332f}" ma:taxonomyMulti="true" ma:sspId="6bc6290a-8cd6-4a27-9e67-61465016fcd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e8591e-e8fc-46a7-b753-2c564ebbff88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54a17389-0d0f-428f-ad97-386a7ae4a912}" ma:internalName="TaxCatchAll" ma:showField="CatchAllData" ma:web="29e8591e-e8fc-46a7-b753-2c564ebbff8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cbb4f9e-2250-4599-a2ce-5cd06e788ad7">
      <Terms xmlns="http://schemas.microsoft.com/office/infopath/2007/PartnerControls"/>
    </lcf76f155ced4ddcb4097134ff3c332f>
    <TaxCatchAll xmlns="29e8591e-e8fc-46a7-b753-2c564ebbff88" xsi:nil="true"/>
  </documentManagement>
</p:properties>
</file>

<file path=customXml/itemProps1.xml><?xml version="1.0" encoding="utf-8"?>
<ds:datastoreItem xmlns:ds="http://schemas.openxmlformats.org/officeDocument/2006/customXml" ds:itemID="{E0D11926-F18E-48A2-9814-6DC37F64D36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2F37461-D669-452D-A653-1B9AD93DDB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cbb4f9e-2250-4599-a2ce-5cd06e788ad7"/>
    <ds:schemaRef ds:uri="29e8591e-e8fc-46a7-b753-2c564ebbff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4DEA74-1EEB-4583-AFCC-76FDE15DCF3F}">
  <ds:schemaRefs>
    <ds:schemaRef ds:uri="http://schemas.microsoft.com/office/2006/metadata/properties"/>
    <ds:schemaRef ds:uri="http://schemas.microsoft.com/office/infopath/2007/PartnerControls"/>
    <ds:schemaRef ds:uri="7cbb4f9e-2250-4599-a2ce-5cd06e788ad7"/>
    <ds:schemaRef ds:uri="29e8591e-e8fc-46a7-b753-2c564ebbff8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2879</Words>
  <Application>Microsoft Office PowerPoint</Application>
  <PresentationFormat>ワイド画面</PresentationFormat>
  <Paragraphs>336</Paragraphs>
  <Slides>17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2" baseType="lpstr">
      <vt:lpstr>BIZ UDPゴシック</vt:lpstr>
      <vt:lpstr>メイリオ</vt:lpstr>
      <vt:lpstr>Arial</vt:lpstr>
      <vt:lpstr>Wingdings</vt:lpstr>
      <vt:lpstr>1_Office テーマ</vt:lpstr>
      <vt:lpstr>FY25 情通事業G 台湾選抜研修 報告書</vt:lpstr>
      <vt:lpstr>目次</vt:lpstr>
      <vt:lpstr>１．研修目的</vt:lpstr>
      <vt:lpstr>２．スケジュール概要/参加者</vt:lpstr>
      <vt:lpstr>２．スケジュール概要/参加者</vt:lpstr>
      <vt:lpstr>３．訪問先概要　CTC台湾事務所　1/26PM訪問</vt:lpstr>
      <vt:lpstr>３．訪問先概要　III　1/26PM訪問</vt:lpstr>
      <vt:lpstr>３．訪問先概要　III　1/26PM訪問</vt:lpstr>
      <vt:lpstr>３．訪問先概要　台湾伊藤忠　1/27AM訪問　</vt:lpstr>
      <vt:lpstr>３．訪問先概要　Accton/Edgecore　1/27PM訪問　</vt:lpstr>
      <vt:lpstr>３．訪問先概要　Accton/Edgecore　1/27PM訪問　</vt:lpstr>
      <vt:lpstr>３．訪問先概要　Quanta　1/28終日訪問　</vt:lpstr>
      <vt:lpstr>３．訪問先概要　Quanta　1/28終日訪問　</vt:lpstr>
      <vt:lpstr>３．訪問先概要　Inventec　1/29AM訪問　</vt:lpstr>
      <vt:lpstr>３．訪問先概要　ITRI　1/29PM訪問　</vt:lpstr>
      <vt:lpstr>４．所感　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2025-03-27T06:36:36Z</dcterms:created>
  <dcterms:modified xsi:type="dcterms:W3CDTF">2026-02-06T07:53:30Z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0x010100C13F9709C88A0D449EF28A31ABBCACAA</vt:lpwstr>
  </property>
  <property fmtid="{D5CDD505-2E9C-101B-9397-08002B2CF9AE}" pid="3" name="MediaServiceImageTags">
    <vt:lpwstr/>
  </property>
</Properties>
</file>