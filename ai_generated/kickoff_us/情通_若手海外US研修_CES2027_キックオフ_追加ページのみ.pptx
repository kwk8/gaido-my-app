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97" autoAdjust="0"/>
  </p:normalViewPr>
  <p:slideViewPr>
    <p:cSldViewPr snapToGrid="0" snapToObjects="1">
      <p:cViewPr varScale="1">
        <p:scale>
          <a:sx n="104" d="100"/>
          <a:sy n="104" d="100"/>
        </p:scale>
        <p:origin x="1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2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12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4839E-B08A-4F63-99CA-200DD7DA524C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4B68A-EC1D-4D10-96C3-680F49B035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33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CONTENTS · 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02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91056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7276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目的とゴール、旅程とテーマ、研修の背景、研修テーマ、3つの心構え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8483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194560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5798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スケジュール・手配状況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7627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研修スケジュール、確定フライト、宿泊、ベンダー訪問日程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8833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798064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9806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6148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91840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40156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01568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364992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研修前の準備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83280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CES視察の事前準備、ベンダー訪問の事前準備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895344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4005072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005072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968496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9884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6384" y="4608576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60857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7200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今後のスケジュール・出張前対応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59028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準備状況の確認、e申請、PC保険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10235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6384" y="5212080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21208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17550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現地での行動と報告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19379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持ち帰ってほしいもの、現地でのお願い事項、活動記録、お願いすること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70585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6384" y="5815584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581558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577900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参考情報・QA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797296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訪問先、問い合わせ先、Appendix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OVERVIEW · 募集要項より抜粋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旅程とテーマ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36776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36776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ルート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81912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US ラスベガス＆シリコンバレー：CES への参加とベンダーへの訪問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6712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295144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95144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主な研修テーマ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0280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AI、ロボティクス、サイバーセキュリティ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2549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953512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53512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実施日程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98648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1月：7泊9日想定。1/5〜13を予定（確定した旅程は 1/5〜1/14。研修スケジュールを参照）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20440"/>
            <a:ext cx="11018520" cy="23317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721608"/>
            <a:ext cx="173736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学習・見学のポイント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685032"/>
            <a:ext cx="85953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世界最先端のテック・イノベーションの視察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AI、ロボティクス、サイバーセキュリティ等の注力分野における最新トレンドを把握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グローバルのマーケットでの各ベンダーの影響力を視察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シリコンバレーのベンダーを直接訪問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USベンダー本社もしくはスタートアップ各社の最新ソリューション・共同開発の可能性を探索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募集要項資料より抜粋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BACKGROUND · 研修の背景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市場・技術の動向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【US研修の背景となる市場・技術の動向を記入】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お客様の動向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【担当顧客の動向・ニーズを記入】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対策方針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【CTCとしての対策方針を記入】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749039"/>
            <a:ext cx="5440680" cy="20574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336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具体的な取り組み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【本研修を含む具体的な取り組みを記入】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THEME · 研修テーマ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746504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46504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28216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世界最先端のテック・イノベーションを視察する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587752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587752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9464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AI、ロボティクス、サイバーセキュリティ等の注力分野の最新トレンドを把握する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5526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429000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29000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10712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グローバルのマーケットでの各ベンダーの影響力を視察する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4270248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270248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51960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シリコンバレーのベンダーを直接訪問する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3776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6384" y="5111496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11496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93208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USベンダー本社・スタートアップ各社の最新ソリューションと、共同開発の可能性を探る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募集要項資料（学習・見学のポイント）より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MINDSET · 研修の心構え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実りある研修にするための「3つの心構え」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健康と安全を第一に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737360"/>
            <a:ext cx="3566160" cy="32918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5F0E6"/>
                </a:solidFill>
                <a:latin typeface="Noto Sans CJK JP"/>
              </a:rPr>
              <a:t>各訪問先で一つは質問をする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自分なりの成果を一つ持って帰る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864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4864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3つを意識して、研修に臨んでください。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5F0E6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56616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MESSAGE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MEMBERS · 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18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383280"/>
                <a:gridCol w="3566160"/>
                <a:gridCol w="20574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本部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部署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名前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役職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テクニカルデザイン第4部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神 崇人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通信ビジネス営業第2部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正木 洋晃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情報通信第3本部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営業第1部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平松 優季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モバイル＆サービス本部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デジタルテクノロジー第3部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岡崎 勇人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SP・メディア技術第2部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メディア技術第2本部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菅野 海咲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川北 敬仁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王 帆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349240"/>
            <a:ext cx="11018520" cy="8686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以下の内容を含め、1分程度でお願いします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①名前・所属・社会人何年目か　②普段の仕事内容　③今回の研修について思うこと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TIMELINE · 準備状況の確認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今後のスケジュール・準備状況確認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出張申請（e申請）、航空券予約、PC海外保険申請の準備は進んでいますか？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1852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150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JP"/>
                        </a:rPr>
                        <a:t>時期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JP"/>
                        </a:rPr>
                        <a:t>イベント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JP"/>
                        </a:rPr>
                        <a:t>備考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10月中旬～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出張申請（e申請）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各自対応。期限：出発の1か月前（12/4）まで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10月中旬～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航空券予約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JTB-CWTの回答を反映済み（確定フライトを参照）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10月中旬～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PCの海外保険申請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各自対応。遅くとも出発1週間前（12/29）まで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11/5（木）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キックオフ、顔合わせ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宿題：CESで注目するテーマを3つ選ぶ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　】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【仮】資料レビュー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CES・ベンダー訪問の準備。3日分を確保（2回になる可能性あり）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　】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【仮】直前ガイダンス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出張前の注意事項、保険加入・各種申請の確認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出発前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入国手続き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【ESTA等の要否・手順を確認】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1/5～1/14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US出張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CES（1/6～1/8）、ベンダー訪問（1/11～1/12）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帰国後1週間以内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出張経費精算・e申請の再回付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帰国後すぐに対応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　】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出張報告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【報告の形式・期限】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623560"/>
            <a:ext cx="11018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※帰国後すぐに経費精算をお願いします。</a:t>
            </a:r>
          </a:p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　部のアシスタントさんが海外出張の経費に対応できるか、早めに確認してください。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2763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2763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申請先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361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e申請 &gt; 書類作成 &gt; 就業系 &gt; 海外出張申請書（兼 手配依頼書）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359152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35915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6771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出発日＝自宅（オフィス）の最寄駅を出る日、帰着日＝最寄駅に着く日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2608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309067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09067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同行者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99923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同行者の氏名を記載し、同行者リストを添付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82219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82219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クラス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3075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プレミアムエコノミーの場合、理由欄に「海外旅費規程第7条第1項に基づく（日本発・アメリカ渡航の往復旅程のため）」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55371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55371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宿泊先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46227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乗り継ぎ＝「（乗り継ぎ）」、帰国便＝「帰宅」、連絡先は「*****」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206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528523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28523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付帯リクエスト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1937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ホテルは各自で予約（個人手配）。海外旅行保険はJTB-CWTで手配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9436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436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期限：出発の1か月前（12/4）まで。承認後、JTB-CWTへ申請書と手配依頼書を送付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18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69494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6400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【記入例のスクリーンショットを貼り付け】</a:t>
            </a:r>
          </a:p>
          <a:p>
            <a:pPr algn="ctr"/>
            <a:r>
              <a:rPr sz="1400" b="0">
                <a:solidFill>
                  <a:srgbClr val="4A5A75"/>
                </a:solidFill>
                <a:latin typeface="Noto Sans CJK JP"/>
              </a:rPr>
              <a:t>（事務局の申請画面：旅程表と経費負担部課コード欄）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3904487" cy="47548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347472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費用負担の部課コード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本部によって、本部・部・課のどの単位かが異なる可能性があります。一般的には課の単位です。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所属の本部で確認したうえで、ご自身のe申請に反映してください。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情報通信ビジネス企画統括本部のメンバーは、自分の課のコードを入力してください。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部課コードは精算時に上長へ要確認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2 · PC保険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② PC保険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19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7040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675120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送付先：ctc_order_rentec@orix.jp, pc-desk-dm@ctc-g.co.jp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CC：自分の上長、アシスタントさん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件名：海外出張保険申請_対象機器OIRxxxxx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――――――――――――――――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オリックス・レンテック株式会社　ご担当者様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いつもお世話になっております。CTC ○○です。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海外出張のため、以下PCの海外保険付保をお願いいたします。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■対象機器情報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・OIR：　・仕向地の国名：アメリカ合衆国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・海外持ち出し期間：10日間（2027年1月5日（火）～1月14日（木））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■使用者情報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・ご使用者様名（フルネーム）：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■請求書郵送の送付先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・ご担当者様名（フルネーム）：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813048" cy="48463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3832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左記の文面で各自申請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対象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SecurePC・シンクラ専用端末（オリックス・レンテックから借用のPC）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期限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遅くとも出発1週間前（12/29）まで。早めの申請をお願いします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注意</a:t>
            </a:r>
          </a:p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送付先アドレスは、社内マニュアル（2024年版）の記載と異なります。【送付前に最新の宛先を確認】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1 · 訪問先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訪問先（仮）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72768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72768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1/6～1/8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536192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CES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36192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会場：【Las Vegas Convention Center ほか。確定後に記入】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0312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231136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3113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19456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CTCA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9456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6148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889504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889504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52928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Forward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52928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1985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547872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547872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511296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Cisco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511296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78224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4206240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06240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169663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Exaforce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169663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73659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" y="4864607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864607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28031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MinIO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828031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】（Redwood City 付近）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3949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" y="5522976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52297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48640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vCluster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48640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】（SF）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144768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A5A75"/>
                </a:solidFill>
                <a:latin typeface="Noto Sans CJK JP"/>
              </a:rPr>
              <a:t>訪問先・時間はベンダー訪問日程（UPDATED）に基づく。確定後に住所を記入してください。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2 · 問い合わせ先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問い合わせ先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440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69164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9164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出張までの相談役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情報通信ビジネス企画統括本部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相談できること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・出張手配関連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・資料レビューの内容、日程など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・質疑内容の相談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63040"/>
            <a:ext cx="5440680" cy="45720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691640"/>
            <a:ext cx="1645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91640"/>
            <a:ext cx="1645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問い合わせ先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① 研修用トカログループ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「【グループ名】」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② Adminメーリス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telbiz-global-admin@ctc-g.co.jp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【US研修でも同じメーリスを使うか確認】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1 · 資料レビュー／直前ガイダンス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1：資料レビュー・直前ガイダンス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11018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6243F"/>
                </a:solidFill>
                <a:latin typeface="Noto Sans CJK JP"/>
              </a:rPr>
              <a:t>【仮】資料レビュー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日程：【日時】（3日分を確保。2回になる可能性あり）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内容：CESの準備、サンノゼで行うベンダー訪問の準備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66160"/>
            <a:ext cx="11018520" cy="17830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F0E6"/>
                </a:solidFill>
                <a:latin typeface="Noto Sans CJK JP"/>
              </a:rPr>
              <a:t>【仮】直前ガイダンス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日程：【日時】＠【会議室】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内容：出張前の注意事項、保険加入、各種申請が済んでいるかの確認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69280"/>
            <a:ext cx="11018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※予定は事務局から仮登録済みです。詳細はトカログループでアナウンスします。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2 · 現地連絡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2：現地連絡・写真共有用のグループ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649224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グループ名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【グループ名】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参加方法（To join）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【参加用URL】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>現地での連絡と、写真の共有に使います。出発前に参加してください。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54480"/>
            <a:ext cx="38587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【QRコードを貼り付け】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5F0E6"/>
                </a:solidFill>
                <a:latin typeface="Noto Sans CJK JP"/>
              </a:rPr>
              <a:t>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611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BECAD7"/>
                </a:solidFill>
                <a:latin typeface="Noto Sans CJK JP"/>
              </a:rPr>
              <a:t>ご質問・ご不明点をお聞かせください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743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5F0E6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29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46B3D"/>
                </a:solidFill>
                <a:latin typeface="Noto Sans CJK JP"/>
              </a:rPr>
              <a:t>2027.01.05 出発  →  2027.01.14 帰国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194075964</TotalTime>
  <Words>908</Words>
  <Application>Microsoft Office PowerPoint</Application>
  <PresentationFormat>ワイド画面</PresentationFormat>
  <Paragraphs>270</Paragraphs>
  <Slides>13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Noto Sans CJK JP</vt:lpstr>
      <vt:lpstr>Noto Sans JP Light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情通 若手海外（US）研修 CES 2027 キックオフ 更新版 最新日程反映</dc:title>
  <dc:subject>参加者向けキックオフ資料</dc:subject>
  <dc:creator>王　帆</dc:creator>
  <dc:description>generated using python-pptx</dc:description>
  <cp:lastModifiedBy>川北　敬仁</cp:lastModifiedBy>
  <cp:revision>9</cp:revision>
  <dcterms:created xsi:type="dcterms:W3CDTF">2026-10-21T07:19:59Z</dcterms:created>
  <dcterms:modified xsi:type="dcterms:W3CDTF">2026-10-29T01:51:46Z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b27ca-7868-470c-8d5b-74df37759162_Enabled">
    <vt:lpwstr>true</vt:lpwstr>
  </property>
  <property fmtid="{D5CDD505-2E9C-101B-9397-08002B2CF9AE}" pid="3" name="MSIP_Label_babb27ca-7868-470c-8d5b-74df37759162_SetDate">
    <vt:lpwstr>2026-10-29T01:51:46Z</vt:lpwstr>
  </property>
  <property fmtid="{D5CDD505-2E9C-101B-9397-08002B2CF9AE}" pid="4" name="MSIP_Label_babb27ca-7868-470c-8d5b-74df37759162_Method">
    <vt:lpwstr>Privileged</vt:lpwstr>
  </property>
  <property fmtid="{D5CDD505-2E9C-101B-9397-08002B2CF9AE}" pid="5" name="MSIP_Label_babb27ca-7868-470c-8d5b-74df37759162_Name">
    <vt:lpwstr>babb27ca-7868-470c-8d5b-74df37759162</vt:lpwstr>
  </property>
  <property fmtid="{D5CDD505-2E9C-101B-9397-08002B2CF9AE}" pid="6" name="MSIP_Label_babb27ca-7868-470c-8d5b-74df37759162_SiteId">
    <vt:lpwstr>bdda4ca5-4ffd-4f47-9e0d-ce56ad194b37</vt:lpwstr>
  </property>
  <property fmtid="{D5CDD505-2E9C-101B-9397-08002B2CF9AE}" pid="7" name="MSIP_Label_babb27ca-7868-470c-8d5b-74df37759162_ActionId">
    <vt:lpwstr>79b8ff44-afaa-488d-9fbd-771850fbff19</vt:lpwstr>
  </property>
  <property fmtid="{D5CDD505-2E9C-101B-9397-08002B2CF9AE}" pid="8" name="MSIP_Label_babb27ca-7868-470c-8d5b-74df37759162_ContentBits">
    <vt:lpwstr>0</vt:lpwstr>
  </property>
  <property fmtid="{D5CDD505-2E9C-101B-9397-08002B2CF9AE}" pid="9" name="MSIP_Label_babb27ca-7868-470c-8d5b-74df37759162_Tag">
    <vt:lpwstr>10, 0, 1, 1</vt:lpwstr>
  </property>
</Properties>
</file>