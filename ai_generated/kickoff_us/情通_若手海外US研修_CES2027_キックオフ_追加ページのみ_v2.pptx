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97" autoAdjust="0"/>
  </p:normalViewPr>
  <p:slideViewPr>
    <p:cSldViewPr snapToGrid="0" snapToObjects="1">
      <p:cViewPr varScale="1">
        <p:scale>
          <a:sx n="104" d="100"/>
          <a:sy n="104" d="100"/>
        </p:scale>
        <p:origin x="1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2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12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4839E-B08A-4F63-99CA-200DD7DA524C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4B68A-EC1D-4D10-96C3-680F49B035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333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CONTENTS · 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02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591056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54480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研修概要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572768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目的とゴール、旅程とテーマ、研修の背景、研修テーマ、3つの心構え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084832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2194560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57984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スケジュール・手配状況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76272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研修スケジュール、確定フライト、宿泊、ベンダー訪問日程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688336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2798064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98064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761488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C46B3D"/>
                </a:solidFill>
                <a:latin typeface="Noto Sans CJK JP"/>
              </a:rPr>
              <a:t>【　】さんからのお言葉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91840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3401568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01568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364992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研修前の準備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383280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CES視察の事前準備、ベンダー訪問の事前準備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895344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" y="4005072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005072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968496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参加メンバー自己紹介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498848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6384" y="4608576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608576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572000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今後のスケジュール・出張前対応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590288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準備状況の確認、e申請、PC保険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102352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6384" y="5212080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5212080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175504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現地での行動と報告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193792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持ち帰ってほしいもの、現地でのお願い事項、活動記録、お願いすること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705856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86384" y="5815584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" y="5815584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5779008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参考情報・QA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797296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訪問先、問い合わせ先、Appendix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OVERVIEW · 募集要項より抜粋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旅程とテーマ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04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636776"/>
            <a:ext cx="173736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636776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ルート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81912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US ラスベガス＆シリコンバレー：CES への参加とベンダーへの訪問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67128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2295144"/>
            <a:ext cx="173736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295144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主な研修テーマ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40280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AI、ロボティクス、サイバーセキュリティ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25496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2953512"/>
            <a:ext cx="173736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953512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実施日程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898648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1月：7泊9日想定。1/5〜13を予定（確定した旅程は 1/5〜1/14。研修スケジュールを参照）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20440"/>
            <a:ext cx="11018520" cy="233172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3721608"/>
            <a:ext cx="173736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721608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学習・見学のポイント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685032"/>
            <a:ext cx="859536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世界最先端のテック・イノベーションの視察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AI、ロボティクス、サイバーセキュリティ等の注力分野における最新トレンドを把握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グローバルのマーケットでの各ベンダーの影響力を視察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シリコンバレーのベンダーを直接訪問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USベンダー本社もしくはスタートアップ各社の最新ソリューション・共同開発の可能性を探索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035040"/>
            <a:ext cx="11018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A5A75"/>
                </a:solidFill>
                <a:latin typeface="Noto Sans CJK JP"/>
              </a:rPr>
              <a:t>募集要項資料より抜粋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BACKGROUND · 研修の背景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05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5440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737360"/>
            <a:ext cx="20116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37360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市場・技術の動向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9456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【US研修の背景となる市場・技術の動向を記入】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508760"/>
            <a:ext cx="5440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3368" y="1737360"/>
            <a:ext cx="20116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737360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お客様の動向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9456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【担当顧客の動向・ニーズを記入】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49039"/>
            <a:ext cx="5440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8" y="3977639"/>
            <a:ext cx="20116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977639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対策方針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43484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【CTCとしての対策方針を記入】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749039"/>
            <a:ext cx="5440680" cy="205740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73368" y="3977639"/>
            <a:ext cx="20116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977639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具体的な取り組み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3484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【本研修を含む具体的な取り組みを記入】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THEME · 研修テーマ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06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1746504"/>
            <a:ext cx="347472" cy="347472"/>
          </a:xfrm>
          <a:prstGeom prst="ellipse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46504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28216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世界最先端のテック・イノベーションを視察する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14016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2587752"/>
            <a:ext cx="347472" cy="347472"/>
          </a:xfrm>
          <a:prstGeom prst="ellipse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587752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69464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AI、ロボティクス、サイバーセキュリティ等の注力分野の最新トレンドを把握する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55264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3429000"/>
            <a:ext cx="347472" cy="347472"/>
          </a:xfrm>
          <a:prstGeom prst="ellipse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29000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10712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グローバルのマーケットでの各ベンダーの影響力を視察する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96512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4270248"/>
            <a:ext cx="347472" cy="347472"/>
          </a:xfrm>
          <a:prstGeom prst="ellipse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270248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51960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シリコンバレーのベンダーを直接訪問する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937760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6384" y="5111496"/>
            <a:ext cx="347472" cy="347472"/>
          </a:xfrm>
          <a:prstGeom prst="ellipse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111496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93208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USベンダー本社・スタートアップ各社の最新ソリューションと、共同開発の可能性を探る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035040"/>
            <a:ext cx="11018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A5A75"/>
                </a:solidFill>
                <a:latin typeface="Noto Sans CJK JP"/>
              </a:rPr>
              <a:t>募集要項資料（学習・見学のポイント）より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MINDSET · 研修の心構え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実りある研修にするための「3つの心構え」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07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659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46B3D"/>
                </a:solidFill>
                <a:latin typeface="Noto Sans CJK JP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346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6243F"/>
                </a:solidFill>
                <a:latin typeface="Noto Sans CJK JP"/>
              </a:rPr>
              <a:t>健康と安全を第一に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737360"/>
            <a:ext cx="3566160" cy="329184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9659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46B3D"/>
                </a:solidFill>
                <a:latin typeface="Noto Sans CJK JP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8346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F5F0E6"/>
                </a:solidFill>
                <a:latin typeface="Noto Sans CJK JP"/>
              </a:rPr>
              <a:t>各訪問先で一つは質問をする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73736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9659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46B3D"/>
                </a:solidFill>
                <a:latin typeface="Noto Sans CJK JP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8346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6243F"/>
                </a:solidFill>
                <a:latin typeface="Noto Sans CJK JP"/>
              </a:rPr>
              <a:t>自分なりの成果を一つ持って帰る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486400"/>
            <a:ext cx="11018520" cy="38404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486400"/>
            <a:ext cx="10698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3つを意識して、研修に臨んでください。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5F0E6"/>
                </a:solidFill>
                <a:latin typeface="Noto Sans CJK JP"/>
              </a:rPr>
              <a:t>【　】さんからのお言葉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56616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BECAD7"/>
                </a:solidFill>
                <a:latin typeface="Noto Sans CJK JP"/>
              </a:rPr>
              <a:t>MESSAGE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MEMBERS · 自己紹介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参加メンバー自己紹介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15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81328"/>
          <a:ext cx="11018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383280"/>
                <a:gridCol w="3566160"/>
                <a:gridCol w="205740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本部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部署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名前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役職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情報通信第1本部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テクニカルデザイン第4部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神 崇人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情報通信第1本部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通信ビジネス営業第2部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正木 洋晃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情報通信第3本部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営業第1部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平松 優季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モバイル＆サービス本部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デジタルテクノロジー第3部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岡崎 勇人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主任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SP・メディア技術第2部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メディア技術第2本部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菅野 海咲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情報通信ビジネス企画統括本部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情報通信事業開発部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川北 敬仁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情報通信ビジネス企画統括本部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情報通信事業開発部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王 帆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主任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349240"/>
            <a:ext cx="11018520" cy="86868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以下の内容を含め、1分程度でお願いします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①名前・所属・社会人何年目か　②普段の仕事内容　③今回の研修について思うこと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TIMELINE · 準備状況の確認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今後のスケジュール・準備状況確認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16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09728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46B3D"/>
                </a:solidFill>
                <a:latin typeface="Noto Sans CJK JP"/>
              </a:rPr>
              <a:t>出張申請（e申請）、航空券予約、PC海外保険申請の準備は進んでいますか？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146304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3E7B97"/>
                </a:solidFill>
                <a:latin typeface="Noto Sans CJK JP"/>
              </a:rPr>
              <a:t>時期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572768"/>
            <a:ext cx="21031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3E7B97"/>
                </a:solidFill>
                <a:latin typeface="Noto Sans CJK JP"/>
              </a:rPr>
              <a:t>イベント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57276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3E7B97"/>
                </a:solidFill>
                <a:latin typeface="Noto Sans CJK JP"/>
              </a:rPr>
              <a:t>参加者がやること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572768"/>
            <a:ext cx="100584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3E7B97"/>
                </a:solidFill>
                <a:latin typeface="Noto Sans CJK JP"/>
              </a:rPr>
              <a:t>状況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10512"/>
            <a:ext cx="11018520" cy="347472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810512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4A5A75"/>
                </a:solidFill>
                <a:latin typeface="Noto Sans CJK JP"/>
              </a:rPr>
              <a:t>10月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10512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e申請、航空券の手配、ホテル予約（Mandalay Bay）、パスポート情報の送付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810512"/>
            <a:ext cx="100584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3E7B97"/>
                </a:solidFill>
                <a:latin typeface="Noto Sans CJK JP"/>
              </a:rPr>
              <a:t>✓ 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212848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212848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11/5（木）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267712"/>
            <a:ext cx="2057400" cy="237744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2267712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キックオフ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12848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注目テーマ3つの提出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615184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615184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～11/19（木）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2670048"/>
            <a:ext cx="2057400" cy="237744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1720" y="2670048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CES事前ミーティング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615184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CES 参加登録、セッション・ブースのピックアップ、当日の動きの確定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017520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017520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～11/30（月）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1720" y="3072384"/>
            <a:ext cx="2057400" cy="237744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3072384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資料レビュー①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017520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ESTA の申請、会社・本部紹介の資料作成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419856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419856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～12/7（月）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31720" y="3474720"/>
            <a:ext cx="2057400" cy="237744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720" y="3474720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資料レビュー②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19856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紹介資料の仕上げ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3822191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822191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12/21（月）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31720" y="3877055"/>
            <a:ext cx="2057400" cy="237744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1720" y="3877055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直前ガイダンス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822191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保険・eSIM・Uber の準備、申請状況の確認（会場：N14X）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224528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224528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～12/29（火）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224528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PC保険の申請（遅くとも出発1週間前）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626864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626864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1/5～1/14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31720" y="4681728"/>
            <a:ext cx="2057400" cy="237744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31720" y="4681728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US出張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4626864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CES（1/6～1/8）、ベンダー訪問（1/11～1/12）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5029200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029200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～1/21（木）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331720" y="5084064"/>
            <a:ext cx="2057400" cy="237744"/>
          </a:xfrm>
          <a:prstGeom prst="roundRect">
            <a:avLst/>
          </a:prstGeom>
          <a:solidFill>
            <a:srgbClr val="5F768F"/>
          </a:solidFill>
          <a:ln w="12700">
            <a:solidFill>
              <a:srgbClr val="5F7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31720" y="5084064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精算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5029200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経費精算、e申請の再回付（帰国後1週間以内）、アンケート回答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5431536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431536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～1/29頃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31720" y="5486399"/>
            <a:ext cx="2057400" cy="237744"/>
          </a:xfrm>
          <a:prstGeom prst="roundRect">
            <a:avLst/>
          </a:prstGeom>
          <a:solidFill>
            <a:srgbClr val="5F768F"/>
          </a:solidFill>
          <a:ln w="12700">
            <a:solidFill>
              <a:srgbClr val="5F7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31720" y="5486399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報告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5431536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出張報告書の作成（報告会の日程は別途案内）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5925312"/>
            <a:ext cx="11018520" cy="36576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5925312"/>
            <a:ext cx="1069848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※帰国後すぐに経費精算をお願いします。部のアシスタントさんが海外出張の経費に対応できるか、早めに確認してください。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PRE-TRIP 1 · e申請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出張前対応の確認　① e申請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17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627632"/>
            <a:ext cx="15544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62763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申請先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53619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e申請 &gt; 書類作成 &gt; 就業系 &gt; 海外出張申請書（兼 手配依頼書）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9456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2359152"/>
            <a:ext cx="15544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35915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出張期間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26771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出発日＝自宅（オフィス）の最寄駅を出る日、帰着日＝最寄駅に着く日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92608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3090672"/>
            <a:ext cx="15544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09067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同行者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99923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同行者の氏名を記載し、同行者リストを添付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65760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3822191"/>
            <a:ext cx="15544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822191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クラス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73075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プレミアムエコノミーの場合、理由欄に「海外旅費規程第7条第1項に基づく（日本発・アメリカ渡航の往復旅程のため）」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38912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4" y="4553712"/>
            <a:ext cx="15544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455371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宿泊先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46227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乗り継ぎ＝「（乗り継ぎ）」、帰国便＝「帰宅」、連絡先は「*****」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12064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4" y="5285231"/>
            <a:ext cx="15544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5285231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付帯リクエスト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19379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ホテルは各自で予約（個人手配）。海外旅行保険はJTB-CWTで手配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943600"/>
            <a:ext cx="11018520" cy="38404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943600"/>
            <a:ext cx="10698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期限：出発の1か月前（12/4）まで。承認後、JTB-CWTへ申請書と手配依頼書を送付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PRE-TRIP 1 · e申請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出張前対応の確認　① e申請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18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69494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6400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46B3D"/>
                </a:solidFill>
                <a:latin typeface="Noto Sans CJK JP"/>
              </a:rPr>
              <a:t>【記入例のスクリーンショットを貼り付け】</a:t>
            </a:r>
          </a:p>
          <a:p>
            <a:pPr algn="ctr"/>
            <a:r>
              <a:rPr sz="1400" b="0">
                <a:solidFill>
                  <a:srgbClr val="4A5A75"/>
                </a:solidFill>
                <a:latin typeface="Noto Sans CJK JP"/>
              </a:rPr>
              <a:t>（事務局の申請画面：旅程表と経費負担部課コード欄）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463040"/>
            <a:ext cx="3904487" cy="475488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45920"/>
            <a:ext cx="347472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46B3D"/>
                </a:solidFill>
                <a:latin typeface="Noto Sans CJK JP"/>
              </a:rPr>
              <a:t>費用負担の部課コード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本部によって、本部・部・課のどの単位かが異なる可能性があります。一般的には課の単位です。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所属の本部で確認したうえで、ご自身のe申請に反映してください。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情報通信ビジネス企画統括本部のメンバーは、自分の課のコードを入力してください。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1">
                <a:solidFill>
                  <a:srgbClr val="C46B3D"/>
                </a:solidFill>
                <a:latin typeface="Noto Sans CJK JP"/>
              </a:rPr>
              <a:t>部課コードは精算時に上長へ要確認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PRE-TRIP 2 · PC保険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出張前対応の確認　② PC保険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19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7040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6675120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送付先：ctc_order_rentec@orix.jp, pc-desk-dm@ctc-g.co.jp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CC：自分の上長、アシスタントさん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件名：海外出張保険申請_対象機器OIRxxxxx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――――――――――――――――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オリックス・レンテック株式会社　ご担当者様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いつもお世話になっております。CTC ○○です。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海外出張のため、以下PCの海外保険付保をお願いいたします。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■対象機器情報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・OIR：　・仕向地の国名：アメリカ合衆国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・海外持ち出し期間：10日間（2027年1月5日（火）～1月14日（木））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■使用者情報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・住所：　・会社名：伊藤忠テクノソリューションズ株式会社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・部署名：　・ご使用者様名（フルネーム）：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・電話番号：　・メールアドレス：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■請求書郵送の送付先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・住所：　・会社名：伊藤忠テクノソリューションズ株式会社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・部署名：　・ご担当者様名（フルネーム）：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・電話番号：　・メールアドレス：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3813048" cy="484632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00200"/>
            <a:ext cx="338328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46B3D"/>
                </a:solidFill>
                <a:latin typeface="Noto Sans CJK JP"/>
              </a:rPr>
              <a:t>左記の文面で各自申請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200" b="1">
                <a:solidFill>
                  <a:srgbClr val="F5F0E6"/>
                </a:solidFill>
                <a:latin typeface="Noto Sans CJK JP"/>
              </a:rPr>
              <a:t>対象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SecurePC・シンクラ専用端末（オリックス・レンテックから借用のPC）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200" b="1">
                <a:solidFill>
                  <a:srgbClr val="F5F0E6"/>
                </a:solidFill>
                <a:latin typeface="Noto Sans CJK JP"/>
              </a:rPr>
              <a:t>期限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遅くとも出発1週間前（12/29）まで。早めの申請をお願いします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200" b="1">
                <a:solidFill>
                  <a:srgbClr val="F5F0E6"/>
                </a:solidFill>
                <a:latin typeface="Noto Sans CJK JP"/>
              </a:rPr>
              <a:t>注意</a:t>
            </a:r>
          </a:p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送付先アドレスは、社内マニュアル（2024年版）の記載と異なります。【送付前に最新の宛先を確認】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REFERENCE 1 · 訪問先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参考情報　訪問先（仮）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24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572768"/>
            <a:ext cx="13258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72768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1/6～1/8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536192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CES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536192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会場：【Las Vegas Convention Center ほか。確定後に記入】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03120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2231136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231136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1/11（月）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194560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CTCA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194560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761488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2889504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889504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1/11（月）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852928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Forward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852928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19856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547872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547872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1/11（月）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511296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Cisco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511296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078224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4" y="4206240"/>
            <a:ext cx="1325880" cy="29260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06240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1/12（火）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169663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Exaforce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169663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736592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6384" y="4864607"/>
            <a:ext cx="1325880" cy="29260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864607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1/12（火）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28031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MinIO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828031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】（Redwood City 付近）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394960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" y="5522976"/>
            <a:ext cx="1325880" cy="29260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5522976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1/12（火）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486400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vCluster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5486400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】（SF）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144768"/>
            <a:ext cx="11018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A5A75"/>
                </a:solidFill>
                <a:latin typeface="Noto Sans CJK JP"/>
              </a:rPr>
              <a:t>訪問先・時間はベンダー訪問日程（UPDATED）に基づく。確定後に住所を記入してください。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REFERENCE 2 · 問い合わせ先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参考情報　問い合わせ先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25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5440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691640"/>
            <a:ext cx="20116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91640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出張までの相談役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9456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6243F"/>
                </a:solidFill>
                <a:latin typeface="Noto Sans CJK JP"/>
              </a:rPr>
              <a:t>情報通信ビジネス企画統括本部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・【氏名】［【部署】］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・【氏名】［【部署】］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/>
            </a:r>
          </a:p>
          <a:p>
            <a:pPr algn="l"/>
            <a:r>
              <a:rPr sz="1400" b="1">
                <a:solidFill>
                  <a:srgbClr val="16243F"/>
                </a:solidFill>
                <a:latin typeface="Noto Sans CJK JP"/>
              </a:rPr>
              <a:t>相談できること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・出張手配関連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・資料レビューの内容、日程など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・質疑内容の相談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463040"/>
            <a:ext cx="5440680" cy="457200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3368" y="1691640"/>
            <a:ext cx="1645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691640"/>
            <a:ext cx="1645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問い合わせ先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9456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① 研修用トカログループ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「【グループ名】」</a:t>
            </a:r>
          </a:p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② Adminメーリス</a:t>
            </a:r>
          </a:p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>telbiz-global-admin@ctc-g.co.jp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【US研修でも同じメーリスを使うか確認】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APPENDIX 1 · 資料レビュー／直前ガイダンス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Appendix 1：資料レビュー・直前ガイダンス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26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11018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6243F"/>
                </a:solidFill>
                <a:latin typeface="Noto Sans CJK JP"/>
              </a:rPr>
              <a:t>【仮】資料レビュー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日程：【日時】（3日分を確保。2回になる可能性あり）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内容：CESの準備、サンノゼで行うベンダー訪問の準備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66160"/>
            <a:ext cx="11018520" cy="178308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490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5F0E6"/>
                </a:solidFill>
                <a:latin typeface="Noto Sans CJK JP"/>
              </a:rPr>
              <a:t>【仮】直前ガイダンス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日程：【日時】＠【会議室】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BECAD7"/>
                </a:solidFill>
                <a:latin typeface="Noto Sans CJK JP"/>
              </a:rPr>
              <a:t>内容：出張前の注意事項、保険加入、各種申請が済んでいるかの確認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669280"/>
            <a:ext cx="11018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※予定は事務局から仮登録済みです。詳細はトカログループでアナウンスします。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APPENDIX 2 · 現地連絡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Appendix 2：現地連絡・写真共有用のグループ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27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649224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グループ名</a:t>
            </a:r>
          </a:p>
          <a:p>
            <a:pPr algn="l"/>
            <a:r>
              <a:rPr sz="1500" b="0">
                <a:solidFill>
                  <a:srgbClr val="C46B3D"/>
                </a:solidFill>
                <a:latin typeface="Noto Sans CJK JP"/>
              </a:rPr>
              <a:t>【グループ名】</a:t>
            </a:r>
          </a:p>
          <a:p>
            <a:pPr algn="l"/>
            <a:r>
              <a:rPr sz="1500" b="0">
                <a:solidFill>
                  <a:srgbClr val="4A5A75"/>
                </a:solidFill>
                <a:latin typeface="Noto Sans CJK JP"/>
              </a:rPr>
              <a:t/>
            </a:r>
          </a:p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参加方法（To join）</a:t>
            </a:r>
          </a:p>
          <a:p>
            <a:pPr algn="l"/>
            <a:r>
              <a:rPr sz="1500" b="0">
                <a:solidFill>
                  <a:srgbClr val="C46B3D"/>
                </a:solidFill>
                <a:latin typeface="Noto Sans CJK JP"/>
              </a:rPr>
              <a:t>【参加用URL】</a:t>
            </a:r>
          </a:p>
          <a:p>
            <a:pPr algn="l"/>
            <a:r>
              <a:rPr sz="1500" b="0">
                <a:solidFill>
                  <a:srgbClr val="4A5A75"/>
                </a:solidFill>
                <a:latin typeface="Noto Sans CJK JP"/>
              </a:rPr>
              <a:t/>
            </a:r>
          </a:p>
          <a:p>
            <a:pPr algn="l"/>
            <a:r>
              <a:rPr sz="1500" b="0">
                <a:solidFill>
                  <a:srgbClr val="4A5A75"/>
                </a:solidFill>
                <a:latin typeface="Noto Sans CJK JP"/>
              </a:rPr>
              <a:t>現地での連絡と、写真の共有に使います。出発前に参加してください。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554480"/>
            <a:ext cx="38587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291840"/>
            <a:ext cx="3566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46B3D"/>
                </a:solidFill>
                <a:latin typeface="Noto Sans CJK JP"/>
              </a:rPr>
              <a:t>【QRコードを貼り付け】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5F0E6"/>
                </a:solidFill>
                <a:latin typeface="Noto Sans CJK JP"/>
              </a:rPr>
              <a:t>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6118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BECAD7"/>
                </a:solidFill>
                <a:latin typeface="Noto Sans CJK JP"/>
              </a:rPr>
              <a:t>ご質問・ご不明点をお聞かせください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7432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F5F0E6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290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46B3D"/>
                </a:solidFill>
                <a:latin typeface="Noto Sans CJK JP"/>
              </a:rPr>
              <a:t>2027.01.05 出発  →  2027.01.14 帰国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194075964</TotalTime>
  <Words>908</Words>
  <Application>Microsoft Office PowerPoint</Application>
  <PresentationFormat>ワイド画面</PresentationFormat>
  <Paragraphs>270</Paragraphs>
  <Slides>13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Noto Sans CJK JP</vt:lpstr>
      <vt:lpstr>Noto Sans JP Light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情通 若手海外（US）研修 CES 2027 キックオフ 更新版 最新日程反映</dc:title>
  <dc:subject>参加者向けキックオフ資料</dc:subject>
  <dc:creator>王　帆</dc:creator>
  <dc:description>generated using python-pptx</dc:description>
  <cp:lastModifiedBy>川北　敬仁</cp:lastModifiedBy>
  <cp:revision>9</cp:revision>
  <dcterms:created xsi:type="dcterms:W3CDTF">2026-10-21T07:19:59Z</dcterms:created>
  <dcterms:modified xsi:type="dcterms:W3CDTF">2026-10-29T01:51:46Z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bb27ca-7868-470c-8d5b-74df37759162_Enabled">
    <vt:lpwstr>true</vt:lpwstr>
  </property>
  <property fmtid="{D5CDD505-2E9C-101B-9397-08002B2CF9AE}" pid="3" name="MSIP_Label_babb27ca-7868-470c-8d5b-74df37759162_SetDate">
    <vt:lpwstr>2026-10-29T01:51:46Z</vt:lpwstr>
  </property>
  <property fmtid="{D5CDD505-2E9C-101B-9397-08002B2CF9AE}" pid="4" name="MSIP_Label_babb27ca-7868-470c-8d5b-74df37759162_Method">
    <vt:lpwstr>Privileged</vt:lpwstr>
  </property>
  <property fmtid="{D5CDD505-2E9C-101B-9397-08002B2CF9AE}" pid="5" name="MSIP_Label_babb27ca-7868-470c-8d5b-74df37759162_Name">
    <vt:lpwstr>babb27ca-7868-470c-8d5b-74df37759162</vt:lpwstr>
  </property>
  <property fmtid="{D5CDD505-2E9C-101B-9397-08002B2CF9AE}" pid="6" name="MSIP_Label_babb27ca-7868-470c-8d5b-74df37759162_SiteId">
    <vt:lpwstr>bdda4ca5-4ffd-4f47-9e0d-ce56ad194b37</vt:lpwstr>
  </property>
  <property fmtid="{D5CDD505-2E9C-101B-9397-08002B2CF9AE}" pid="7" name="MSIP_Label_babb27ca-7868-470c-8d5b-74df37759162_ActionId">
    <vt:lpwstr>79b8ff44-afaa-488d-9fbd-771850fbff19</vt:lpwstr>
  </property>
  <property fmtid="{D5CDD505-2E9C-101B-9397-08002B2CF9AE}" pid="8" name="MSIP_Label_babb27ca-7868-470c-8d5b-74df37759162_ContentBits">
    <vt:lpwstr>0</vt:lpwstr>
  </property>
  <property fmtid="{D5CDD505-2E9C-101B-9397-08002B2CF9AE}" pid="9" name="MSIP_Label_babb27ca-7868-470c-8d5b-74df37759162_Tag">
    <vt:lpwstr>10, 0, 1, 1</vt:lpwstr>
  </property>
</Properties>
</file>