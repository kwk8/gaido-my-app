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20"/>
    <p:sldId id="257" r:id="rId3"/>
    <p:sldId id="270" r:id="rId21"/>
    <p:sldId id="271" r:id="rId22"/>
    <p:sldId id="272" r:id="rId23"/>
    <p:sldId id="273" r:id="rId24"/>
    <p:sldId id="258" r:id="rId4"/>
    <p:sldId id="259" r:id="rId5"/>
    <p:sldId id="260" r:id="rId6"/>
    <p:sldId id="261" r:id="rId7"/>
    <p:sldId id="274" r:id="rId25"/>
    <p:sldId id="262" r:id="rId8"/>
    <p:sldId id="263" r:id="rId9"/>
    <p:sldId id="275" r:id="rId26"/>
    <p:sldId id="276" r:id="rId27"/>
    <p:sldId id="277" r:id="rId28"/>
    <p:sldId id="278" r:id="rId29"/>
    <p:sldId id="279" r:id="rId30"/>
    <p:sldId id="266" r:id="rId10"/>
    <p:sldId id="264" r:id="rId11"/>
    <p:sldId id="267" r:id="rId12"/>
    <p:sldId id="265" r:id="rId13"/>
    <p:sldId id="280" r:id="rId31"/>
    <p:sldId id="281" r:id="rId32"/>
    <p:sldId id="282" r:id="rId33"/>
    <p:sldId id="283" r:id="rId34"/>
    <p:sldId id="284" r:id="rId35"/>
    <p:sldId id="285" r:id="rId36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197" autoAdjust="0"/>
  </p:normalViewPr>
  <p:slideViewPr>
    <p:cSldViewPr snapToGrid="0" snapToObjects="1">
      <p:cViewPr varScale="1">
        <p:scale>
          <a:sx n="104" d="100"/>
          <a:sy n="104" d="100"/>
        </p:scale>
        <p:origin x="1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4839E-B08A-4F63-99CA-200DD7DA524C}" type="datetimeFigureOut">
              <a:rPr kumimoji="1" lang="ja-JP" altLang="en-US" smtClean="0"/>
              <a:t>2026/10/29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4B68A-EC1D-4D10-96C3-680F49B035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333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期待値。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4B68A-EC1D-4D10-96C3-680F49B03560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47285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事前レビュー会：最低</a:t>
            </a:r>
            <a:r>
              <a:rPr kumimoji="1" lang="en-US" altLang="ja-JP" dirty="0"/>
              <a:t>2</a:t>
            </a:r>
            <a:r>
              <a:rPr kumimoji="1" lang="ja-JP" altLang="en-US" dirty="0"/>
              <a:t>回。（</a:t>
            </a:r>
            <a:r>
              <a:rPr kumimoji="1" lang="en-US" altLang="ja-JP" dirty="0"/>
              <a:t>90</a:t>
            </a:r>
            <a:r>
              <a:rPr kumimoji="1" lang="ja-JP" altLang="en-US" dirty="0"/>
              <a:t>分）</a:t>
            </a:r>
            <a:endParaRPr kumimoji="1" lang="en-US" altLang="ja-JP" dirty="0"/>
          </a:p>
          <a:p>
            <a:r>
              <a:rPr kumimoji="1" lang="ja-JP" altLang="en-US" dirty="0"/>
              <a:t>直前ガイダンス：細かい事務系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※</a:t>
            </a:r>
            <a:r>
              <a:rPr kumimoji="1" lang="ja-JP" altLang="en-US" dirty="0"/>
              <a:t>上司、周りと相談して決めて！自分の興味以外に、少なくとも</a:t>
            </a:r>
            <a:r>
              <a:rPr kumimoji="1" lang="en-US" altLang="ja-JP" dirty="0"/>
              <a:t>1</a:t>
            </a:r>
            <a:r>
              <a:rPr kumimoji="1" lang="ja-JP" altLang="en-US" dirty="0"/>
              <a:t>つは顧客、部署。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24B68A-EC1D-4D10-96C3-680F49B03560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07935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F5F0E6"/>
                </a:solidFill>
                <a:latin typeface="Noto Sans CJK JP"/>
              </a:rPr>
              <a:t>情通 若手海外（US）研修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783080"/>
            <a:ext cx="98755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400" b="1">
                <a:solidFill>
                  <a:srgbClr val="F5F0E6"/>
                </a:solidFill>
                <a:latin typeface="Noto Sans CJK JP"/>
              </a:rPr>
              <a:t>CES 2027 視察ツアー キックオフ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743200"/>
            <a:ext cx="89611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F5F0E6"/>
                </a:solidFill>
                <a:latin typeface="Noto Sans CJK JP"/>
              </a:rPr>
              <a:t>事前準備・現地行動・帰国後報告の共通認識を合わせる</a:t>
            </a:r>
          </a:p>
        </p:txBody>
      </p:sp>
      <p:sp>
        <p:nvSpPr>
          <p:cNvPr id="6" name="Oval 5"/>
          <p:cNvSpPr/>
          <p:nvPr/>
        </p:nvSpPr>
        <p:spPr>
          <a:xfrm>
            <a:off x="6492240" y="4160520"/>
            <a:ext cx="475488" cy="475488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59" y="4736592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5F0E6"/>
                </a:solidFill>
                <a:latin typeface="Noto Sans CJK JP"/>
              </a:rPr>
              <a:t>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020056"/>
            <a:ext cx="10241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BECAD7"/>
                </a:solidFill>
                <a:latin typeface="Noto Sans CJK JP"/>
              </a:rPr>
              <a:t>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967727" y="4379976"/>
            <a:ext cx="1033271" cy="32004"/>
          </a:xfrm>
          <a:prstGeom prst="rect">
            <a:avLst/>
          </a:prstGeom>
          <a:solidFill>
            <a:srgbClr val="5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001000" y="4160520"/>
            <a:ext cx="475488" cy="475488"/>
          </a:xfrm>
          <a:prstGeom prst="ellipse">
            <a:avLst/>
          </a:prstGeom>
          <a:solidFill>
            <a:srgbClr val="3E7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18120" y="4736592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5F0E6"/>
                </a:solidFill>
                <a:latin typeface="Noto Sans CJK JP"/>
              </a:rPr>
              <a:t>SJC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020056"/>
            <a:ext cx="10241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BECAD7"/>
                </a:solidFill>
                <a:latin typeface="Noto Sans CJK JP"/>
              </a:rPr>
              <a:t>Vendor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76488" y="4379976"/>
            <a:ext cx="1033271" cy="32004"/>
          </a:xfrm>
          <a:prstGeom prst="rect">
            <a:avLst/>
          </a:prstGeom>
          <a:solidFill>
            <a:srgbClr val="5F7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9509759" y="4160520"/>
            <a:ext cx="475488" cy="475488"/>
          </a:xfrm>
          <a:prstGeom prst="ellipse">
            <a:avLst/>
          </a:prstGeom>
          <a:solidFill>
            <a:srgbClr val="3E7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26880" y="4736592"/>
            <a:ext cx="84124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F5F0E6"/>
                </a:solidFill>
                <a:latin typeface="Noto Sans CJK JP"/>
              </a:rPr>
              <a:t>SFO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39" y="5020056"/>
            <a:ext cx="1024128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900" b="0">
                <a:solidFill>
                  <a:srgbClr val="BECAD7"/>
                </a:solidFill>
                <a:latin typeface="Noto Sans CJK JP"/>
              </a:rPr>
              <a:t>Return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5961888"/>
            <a:ext cx="548640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C46B3D"/>
                </a:solidFill>
                <a:latin typeface="Noto Sans CJK JP"/>
              </a:rPr>
              <a:t>2027.01.05 出発  →  2027.01.14 帰国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4114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1">
                <a:solidFill>
                  <a:srgbClr val="F5F0E6"/>
                </a:solidFill>
                <a:latin typeface="Noto Sans CJK JP"/>
              </a:rPr>
              <a:t>KICKOFF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PURPOSE · 研修で達成すること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研修の目的とゴール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03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492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72200" y="1554480"/>
            <a:ext cx="5440680" cy="425196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123444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833372"/>
            <a:ext cx="123444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 · LEARN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480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16243F"/>
                </a:solidFill>
                <a:latin typeface="Noto Sans CJK JP"/>
              </a:rPr>
              <a:t>最先端テクノロジーを
自分の目で捉える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429000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69848" y="3337560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CESの展示・セッションから、自本部に関係する潮流を抽出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005072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3913632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シリコンバレー企業との対話を通じ、事業への示唆を得る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69848" y="4489704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「見たこと」だけでなく「自社でどう活かすか」まで整理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828800"/>
            <a:ext cx="14173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833372"/>
            <a:ext cx="14173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 ·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31720"/>
            <a:ext cx="4480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>
                <a:solidFill>
                  <a:srgbClr val="F5F0E6"/>
                </a:solidFill>
                <a:latin typeface="Noto Sans CJK JP"/>
              </a:rPr>
              <a:t>本部長報告を意識し、
成果を持ち帰る</a:t>
            </a:r>
          </a:p>
        </p:txBody>
      </p:sp>
      <p:sp>
        <p:nvSpPr>
          <p:cNvPr id="20" name="Oval 19"/>
          <p:cNvSpPr/>
          <p:nvPr/>
        </p:nvSpPr>
        <p:spPr>
          <a:xfrm>
            <a:off x="6492240" y="3429000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93407" y="3337560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帰国後、運営側から各本部長へ活動内容を報告</a:t>
            </a:r>
          </a:p>
        </p:txBody>
      </p:sp>
      <p:sp>
        <p:nvSpPr>
          <p:cNvPr id="22" name="Oval 21"/>
          <p:cNvSpPr/>
          <p:nvPr/>
        </p:nvSpPr>
        <p:spPr>
          <a:xfrm>
            <a:off x="6492240" y="4005072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93407" y="3913632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各自の担当顧客・担当業務に結びつく気づきを記録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4581144"/>
            <a:ext cx="100584" cy="100584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93407" y="4489704"/>
            <a:ext cx="4370832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写真・メモ・質問回答を、報告に使える形で残す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SCHEDULE · 全体行程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研修スケジュール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08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353312"/>
            <a:ext cx="8046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※時刻は現地時間。帰国便は1/13深夜発、1/14早朝着。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1828800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1/5 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1833372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1837943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移動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19656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成田 → サンフランシスコ → ラスベガス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212848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2258568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1/6 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2263139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28800" y="2267711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249424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展示・セッション視察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642615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2688336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1/7 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2692908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8800" y="2697479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79191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展示・セッション視察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072384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11810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1/8 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28800" y="3122676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828800" y="3127248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108960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展示・セッション視察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502152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13232" y="3547872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1/9 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0" y="3552444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0" y="3557015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移動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538728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ラスベガス → サンノゼ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931920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" y="3977639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1/10 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28800" y="3982211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0" y="3986783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調整日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3968496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休息・翌日以降の準備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361688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3232" y="4407408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1/11 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28800" y="4411979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828800" y="4416551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訪問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398264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CTC → Forward Networks → Cisco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91456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3232" y="4837176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1/12 火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828800" y="4841748"/>
            <a:ext cx="74980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28800" y="4846320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訪問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4828032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Exaforce → MinIO → vCluster（SF）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221224"/>
            <a:ext cx="110185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13232" y="526694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1/13 水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828800" y="5271516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0" y="5276088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帰国便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257800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SFO 00:20発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5650992"/>
            <a:ext cx="11018520" cy="393192"/>
          </a:xfrm>
          <a:prstGeom prst="rect">
            <a:avLst/>
          </a:prstGeom>
          <a:solidFill>
            <a:srgbClr val="F9F7F2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13232" y="5696712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1/14 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5701283"/>
            <a:ext cx="749808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828800" y="5705855"/>
            <a:ext cx="74980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帰着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687568"/>
            <a:ext cx="8458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羽田 04:50着・解散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FLIGHTS · 10/14 JTB回答反映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確定フライト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09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74650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E7B97"/>
                </a:solidFill>
                <a:latin typeface="Noto Sans CJK JP"/>
              </a:rPr>
              <a:t>1/5 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73736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NH 008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728216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NRT 17:00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71907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C46B3D"/>
                </a:solidFill>
                <a:latin typeface="Noto Sans CJK JP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1728216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SFO 09:20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51760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79806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E7B97"/>
                </a:solidFill>
                <a:latin typeface="Noto Sans CJK JP"/>
              </a:rPr>
              <a:t>1/5 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78892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UA 661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779776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SFO 14:20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770632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C46B3D"/>
                </a:solidFill>
                <a:latin typeface="Noto Sans CJK JP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779776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LAS 15:59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703320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849624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E7B97"/>
                </a:solidFill>
                <a:latin typeface="Noto Sans CJK JP"/>
              </a:rPr>
              <a:t>1/9 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84048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WN 2203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831335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LAS 09:30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3822191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C46B3D"/>
                </a:solidFill>
                <a:latin typeface="Noto Sans CJK JP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3831335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SJC 11:05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754879"/>
            <a:ext cx="11018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901183"/>
            <a:ext cx="10515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3E7B97"/>
                </a:solidFill>
                <a:latin typeface="Noto Sans CJK JP"/>
              </a:rPr>
              <a:t>1/13 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19" y="489204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NH 107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882895"/>
            <a:ext cx="20116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SFO 00:20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4873751"/>
            <a:ext cx="4114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800" b="1">
                <a:solidFill>
                  <a:srgbClr val="C46B3D"/>
                </a:solidFill>
                <a:latin typeface="Noto Sans CJK JP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4882895"/>
            <a:ext cx="2560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HND 04:50（1/14着）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897880"/>
            <a:ext cx="87782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航空会社：NH＝全日空　UA＝ユナイテッド航空　WN＝サウスウエスト航空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2916936"/>
            <a:ext cx="2926080" cy="43088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lang="en-US" altLang="ja-JP" sz="1100" b="1" dirty="0">
                <a:solidFill>
                  <a:srgbClr val="AA463C"/>
                </a:solidFill>
                <a:latin typeface="Noto Sans CJK JP"/>
              </a:rPr>
              <a:t>※</a:t>
            </a:r>
            <a:r>
              <a:rPr sz="1100" b="1" dirty="0" err="1">
                <a:solidFill>
                  <a:srgbClr val="AA463C"/>
                </a:solidFill>
                <a:latin typeface="Noto Sans CJK JP"/>
              </a:rPr>
              <a:t>受託手荷物</a:t>
            </a:r>
            <a:r>
              <a:rPr lang="ja-JP" altLang="en-US" sz="1100" b="1" dirty="0">
                <a:solidFill>
                  <a:srgbClr val="AA463C"/>
                </a:solidFill>
                <a:latin typeface="Noto Sans CJK JP"/>
              </a:rPr>
              <a:t>有料</a:t>
            </a:r>
            <a:endParaRPr lang="en-US" altLang="ja-JP" sz="1100" b="1" dirty="0">
              <a:solidFill>
                <a:srgbClr val="AA463C"/>
              </a:solidFill>
              <a:latin typeface="Noto Sans CJK JP"/>
            </a:endParaRPr>
          </a:p>
          <a:p>
            <a:r>
              <a:rPr lang="en-US" altLang="ja-JP" sz="1100" b="1" dirty="0">
                <a:solidFill>
                  <a:srgbClr val="AA463C"/>
                </a:solidFill>
                <a:latin typeface="Noto Sans CJK JP"/>
              </a:rPr>
              <a:t>※</a:t>
            </a:r>
            <a:r>
              <a:rPr lang="ja-JP" altLang="en-US" sz="1100" b="1" dirty="0">
                <a:solidFill>
                  <a:srgbClr val="AA463C"/>
                </a:solidFill>
                <a:latin typeface="Noto Sans CJK JP"/>
              </a:rPr>
              <a:t>合計</a:t>
            </a:r>
            <a:r>
              <a:rPr lang="en-US" altLang="ja-JP" sz="1100" b="1" dirty="0">
                <a:solidFill>
                  <a:srgbClr val="AA463C"/>
                </a:solidFill>
                <a:latin typeface="Noto Sans CJK JP"/>
              </a:rPr>
              <a:t>158cm</a:t>
            </a:r>
            <a:r>
              <a:rPr lang="ja-JP" altLang="en-US" sz="1100" b="1" dirty="0">
                <a:solidFill>
                  <a:srgbClr val="AA463C"/>
                </a:solidFill>
                <a:latin typeface="Noto Sans CJK JP"/>
              </a:rPr>
              <a:t>（</a:t>
            </a:r>
            <a:r>
              <a:rPr lang="en-US" altLang="ja-JP" sz="1100" b="1" dirty="0">
                <a:solidFill>
                  <a:srgbClr val="AA463C"/>
                </a:solidFill>
                <a:latin typeface="Noto Sans CJK JP"/>
              </a:rPr>
              <a:t>62</a:t>
            </a:r>
            <a:r>
              <a:rPr lang="ja-JP" altLang="en-US" sz="1100" b="1" dirty="0">
                <a:solidFill>
                  <a:srgbClr val="AA463C"/>
                </a:solidFill>
                <a:latin typeface="Noto Sans CJK JP"/>
              </a:rPr>
              <a:t>インチ）以内</a:t>
            </a:r>
            <a:endParaRPr lang="en-US" altLang="ja-JP" sz="1100" b="1" dirty="0">
              <a:solidFill>
                <a:srgbClr val="AA463C"/>
              </a:solidFill>
              <a:latin typeface="Noto Sans CJK JP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92FD754B-4D3E-9CFB-43CB-3F6F387FF6C1}"/>
              </a:ext>
            </a:extLst>
          </p:cNvPr>
          <p:cNvSpPr txBox="1"/>
          <p:nvPr/>
        </p:nvSpPr>
        <p:spPr>
          <a:xfrm>
            <a:off x="8065008" y="3968496"/>
            <a:ext cx="2926080" cy="2616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r>
              <a:rPr sz="1100" b="1" dirty="0" err="1">
                <a:solidFill>
                  <a:srgbClr val="AA463C"/>
                </a:solidFill>
                <a:latin typeface="Noto Sans CJK JP"/>
              </a:rPr>
              <a:t>WN便は受託手荷物条件を別途確認</a:t>
            </a:r>
            <a:endParaRPr sz="1100" b="1" dirty="0">
              <a:solidFill>
                <a:srgbClr val="AA463C"/>
              </a:solidFill>
              <a:latin typeface="Noto Sans CJK JP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HOTELS · 宿泊先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宿泊・滞在拠点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10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5358384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99632" y="1572768"/>
            <a:ext cx="5394960" cy="443484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41248" y="1828800"/>
            <a:ext cx="128016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833372"/>
            <a:ext cx="128016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LAS VEGAS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31720"/>
            <a:ext cx="44805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500" b="1">
                <a:solidFill>
                  <a:srgbClr val="16243F"/>
                </a:solidFill>
                <a:latin typeface="Noto Sans CJK JP"/>
              </a:rPr>
              <a:t>Mandalay Bay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971800"/>
            <a:ext cx="4297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16243F"/>
                </a:solidFill>
                <a:latin typeface="Noto Sans CJK JP"/>
              </a:rPr>
              <a:t>2027/1/5 チェックイン
2027/1/9 チェックアウト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069080"/>
            <a:ext cx="3383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C46B3D"/>
                </a:solidFill>
                <a:latin typeface="Noto Sans CJK JP"/>
              </a:rPr>
              <a:t>平均 $234／泊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599432"/>
            <a:ext cx="3474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リゾートフィー込み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074920"/>
            <a:ext cx="4297680" cy="56692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4A5A75"/>
                </a:solidFill>
                <a:latin typeface="Noto Sans CJK JP"/>
              </a:rPr>
              <a:t>CES会場への移動時間を見込み、
集合時刻を厳守してください。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1828800"/>
            <a:ext cx="14173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73952" y="1833372"/>
            <a:ext cx="14173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SUNNYVALE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331720"/>
            <a:ext cx="438912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F5F0E6"/>
                </a:solidFill>
                <a:latin typeface="Noto Sans CJK JP"/>
              </a:rPr>
              <a:t>AC Hotel Sunnyvale
Cupertino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246120"/>
            <a:ext cx="42976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F5F0E6"/>
                </a:solidFill>
                <a:latin typeface="Noto Sans CJK JP"/>
              </a:rPr>
              <a:t>2027/1/9 チェックイン
2027/1/12 チェックアウト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315968"/>
            <a:ext cx="338328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>
                <a:solidFill>
                  <a:srgbClr val="C46B3D"/>
                </a:solidFill>
                <a:latin typeface="Noto Sans CJK JP"/>
              </a:rPr>
              <a:t>平均 $224／泊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965192"/>
            <a:ext cx="438912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DCE2E9"/>
                </a:solidFill>
                <a:latin typeface="Noto Sans CJK JP"/>
              </a:rPr>
              <a:t>ベンダー訪問時は貸切車で移動予定。
詳細な集合場所・時刻は確定後に共有。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VENDOR VISIT · UPDATED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ベンダー訪問日程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11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18520" cy="18288"/>
          </a:xfrm>
          <a:prstGeom prst="rect">
            <a:avLst/>
          </a:prstGeom>
          <a:solidFill>
            <a:srgbClr val="E8ECE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481328"/>
            <a:ext cx="5376672" cy="487375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C46B3D"/>
                </a:solidFill>
                <a:latin typeface="Noto Sans CJK JP"/>
              </a:rPr>
              <a:t>1/11（月）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331720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33172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9:00–10:00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304288"/>
            <a:ext cx="315468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dirty="0">
                <a:solidFill>
                  <a:srgbClr val="16243F"/>
                </a:solidFill>
                <a:latin typeface="Noto Sans CJK JP"/>
              </a:rPr>
              <a:t>CTC</a:t>
            </a:r>
            <a:r>
              <a:rPr lang="en-US" altLang="ja-JP" sz="1500" b="1" dirty="0">
                <a:solidFill>
                  <a:srgbClr val="16243F"/>
                </a:solidFill>
                <a:latin typeface="Noto Sans CJK JP"/>
              </a:rPr>
              <a:t>A</a:t>
            </a:r>
            <a:endParaRPr sz="1500" b="1" dirty="0">
              <a:solidFill>
                <a:srgbClr val="16243F"/>
              </a:solidFill>
              <a:latin typeface="Noto Sans JP Light" panose="020B0200000000000000" pitchFamily="50" charset="-128"/>
              <a:ea typeface="Noto Sans JP Light" panose="020B0200000000000000" pitchFamily="50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94560" y="2624327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全体ブリーフィングを兼ねる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36391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136391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10:00–10:30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3108960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dirty="0" err="1">
                <a:solidFill>
                  <a:srgbClr val="16243F"/>
                </a:solidFill>
                <a:latin typeface="Noto Sans CJK JP"/>
              </a:rPr>
              <a:t>移動＋予備</a:t>
            </a:r>
            <a:endParaRPr sz="1500" b="1" dirty="0">
              <a:solidFill>
                <a:srgbClr val="16243F"/>
              </a:solidFill>
              <a:latin typeface="Noto Sans CJK JP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94560" y="3428999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Santa Clara内、移動10〜15分程度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941063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941063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10:30–12:00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913631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dirty="0">
                <a:solidFill>
                  <a:srgbClr val="16243F"/>
                </a:solidFill>
                <a:latin typeface="Noto Sans CJK JP"/>
              </a:rPr>
              <a:t>Forward Networks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4233672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訪問・ディスカッション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745736"/>
            <a:ext cx="1188720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745736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午後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718303"/>
            <a:ext cx="3154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Cisco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5038344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100" b="0">
                <a:solidFill>
                  <a:srgbClr val="4A5A75"/>
                </a:solidFill>
                <a:latin typeface="Noto Sans CJK JP"/>
              </a:rPr>
              <a:t>訪問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1481328"/>
            <a:ext cx="5385816" cy="4873752"/>
          </a:xfrm>
          <a:prstGeom prst="roundRect">
            <a:avLst/>
          </a:prstGeom>
          <a:solidFill>
            <a:srgbClr val="16243F"/>
          </a:solidFill>
          <a:ln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73952" y="1737360"/>
            <a:ext cx="20116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200" b="1">
                <a:solidFill>
                  <a:srgbClr val="C46B3D"/>
                </a:solidFill>
                <a:latin typeface="Noto Sans CJK JP"/>
              </a:rPr>
              <a:t>1/12（火）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73952" y="2212848"/>
            <a:ext cx="1188720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2212848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9:30–11:00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45552" y="2194560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Exaforce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45552" y="2478024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訪問・ディスカッション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2907791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73952" y="2907791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11:00–13:00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889503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北へ移動＋昼食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5552" y="3172968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移動約40分／Redwood City付近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73952" y="3602736"/>
            <a:ext cx="1188720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3602736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13:00–14:30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3584448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MinIO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45552" y="3867911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訪問・ディスカッション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73952" y="4297680"/>
            <a:ext cx="1188720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73952" y="4297680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14:30–15:30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4279392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SFへ移動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4562856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移動約40〜50分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73952" y="4992624"/>
            <a:ext cx="1188720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73952" y="4992624"/>
            <a:ext cx="11887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15:30–17:00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45552" y="4974336"/>
            <a:ext cx="32461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vCluster（SF）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45552" y="5257800"/>
            <a:ext cx="3246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CDD7E1"/>
                </a:solidFill>
                <a:latin typeface="Noto Sans CJK JP"/>
              </a:rPr>
              <a:t>訪問・ディスカッション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8" y="6053328"/>
            <a:ext cx="106984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AA463C"/>
                </a:solidFill>
                <a:latin typeface="Noto Sans CJK JP"/>
              </a:rPr>
              <a:t>※交通状況により移動時間が変動する可能性があります。集合時刻を厳守してください。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6928" y="6547104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PREPARATION 1 · 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CES視察の事前準備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13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27632"/>
            <a:ext cx="11018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92807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97379"/>
            <a:ext cx="5029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77393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43F"/>
                </a:solidFill>
                <a:latin typeface="Noto Sans CJK JP"/>
              </a:rPr>
              <a:t>出展情報を調査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755648"/>
            <a:ext cx="6995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自本部・担当顧客に関係するテーマ、企業、製品を洗い出す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79191"/>
            <a:ext cx="11018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" y="294436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948939"/>
            <a:ext cx="5029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82549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43F"/>
                </a:solidFill>
                <a:latin typeface="Noto Sans CJK JP"/>
              </a:rPr>
              <a:t>回るブースを計画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807208"/>
            <a:ext cx="6995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会場・日付・優先順位を整理し、無理のないルートを作る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730752"/>
            <a:ext cx="11018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4672" y="399592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4000500"/>
            <a:ext cx="5029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87705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43F"/>
                </a:solidFill>
                <a:latin typeface="Noto Sans CJK JP"/>
              </a:rPr>
              <a:t>参加セッションを計画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858768"/>
            <a:ext cx="6995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Standard Passの範囲を基本に選定。有料セッションは必要性を整理して相談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782312"/>
            <a:ext cx="110185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" y="504748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5052059"/>
            <a:ext cx="50292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928616"/>
            <a:ext cx="2743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16243F"/>
                </a:solidFill>
                <a:latin typeface="Noto Sans CJK JP"/>
              </a:rPr>
              <a:t>報告観点を決める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4910327"/>
            <a:ext cx="69951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「注目点／顧客への示唆／自社での活用可能性」を各日記録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89788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5952744"/>
            <a:ext cx="10698480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事前計画は「固定」ではなく、現地で更新するための仮説です。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PREPARATION 2 · VENDOR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ベンダー訪問の事前準備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14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691640"/>
            <a:ext cx="327355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3852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C46B3D"/>
                </a:solidFill>
                <a:latin typeface="Noto Sans CJK J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2651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 err="1">
                <a:solidFill>
                  <a:srgbClr val="16243F"/>
                </a:solidFill>
                <a:latin typeface="Noto Sans CJK JP"/>
              </a:rPr>
              <a:t>全員</a:t>
            </a:r>
            <a:r>
              <a:rPr sz="2200" b="1" dirty="0" err="1">
                <a:solidFill>
                  <a:srgbClr val="16243F"/>
                </a:solidFill>
                <a:latin typeface="Noto Sans CJK JP"/>
              </a:rPr>
              <a:t>で企業研究</a:t>
            </a:r>
            <a:endParaRPr sz="2200" b="1" dirty="0">
              <a:solidFill>
                <a:srgbClr val="16243F"/>
              </a:solidFill>
              <a:latin typeface="Noto Sans CJK JP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3127248"/>
            <a:ext cx="269748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lang="en-US" sz="1500" b="0" dirty="0">
              <a:solidFill>
                <a:srgbClr val="4A5A75"/>
              </a:solidFill>
              <a:latin typeface="Noto Sans CJK JP"/>
            </a:endParaRPr>
          </a:p>
          <a:p>
            <a:pPr algn="l"/>
            <a:r>
              <a:rPr sz="1500" b="0" dirty="0" err="1">
                <a:solidFill>
                  <a:srgbClr val="4A5A75"/>
                </a:solidFill>
                <a:latin typeface="Noto Sans CJK JP"/>
              </a:rPr>
              <a:t>参加者全員が、事業概要、主要製品、日本市場との接点、CTCとの関係を確認</a:t>
            </a:r>
            <a:endParaRPr sz="1500" b="0" dirty="0">
              <a:solidFill>
                <a:srgbClr val="4A5A75"/>
              </a:solidFill>
              <a:latin typeface="Noto Sans CJK JP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315968" y="1691640"/>
            <a:ext cx="3273552" cy="352044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93852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C46B3D"/>
                </a:solidFill>
                <a:latin typeface="Noto Sans CJK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395728"/>
            <a:ext cx="2651760" cy="86177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 err="1">
                <a:solidFill>
                  <a:srgbClr val="F5F0E6"/>
                </a:solidFill>
                <a:latin typeface="Noto Sans CJK JP"/>
              </a:rPr>
              <a:t>全員</a:t>
            </a:r>
            <a:r>
              <a:rPr sz="2200" b="1" dirty="0" err="1">
                <a:solidFill>
                  <a:srgbClr val="F5F0E6"/>
                </a:solidFill>
                <a:latin typeface="Noto Sans CJK JP"/>
              </a:rPr>
              <a:t>が自己紹介を準備</a:t>
            </a:r>
            <a:endParaRPr sz="2200" b="1" dirty="0">
              <a:solidFill>
                <a:srgbClr val="F5F0E6"/>
              </a:solidFill>
              <a:latin typeface="Noto Sans CJK JP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72000" y="3127248"/>
            <a:ext cx="269748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lang="en-US" sz="1500" b="0" dirty="0">
              <a:solidFill>
                <a:srgbClr val="F5F0E6"/>
              </a:solidFill>
              <a:latin typeface="Noto Sans CJK JP"/>
            </a:endParaRPr>
          </a:p>
          <a:p>
            <a:pPr algn="l"/>
            <a:r>
              <a:rPr sz="1500" b="0" dirty="0">
                <a:solidFill>
                  <a:srgbClr val="F5F0E6"/>
                </a:solidFill>
                <a:latin typeface="Noto Sans CJK JP"/>
              </a:rPr>
              <a:t>参加者全員が、所属本部、担当顧客、自身の担当業務を1分程度で説明できるよう準備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691640"/>
            <a:ext cx="3273552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938528"/>
            <a:ext cx="457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C46B3D"/>
                </a:solidFill>
                <a:latin typeface="Noto Sans CJK JP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395728"/>
            <a:ext cx="2651760" cy="5232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dirty="0" err="1">
                <a:solidFill>
                  <a:srgbClr val="16243F"/>
                </a:solidFill>
                <a:latin typeface="Noto Sans CJK JP"/>
              </a:rPr>
              <a:t>全員</a:t>
            </a:r>
            <a:r>
              <a:rPr sz="2200" b="1" dirty="0" err="1">
                <a:solidFill>
                  <a:srgbClr val="16243F"/>
                </a:solidFill>
                <a:latin typeface="Noto Sans CJK JP"/>
              </a:rPr>
              <a:t>が質問を準備</a:t>
            </a:r>
            <a:endParaRPr sz="2200" b="1" dirty="0">
              <a:solidFill>
                <a:srgbClr val="16243F"/>
              </a:solidFill>
              <a:latin typeface="Noto Sans CJK JP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1040" y="3127248"/>
            <a:ext cx="269748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lang="en-US" sz="1500" b="0" dirty="0">
              <a:solidFill>
                <a:srgbClr val="4A5A75"/>
              </a:solidFill>
              <a:latin typeface="Noto Sans CJK JP"/>
            </a:endParaRPr>
          </a:p>
          <a:p>
            <a:pPr algn="l"/>
            <a:r>
              <a:rPr sz="1500" b="0" dirty="0" err="1">
                <a:solidFill>
                  <a:srgbClr val="4A5A75"/>
                </a:solidFill>
                <a:latin typeface="Noto Sans CJK JP"/>
              </a:rPr>
              <a:t>参加者全員が、説明後のディスカッションに向けて各社ごとに必ず質問を用意</a:t>
            </a:r>
            <a:endParaRPr sz="1500" b="0" dirty="0">
              <a:solidFill>
                <a:srgbClr val="4A5A75"/>
              </a:solidFill>
              <a:latin typeface="Noto Sans CJK JP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8368" y="5532120"/>
            <a:ext cx="8229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C46B3D"/>
                </a:solidFill>
                <a:latin typeface="Noto Sans CJK JP"/>
              </a:rPr>
              <a:t>質問例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5504688"/>
            <a:ext cx="96012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dirty="0">
                <a:solidFill>
                  <a:srgbClr val="16243F"/>
                </a:solidFill>
                <a:latin typeface="Noto Sans CJK JP"/>
              </a:rPr>
              <a:t>「</a:t>
            </a:r>
            <a:r>
              <a:rPr sz="1400" b="1" dirty="0" err="1">
                <a:solidFill>
                  <a:srgbClr val="16243F"/>
                </a:solidFill>
                <a:latin typeface="Noto Sans CJK JP"/>
              </a:rPr>
              <a:t>日本企業での導入課題は</a:t>
            </a:r>
            <a:r>
              <a:rPr sz="1400" b="1" dirty="0">
                <a:solidFill>
                  <a:srgbClr val="16243F"/>
                </a:solidFill>
                <a:latin typeface="Noto Sans CJK JP"/>
              </a:rPr>
              <a:t>？」 「</a:t>
            </a:r>
            <a:r>
              <a:rPr sz="1400" b="1" dirty="0" err="1">
                <a:solidFill>
                  <a:srgbClr val="16243F"/>
                </a:solidFill>
                <a:latin typeface="Noto Sans CJK JP"/>
              </a:rPr>
              <a:t>競合との差別化は</a:t>
            </a:r>
            <a:r>
              <a:rPr sz="1400" b="1" dirty="0">
                <a:solidFill>
                  <a:srgbClr val="16243F"/>
                </a:solidFill>
                <a:latin typeface="Noto Sans CJK JP"/>
              </a:rPr>
              <a:t>？」 「</a:t>
            </a:r>
            <a:r>
              <a:rPr lang="ja-JP" altLang="en-US" sz="1400" b="1" dirty="0">
                <a:solidFill>
                  <a:srgbClr val="16243F"/>
                </a:solidFill>
                <a:latin typeface="Noto Sans CJK JP"/>
              </a:rPr>
              <a:t>実績　・　ユースケース</a:t>
            </a:r>
            <a:r>
              <a:rPr sz="1400" b="1" dirty="0">
                <a:solidFill>
                  <a:srgbClr val="16243F"/>
                </a:solidFill>
                <a:latin typeface="Noto Sans CJK JP"/>
              </a:rPr>
              <a:t>は？」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016752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>
                <a:solidFill>
                  <a:srgbClr val="AA463C"/>
                </a:solidFill>
                <a:latin typeface="Noto Sans CJK JP"/>
              </a:rPr>
              <a:t>各本部長への報告を意識し、説明内容・回答・示唆を記録してください。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OUTCOMES · 研修成果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研修で持ち帰ってほしいもの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20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36192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719072"/>
            <a:ext cx="13258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723643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TECHNOLOGY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645919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最新技術・市場動向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627632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CES展示とベンダー説明から、変化の兆しを捉える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32304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04672" y="2615184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619756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2542032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担当顧客への示唆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523744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顧客課題にどう結びつくか、紹介・提案の切り口を考える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28415"/>
            <a:ext cx="11018520" cy="694944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804672" y="3511296"/>
            <a:ext cx="13258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515868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3438144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5F0E6"/>
                </a:solidFill>
                <a:latin typeface="Noto Sans CJK JP"/>
              </a:rPr>
              <a:t>CTCの事業機会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3419856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協業・共同提案・検証につながる可能性を整理する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24528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" y="4407408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4411980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NETWORK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4334256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人的ネットワーク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4315968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訪問先・参加者との接点を、帰国後も活用できる関係にする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20640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303520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308092"/>
            <a:ext cx="1325880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NEXT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5230368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帰国後の具体的行動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212079"/>
            <a:ext cx="6263640" cy="3931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誰に共有し、何を確認し、次に何を進めるかまで決める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6144768"/>
            <a:ext cx="11018520" cy="347472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2" name="TextBox 31"/>
          <p:cNvSpPr txBox="1"/>
          <p:nvPr/>
        </p:nvSpPr>
        <p:spPr>
          <a:xfrm>
            <a:off x="731520" y="6190488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 dirty="0">
                <a:solidFill>
                  <a:srgbClr val="F5F0E6"/>
                </a:solidFill>
                <a:latin typeface="Noto Sans CJK JP"/>
              </a:rPr>
              <a:t>「</a:t>
            </a:r>
            <a:r>
              <a:rPr sz="1300" b="1" dirty="0" err="1">
                <a:solidFill>
                  <a:srgbClr val="F5F0E6"/>
                </a:solidFill>
                <a:latin typeface="Noto Sans CJK JP"/>
              </a:rPr>
              <a:t>見たこと」ではなく</a:t>
            </a:r>
            <a:r>
              <a:rPr sz="1300" b="1" dirty="0">
                <a:solidFill>
                  <a:srgbClr val="F5F0E6"/>
                </a:solidFill>
                <a:latin typeface="Noto Sans CJK JP"/>
              </a:rPr>
              <a:t>、「</a:t>
            </a:r>
            <a:r>
              <a:rPr sz="1300" b="1" dirty="0" err="1">
                <a:solidFill>
                  <a:srgbClr val="F5F0E6"/>
                </a:solidFill>
                <a:latin typeface="Noto Sans CJK JP"/>
              </a:rPr>
              <a:t>自本部・顧客にどう活かすか」まで持ち帰る</a:t>
            </a:r>
            <a:r>
              <a:rPr sz="1300" b="1" dirty="0">
                <a:solidFill>
                  <a:srgbClr val="F5F0E6"/>
                </a:solidFill>
                <a:latin typeface="Noto Sans CJK JP"/>
              </a:rPr>
              <a:t>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GROUND RULES · 安全と行動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現地でのお願い事項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21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86384" y="1737360"/>
            <a:ext cx="347472" cy="347472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746504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91640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単独行動を避ける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673352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基本は複数名で行動。グループを離れる場合は、必ず行先と戻る予定を共有。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86384" y="2633472"/>
            <a:ext cx="347472" cy="347472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2642616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87752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体調管理を最優先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569464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長期間の移動です。睡眠・食事・水分補給を意識し、無理をしない。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64991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86384" y="3529584"/>
            <a:ext cx="347472" cy="347472"/>
          </a:xfrm>
          <a:prstGeom prst="ellipse">
            <a:avLst/>
          </a:prstGeom>
          <a:solidFill>
            <a:srgbClr val="C46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3538727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483863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忘れ物・貴重品に注意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465575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パスポート、PC、携帯電話、充電器、入場証を毎朝確認。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261104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86384" y="4425696"/>
            <a:ext cx="347472" cy="347472"/>
          </a:xfrm>
          <a:prstGeom prst="ellipse">
            <a:avLst/>
          </a:prstGeom>
          <a:solidFill>
            <a:srgbClr val="3E7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86384" y="4434840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379976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会社ルールを守る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361688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出張・情報管理・コンプライアンスの各ルールに従って行動。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157216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86384" y="5321807"/>
            <a:ext cx="347472" cy="347472"/>
          </a:xfrm>
          <a:prstGeom prst="ellipse">
            <a:avLst/>
          </a:prstGeom>
          <a:solidFill>
            <a:srgbClr val="3E7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5330952"/>
            <a:ext cx="347472" cy="3017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276088"/>
            <a:ext cx="2331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学びを言語化する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5257800"/>
            <a:ext cx="73152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毎日、気づき・質問・顧客への示唆を短く整理し、メンバー間で共有。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6199632"/>
            <a:ext cx="11018520" cy="310896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6227064"/>
            <a:ext cx="10698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安全第一で、全員が有意義な海外研修にする。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REPORTING · 本部長報告につなげる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活動記録の共通フォーマット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22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2860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72768"/>
            <a:ext cx="772667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6384" y="1801368"/>
            <a:ext cx="47548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805939"/>
            <a:ext cx="47548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682495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WHAT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1664208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何を見た・聞いたか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8" y="1655064"/>
            <a:ext cx="3063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展示、製品、説明、相手の回答を事実ベースで記録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542032"/>
            <a:ext cx="772667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86384" y="2770632"/>
            <a:ext cx="47548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2775204"/>
            <a:ext cx="47548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2651760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SO WHAT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633472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何が新しい・重要か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4608" y="2624328"/>
            <a:ext cx="3063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従来との違い、市場への影響、注目すべき理由を整理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511296"/>
            <a:ext cx="772667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86384" y="3739896"/>
            <a:ext cx="47548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6384" y="3744468"/>
            <a:ext cx="47548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621024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CTC / 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602736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自社・顧客との関係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64608" y="3593591"/>
            <a:ext cx="3063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担当顧客の課題、提案テーマ、既存案件との接点を考える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480560"/>
            <a:ext cx="7726679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86384" y="4709160"/>
            <a:ext cx="475488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4713732"/>
            <a:ext cx="475488" cy="26517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4590288"/>
            <a:ext cx="150876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NEXT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4572000"/>
            <a:ext cx="19659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次に何をするか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4562856"/>
            <a:ext cx="306324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共有先、追加調査、面談・検証など帰国後の行動を明確化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49640" y="1572768"/>
            <a:ext cx="3035808" cy="431596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51392" y="1874519"/>
            <a:ext cx="242316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>
                <a:solidFill>
                  <a:srgbClr val="C46B3D"/>
                </a:solidFill>
                <a:latin typeface="Noto Sans CJK JP"/>
              </a:rPr>
              <a:t>DAILY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51392" y="2377440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2400" b="1">
                <a:solidFill>
                  <a:srgbClr val="F5F0E6"/>
                </a:solidFill>
                <a:latin typeface="Noto Sans CJK JP"/>
              </a:rPr>
              <a:t>毎日15分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880360"/>
            <a:ext cx="23774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F5F0E6"/>
                </a:solidFill>
                <a:latin typeface="Noto Sans CJK JP"/>
              </a:rPr>
              <a:t>その日のTOP3を共有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51392" y="3429000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1. 一番印象に残ったこと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3959352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2. 担当顧客に紹介したいこと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2" y="4489704"/>
            <a:ext cx="242316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3. 翌日確認したいこと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6062472"/>
            <a:ext cx="758952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>
                <a:solidFill>
                  <a:srgbClr val="AA463C"/>
                </a:solidFill>
                <a:latin typeface="Noto Sans CJK JP"/>
              </a:rPr>
              <a:t>写真は撮影可否を確認し、後で内容が分かるメモとセットで保存。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77072" y="6062472"/>
            <a:ext cx="28346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>
                <a:solidFill>
                  <a:srgbClr val="16243F"/>
                </a:solidFill>
                <a:latin typeface="Noto Sans CJK JP"/>
              </a:rPr>
              <a:t>記録担当は取りまとめ役。記録・質問は全員が行う。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256032"/>
            <a:ext cx="8961120" cy="23774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NEXT ACTIONS · キックオフ後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33272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参加者全員にお願いすること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320040"/>
            <a:ext cx="82296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/>
            <a:r>
              <a:rPr sz="900" b="0">
                <a:solidFill>
                  <a:srgbClr val="4A5A75"/>
                </a:solidFill>
                <a:latin typeface="Noto Sans CJK JP"/>
              </a:rPr>
              <a:t>23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18520" cy="18288"/>
          </a:xfrm>
          <a:prstGeom prst="rect">
            <a:avLst/>
          </a:prstGeom>
          <a:solidFill>
            <a:srgbClr val="E8ECE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508760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" y="1755648"/>
            <a:ext cx="1115568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755648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8256" y="1673351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注目テーマを各自3件選定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63056" y="1508760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64224" y="1755648"/>
            <a:ext cx="1115568" cy="29260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64224" y="1755648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BOOTH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4383" y="1673351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訪問候補ブースを各自5～10社整理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87752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68096" y="2834640"/>
            <a:ext cx="1115568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8096" y="2834640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48256" y="2752344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Standard Pass対象セッションを各自選定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2587752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364224" y="2834640"/>
            <a:ext cx="1115568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64224" y="2834640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VENDOR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44383" y="2752344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訪問5社を各自で事前調査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66744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68096" y="3913631"/>
            <a:ext cx="1115568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8096" y="3913631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INTRO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48256" y="3831335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1分程度の自己紹介を各自準備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63056" y="3666744"/>
            <a:ext cx="5358384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64224" y="3913631"/>
            <a:ext cx="1115568" cy="292608"/>
          </a:xfrm>
          <a:prstGeom prst="roundRect">
            <a:avLst/>
          </a:prstGeom>
          <a:solidFill>
            <a:srgbClr val="3E7B97"/>
          </a:solidFill>
          <a:ln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64224" y="3913631"/>
            <a:ext cx="1115568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QUESTION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4383" y="3831335"/>
            <a:ext cx="36118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各ベンダーへの質問を各自2～3問準備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73752"/>
            <a:ext cx="11018520" cy="658368"/>
          </a:xfrm>
          <a:prstGeom prst="roundRect">
            <a:avLst/>
          </a:prstGeom>
          <a:solidFill>
            <a:srgbClr val="16243F"/>
          </a:solidFill>
          <a:ln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77240" y="5020056"/>
            <a:ext cx="106070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500" b="1">
                <a:solidFill>
                  <a:srgbClr val="F5F0E6"/>
                </a:solidFill>
                <a:latin typeface="Noto Sans CJK JP"/>
              </a:rPr>
              <a:t>全員が実施：CESリサーチ／セッション選定／ベンダー調査／記録／日次共有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650992"/>
            <a:ext cx="10607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AA463C"/>
                </a:solidFill>
                <a:latin typeface="Noto Sans CJK JP"/>
              </a:rPr>
              <a:t>分担は設けず、事前準備から現地での記録・共有まで参加者全員で行います。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6053328"/>
            <a:ext cx="11018520" cy="384048"/>
          </a:xfrm>
          <a:prstGeom prst="roundRect">
            <a:avLst/>
          </a:prstGeom>
          <a:solidFill>
            <a:srgbClr val="C46B3D"/>
          </a:solidFill>
          <a:ln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1520" y="6108192"/>
            <a:ext cx="10698480" cy="2468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CJK JP"/>
              </a:rPr>
              <a:t>各自の担当顧客・担当業務に結びつけ、本部長報告に使える形で整理してください。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47104"/>
            <a:ext cx="64008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10BEB75-9AF1-8DDD-53B8-C6198FD248BB}"/>
              </a:ext>
            </a:extLst>
          </p:cNvPr>
          <p:cNvSpPr txBox="1"/>
          <p:nvPr/>
        </p:nvSpPr>
        <p:spPr>
          <a:xfrm>
            <a:off x="2980267" y="1303867"/>
            <a:ext cx="59266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①</a:t>
            </a:r>
            <a:r>
              <a:rPr kumimoji="1" lang="en-US" altLang="ja-JP" dirty="0"/>
              <a:t>CES</a:t>
            </a:r>
            <a:r>
              <a:rPr kumimoji="1" lang="ja-JP" altLang="en-US" dirty="0"/>
              <a:t>はこれを見て！</a:t>
            </a:r>
            <a:r>
              <a:rPr kumimoji="1" lang="en-US" altLang="ja-JP" dirty="0"/>
              <a:t>HP</a:t>
            </a:r>
            <a:r>
              <a:rPr kumimoji="1" lang="ja-JP" altLang="en-US" dirty="0"/>
              <a:t>など。セッション。</a:t>
            </a:r>
            <a:endParaRPr kumimoji="1" lang="en-US" altLang="ja-JP" dirty="0"/>
          </a:p>
          <a:p>
            <a:r>
              <a:rPr kumimoji="1" lang="en-US" altLang="ja-JP" dirty="0"/>
              <a:t>Kickoff</a:t>
            </a:r>
            <a:r>
              <a:rPr kumimoji="1" lang="ja-JP" altLang="en-US" dirty="0"/>
              <a:t>までに</a:t>
            </a:r>
            <a:r>
              <a:rPr kumimoji="1" lang="en-US" altLang="ja-JP" dirty="0"/>
              <a:t>Standard Pass</a:t>
            </a:r>
            <a:r>
              <a:rPr kumimoji="1" lang="ja-JP" altLang="en-US" dirty="0"/>
              <a:t>の範囲内のセッション</a:t>
            </a:r>
            <a:endParaRPr kumimoji="1" lang="en-US" altLang="ja-JP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4782049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CONTENTS · 目次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02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81328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91056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91056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5448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研修概要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572768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目的とゴール、旅程とテーマ、研修の背景、研修テーマ、3つの心構え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084832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194560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194560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157984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スケジュール・手配状況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176272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研修スケジュール、確定フライト、宿泊、ベンダー訪問日程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688336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2798064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798064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2761488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【　】さんからのお言葉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91840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6384" y="3401568"/>
            <a:ext cx="50292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01568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364992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研修前の準備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383280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CES視察の事前準備、ベンダー訪問の事前準備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895344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86384" y="4005072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005072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968496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参加メンバー自己紹介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498848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6384" y="4608576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608576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4572000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今後のスケジュール・出張前対応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590288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準備状況の確認、e申請、PC保険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102352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6384" y="5212080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5212080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08760" y="5175504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現地での行動と報告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0" y="5193792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持ち帰ってほしいもの、現地でのお願い事項、活動記録、お願いすること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705856"/>
            <a:ext cx="11018520" cy="5120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86384" y="5815584"/>
            <a:ext cx="502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6384" y="5815584"/>
            <a:ext cx="502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08760" y="5779008"/>
            <a:ext cx="402336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参考情報・QA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0" y="5797296"/>
            <a:ext cx="594360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訪問先、問い合わせ先、Appendix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OVERVIEW · 募集要項より抜粋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旅程とテーマ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636776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36776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ルート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581912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US ラスベガス＆シリコンバレー：CES への参加とベンダーへの訪問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67128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295144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295144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主な研修テーマ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240280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AI、ロボティクス、サイバーセキュリティ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25496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2953512"/>
            <a:ext cx="173736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953512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実施日程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898648"/>
            <a:ext cx="86868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0">
                <a:solidFill>
                  <a:srgbClr val="16243F"/>
                </a:solidFill>
                <a:latin typeface="Noto Sans CJK JP"/>
              </a:rPr>
              <a:t>1月：7泊9日想定。1/5〜13を予定（確定した旅程は 1/5〜1/14。研修スケジュールを参照）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520440"/>
            <a:ext cx="11018520" cy="233172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3721608"/>
            <a:ext cx="173736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721608"/>
            <a:ext cx="173736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学習・見学のポイント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685032"/>
            <a:ext cx="859536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世界最先端のテック・イノベーションの視察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AI、ロボティクス、サイバーセキュリティ等の注力分野における最新トレンドを把握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グローバルのマーケットでの各ベンダーの影響力を視察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シリコンバレーのベンダーを直接訪問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5F0E6"/>
                </a:solidFill>
                <a:latin typeface="Noto Sans CJK JP"/>
              </a:rPr>
              <a:t>●  USベンダー本社もしくはスタートアップ各社の最新ソリューション・共同開発の可能性を探索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035040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A5A75"/>
                </a:solidFill>
                <a:latin typeface="Noto Sans CJK JP"/>
              </a:rPr>
              <a:t>募集要項資料より抜粋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BACKGROUND · 研修の背景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研修の背景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08760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73736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73736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市場・技術の動向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【US研修の背景となる市場・技術の動向を記入】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508760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73736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73736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お客様の動向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9456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【担当顧客の動向・ニーズを記入】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54406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5528" y="3977639"/>
            <a:ext cx="20116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977639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対策方針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443484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【CTCとしての対策方針を記入】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3749039"/>
            <a:ext cx="5440680" cy="205740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73368" y="3977639"/>
            <a:ext cx="20116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3977639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具体的な取り組み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4434840"/>
            <a:ext cx="49834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【本研修を含む具体的な取り組みを記入】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THEME · 研修テーマ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研修テーマ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72768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86384" y="1746504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46504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28216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世界最先端のテック・イノベーションを視察する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414016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2587752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587752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69464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AI、ロボティクス、サイバーセキュリティ等の注力分野の最新トレンドを把握する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255264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3429000"/>
            <a:ext cx="347472" cy="347472"/>
          </a:xfrm>
          <a:prstGeom prst="ellipse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429000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10712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グローバルのマーケットでの各ベンダーの影響力を視察する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096512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6384" y="4270248"/>
            <a:ext cx="347472" cy="347472"/>
          </a:xfrm>
          <a:prstGeom prst="ellipse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270248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51960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シリコンバレーのベンダーを直接訪問する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937760"/>
            <a:ext cx="11018520" cy="6949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6384" y="5111496"/>
            <a:ext cx="347472" cy="347472"/>
          </a:xfrm>
          <a:prstGeom prst="ellipse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111496"/>
            <a:ext cx="347472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093208"/>
            <a:ext cx="99669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600" b="1">
                <a:solidFill>
                  <a:srgbClr val="16243F"/>
                </a:solidFill>
                <a:latin typeface="Noto Sans CJK JP"/>
              </a:rPr>
              <a:t>USベンダー本社・スタートアップ各社の最新ソリューションと、共同開発の可能性を探る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035040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4A5A75"/>
                </a:solidFill>
                <a:latin typeface="Noto Sans CJK JP"/>
              </a:rPr>
              <a:t>募集要項資料（学習・見学のポイント）より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MINDSET · 研修の心構え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実りある研修にするための「3つの心構え」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07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6243F"/>
                </a:solidFill>
                <a:latin typeface="Noto Sans CJK JP"/>
              </a:rPr>
              <a:t>健康と安全を第一に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737360"/>
            <a:ext cx="3566160" cy="329184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62856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62856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F5F0E6"/>
                </a:solidFill>
                <a:latin typeface="Noto Sans CJK JP"/>
              </a:rPr>
              <a:t>各訪問先で一つは質問をする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73736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965960"/>
            <a:ext cx="914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C46B3D"/>
                </a:solidFill>
                <a:latin typeface="Noto Sans CJK JP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83464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1">
                <a:solidFill>
                  <a:srgbClr val="16243F"/>
                </a:solidFill>
                <a:latin typeface="Noto Sans CJK JP"/>
              </a:rPr>
              <a:t>自分なりの成果を一つ持って帰る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548640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5486400"/>
            <a:ext cx="10698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3つを意識して、研修に臨んでください。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5F0E6"/>
                </a:solidFill>
                <a:latin typeface="Noto Sans CJK JP"/>
              </a:rPr>
              <a:t>【　】さんからのお言葉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56616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ECAD7"/>
                </a:solidFill>
                <a:latin typeface="Noto Sans CJK JP"/>
              </a:rPr>
              <a:t>MESSAGE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MEMBERS · 自己紹介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参加メンバー自己紹介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481328"/>
          <a:ext cx="11018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3383280"/>
                <a:gridCol w="3566160"/>
                <a:gridCol w="205740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#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本部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部署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名前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Noto Sans CJK JP"/>
                        </a:rPr>
                        <a:t>役職</a:t>
                      </a:r>
                    </a:p>
                  </a:txBody>
                  <a:tcPr anchor="ctr" marL="73152" marR="73152" marT="18288" marB="18288">
                    <a:solidFill>
                      <a:srgbClr val="1624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1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情報通信第1本部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テクニカルデザイン第4部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神 崇人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2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情報通信第1本部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通信ビジネス営業第2部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正木 洋晃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3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情報通信第3本部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営業第1部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平松 優季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4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モバイル＆サービス本部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デジタルテクノロジー第3部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岡崎 勇人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主任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5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SP・メディア技術第2部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メディア技術第2本部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菅野 海咲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6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情報通信ビジネス企画統括本部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情報通信事業開発部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川北 敬仁</a:t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/>
                      </a:r>
                    </a:p>
                  </a:txBody>
                  <a:tcPr anchor="ctr" marL="73152" marR="73152" marT="18288" marB="18288">
                    <a:solidFill>
                      <a:srgbClr val="FA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7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情報通信ビジネス企画統括本部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情報通信事業開発部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王 帆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6243F"/>
                          </a:solidFill>
                          <a:latin typeface="Noto Sans CJK JP"/>
                        </a:rPr>
                        <a:t>主任</a:t>
                      </a:r>
                    </a:p>
                  </a:txBody>
                  <a:tcPr anchor="ctr" marL="73152" marR="7315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66928" y="5349240"/>
            <a:ext cx="11018520" cy="8686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5394960"/>
            <a:ext cx="10607040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以下の内容を含め、1分程度でお願いします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①名前・所属・社会人何年目か　②普段の仕事内容　③今回の研修について思うこと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TIMELINE · 準備状況の確認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今後のスケジュール・準備状況確認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1097280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1">
                <a:solidFill>
                  <a:srgbClr val="C46B3D"/>
                </a:solidFill>
                <a:latin typeface="Noto Sans CJK JP"/>
              </a:rPr>
              <a:t>出張申請（e申請）、航空券予約、PC海外保険申請の準備は進んでいますか？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72768"/>
            <a:ext cx="146304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3E7B97"/>
                </a:solidFill>
                <a:latin typeface="Noto Sans CJK JP"/>
              </a:rPr>
              <a:t>時期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1572768"/>
            <a:ext cx="210312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3E7B97"/>
                </a:solidFill>
                <a:latin typeface="Noto Sans CJK JP"/>
              </a:rPr>
              <a:t>イベント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72768"/>
            <a:ext cx="585216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3E7B97"/>
                </a:solidFill>
                <a:latin typeface="Noto Sans CJK JP"/>
              </a:rPr>
              <a:t>参加者がやること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1572768"/>
            <a:ext cx="1005840" cy="219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1">
                <a:solidFill>
                  <a:srgbClr val="3E7B97"/>
                </a:solidFill>
                <a:latin typeface="Noto Sans CJK JP"/>
              </a:rPr>
              <a:t>状況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810512"/>
            <a:ext cx="11018520" cy="347472"/>
          </a:xfrm>
          <a:prstGeom prst="roundRect">
            <a:avLst/>
          </a:prstGeom>
          <a:solidFill>
            <a:srgbClr val="EFEBE3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810512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4A5A75"/>
                </a:solidFill>
                <a:latin typeface="Noto Sans CJK JP"/>
              </a:rPr>
              <a:t>10月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10512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e申請、航空券の手配、ホテル予約（Mandalay Bay）、パスポート情報の送付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1810512"/>
            <a:ext cx="100584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3E7B97"/>
                </a:solidFill>
                <a:latin typeface="Noto Sans CJK JP"/>
              </a:rPr>
              <a:t>✓ 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212848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212848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11/5（木）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31720" y="2267712"/>
            <a:ext cx="2057400" cy="237744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2267712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キックオフ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212848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注目テーマ3つの提出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615184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2615184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～11/19（木）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31720" y="2670048"/>
            <a:ext cx="2057400" cy="237744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31720" y="2670048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CES事前ミーティング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615184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CES 参加登録、セッション・ブースのピックアップ、当日の動きの確定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017520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017520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～11/30（月）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3072384"/>
            <a:ext cx="2057400" cy="237744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31720" y="3072384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資料レビュー①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017520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ESTA の申請、会社・本部紹介の資料作成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419856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419856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～12/7（月）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331720" y="3474720"/>
            <a:ext cx="2057400" cy="237744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31720" y="3474720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資料レビュー②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19856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紹介資料の仕上げ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3822191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3822191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12/21（月）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331720" y="3877055"/>
            <a:ext cx="2057400" cy="237744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3877055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直前ガイダンス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3822191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保険・eSIM・Uber の準備、申請状況の確認（会場：N14X）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224528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4224528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～12/29（火）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224528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PC保険の申請（遅くとも出発1週間前）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4626864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626864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1/5～1/14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31720" y="4681728"/>
            <a:ext cx="2057400" cy="237744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31720" y="4681728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US出張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4626864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CES（1/6～1/8）、ベンダー訪問（1/11～1/12）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029200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5029200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～1/21（木）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331720" y="5084064"/>
            <a:ext cx="2057400" cy="237744"/>
          </a:xfrm>
          <a:prstGeom prst="roundRect">
            <a:avLst/>
          </a:prstGeom>
          <a:solidFill>
            <a:srgbClr val="5F768F"/>
          </a:solidFill>
          <a:ln w="12700">
            <a:solidFill>
              <a:srgbClr val="5F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331720" y="5084064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精算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0" y="5029200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経費精算、e申請の再回付（帰国後1週間以内）、アンケート回答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6928" y="5431536"/>
            <a:ext cx="1101852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431536"/>
            <a:ext cx="15087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1">
                <a:solidFill>
                  <a:srgbClr val="16243F"/>
                </a:solidFill>
                <a:latin typeface="Noto Sans CJK JP"/>
              </a:rPr>
              <a:t>～1/29頃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31720" y="5486399"/>
            <a:ext cx="2057400" cy="237744"/>
          </a:xfrm>
          <a:prstGeom prst="roundRect">
            <a:avLst/>
          </a:prstGeom>
          <a:solidFill>
            <a:srgbClr val="5F768F"/>
          </a:solidFill>
          <a:ln w="12700">
            <a:solidFill>
              <a:srgbClr val="5F7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20" y="5486399"/>
            <a:ext cx="2057400" cy="23774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報告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0" y="5431536"/>
            <a:ext cx="5852160" cy="34747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16243F"/>
                </a:solidFill>
                <a:latin typeface="Noto Sans CJK JP"/>
              </a:rPr>
              <a:t>出張報告書の作成（報告会の日程は別途案内）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925312"/>
            <a:ext cx="11018520" cy="36576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3232" y="5925312"/>
            <a:ext cx="1069848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※帰国後すぐに経費精算をお願いします。部のアシスタントさんが海外出張の経費に対応できるか、早めに確認してください。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1 · e申請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① e申請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62763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62763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申請先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53619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e申請 &gt; 書類作成 &gt; 就業系 &gt; 海外出張申請書（兼 手配依頼書）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19456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" y="2359152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35915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出張期間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26771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出発日＝自宅（オフィス）の最寄駅を出る日、帰着日＝最寄駅に着く日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2608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86384" y="309067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09067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同行者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299923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同行者の氏名を記載し、同行者リストを添付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65760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86384" y="3822191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3822191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クラス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73075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プレミアムエコノミーの場合、理由欄に「海外旅費規程第7条第1項に基づく（日本発・アメリカ渡航の往復旅程のため）」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38912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4" y="4553712"/>
            <a:ext cx="15544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4553712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宿泊先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46227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乗り継ぎ＝「（乗り継ぎ）」、帰国便＝「帰宅」、連絡先は「*****」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120640"/>
            <a:ext cx="110185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5285231"/>
            <a:ext cx="15544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5285231"/>
            <a:ext cx="15544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付帯リクエスト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5193792"/>
            <a:ext cx="8869680" cy="5029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0">
                <a:solidFill>
                  <a:srgbClr val="16243F"/>
                </a:solidFill>
                <a:latin typeface="Noto Sans CJK JP"/>
              </a:rPr>
              <a:t>ホテルは各自で予約（個人手配）。海外旅行保険はJTB-CWTで手配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5943600"/>
            <a:ext cx="11018520" cy="38404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5943600"/>
            <a:ext cx="10698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300" b="1">
                <a:solidFill>
                  <a:srgbClr val="F5F0E6"/>
                </a:solidFill>
                <a:latin typeface="Noto Sans CJK JP"/>
              </a:rPr>
              <a:t>期限：出発の1か月前（12/4）まで。承認後、JTB-CWTへ申請書と手配依頼書を送付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1 · e申請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① e申請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18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694944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6400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46B3D"/>
                </a:solidFill>
                <a:latin typeface="Noto Sans CJK JP"/>
              </a:rPr>
              <a:t>【記入例のスクリーンショットを貼り付け】</a:t>
            </a:r>
          </a:p>
          <a:p>
            <a:pPr algn="ctr"/>
            <a:r>
              <a:rPr sz="1400" b="0">
                <a:solidFill>
                  <a:srgbClr val="4A5A75"/>
                </a:solidFill>
                <a:latin typeface="Noto Sans CJK JP"/>
              </a:rPr>
              <a:t>（事務局の申請画面：旅程表と経費負担部課コード欄）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0" y="1463040"/>
            <a:ext cx="3904487" cy="47548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1645920"/>
            <a:ext cx="347472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費用負担の部課コード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本部によって、本部・部・課のどの単位かが異なる可能性があります。一般的には課の単位です。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所属の本部で確認したうえで、ご自身のe申請に反映してください。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>情報通信ビジネス企画統括本部のメンバーは、自分の課のコードを入力してください。</a:t>
            </a:r>
          </a:p>
          <a:p>
            <a:pPr algn="l"/>
            <a:r>
              <a:rPr sz="13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300" b="1">
                <a:solidFill>
                  <a:srgbClr val="C46B3D"/>
                </a:solidFill>
                <a:latin typeface="Noto Sans CJK JP"/>
              </a:rPr>
              <a:t>部課コードは精算時に上長へ要確認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PRE-TRIP 2 · PC保険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出張前対応の確認　② PC保険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19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17320"/>
            <a:ext cx="70408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6675120" cy="4663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送付先：ctc_order_rentec@orix.jp, pc-desk-dm@ctc-g.co.jp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CC：自分の上長、アシスタントさん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件名：海外出張保険申請_対象機器OIRxxxxx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――――――――――――――――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オリックス・レンテック株式会社　ご担当者様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いつもお世話になっております。CTC ○○です。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海外出張のため、以下PCの海外保険付保をお願いいたします。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■対象機器情報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・OIR：　・仕向地の国名：アメリカ合衆国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・海外持ち出し期間：10日間（2027年1月5日（火）～1月14日（木））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■使用者情報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・住所：　・会社名：伊藤忠テクノソリューションズ株式会社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・部署名：　・ご使用者様名（フルネーム）：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・電話番号：　・メールアドレス：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■請求書郵送の送付先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・住所：　・会社名：伊藤忠テクノソリューションズ株式会社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・部署名：　・ご担当者様名（フルネーム）：</a:t>
            </a:r>
          </a:p>
          <a:p>
            <a:pPr algn="l"/>
            <a:r>
              <a:rPr sz="1000" b="0">
                <a:solidFill>
                  <a:srgbClr val="16243F"/>
                </a:solidFill>
                <a:latin typeface="Noto Sans CJK JP"/>
              </a:rPr>
              <a:t>・電話番号：　・メールアドレス：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1417320"/>
            <a:ext cx="3813048" cy="484632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600200"/>
            <a:ext cx="338328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C46B3D"/>
                </a:solidFill>
                <a:latin typeface="Noto Sans CJK JP"/>
              </a:rPr>
              <a:t>左記の文面で各自申請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対象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SecurePC・シンクラ専用端末（オリックス・レンテックから借用のPC）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期限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>遅くとも出発1週間前（12/29）まで。早めの申請をお願いします</a:t>
            </a:r>
          </a:p>
          <a:p>
            <a:pPr algn="l"/>
            <a:r>
              <a:rPr sz="12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200" b="1">
                <a:solidFill>
                  <a:srgbClr val="F5F0E6"/>
                </a:solidFill>
                <a:latin typeface="Noto Sans CJK JP"/>
              </a:rPr>
              <a:t>注意</a:t>
            </a:r>
          </a:p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送付先アドレスは、社内マニュアル（2024年版）の記載と異なります。【送付前に最新の宛先を確認】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REFERENCE 1 · 訪問先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参考情報　訪問先（仮）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24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44752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72768"/>
            <a:ext cx="13258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72768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1/6～1/8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536192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CES 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36192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会場：【Las Vegas Convention Center ほか。確定後に記入】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0312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86384" y="2231136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231136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194560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CTCA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194560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761488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6384" y="2889504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889504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2852928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Forward Networks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2852928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419856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86384" y="3547872"/>
            <a:ext cx="132588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547872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1/11（月）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511296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Cisco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0" y="3511296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78224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4206240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06240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169663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Exaforce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0" y="4169663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736592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6384" y="4864607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" y="4864607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28031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MinIO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4828031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】（Redwood City 付近）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5394960"/>
            <a:ext cx="1101852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6384" y="5522976"/>
            <a:ext cx="1325880" cy="292608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5522976"/>
            <a:ext cx="13258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Noto Sans CJK JP"/>
              </a:rPr>
              <a:t>1/12（火）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486400"/>
            <a:ext cx="29260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vCluster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486400"/>
            <a:ext cx="612648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200" b="0">
                <a:solidFill>
                  <a:srgbClr val="C46B3D"/>
                </a:solidFill>
                <a:latin typeface="Noto Sans CJK JP"/>
              </a:rPr>
              <a:t>住所：【　】（SF）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144768"/>
            <a:ext cx="110185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4A5A75"/>
                </a:solidFill>
                <a:latin typeface="Noto Sans CJK JP"/>
              </a:rPr>
              <a:t>訪問先・時間はベンダー訪問日程（UPDATED）に基づく。確定後に住所を記入してください。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REFERENCE 2 · 問い合わせ先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参考情報　問い合わせ先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25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463040"/>
            <a:ext cx="54406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1691640"/>
            <a:ext cx="2011680" cy="292608"/>
          </a:xfrm>
          <a:prstGeom prst="roundRect">
            <a:avLst/>
          </a:prstGeom>
          <a:solidFill>
            <a:srgbClr val="C46B3D"/>
          </a:solidFill>
          <a:ln w="12700">
            <a:solidFill>
              <a:srgbClr val="C46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691640"/>
            <a:ext cx="201168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出張までの相談役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19456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16243F"/>
                </a:solidFill>
                <a:latin typeface="Noto Sans CJK JP"/>
              </a:rPr>
              <a:t>情報通信ビジネス企画統括本部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・【氏名】［【部署】］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・【氏名】［【部署】］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400" b="1">
                <a:solidFill>
                  <a:srgbClr val="16243F"/>
                </a:solidFill>
                <a:latin typeface="Noto Sans CJK JP"/>
              </a:rPr>
              <a:t>相談できること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・出張手配関連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・資料レビューの内容、日程など</a:t>
            </a:r>
          </a:p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・質疑内容の相談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463040"/>
            <a:ext cx="5440680" cy="457200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73368" y="1691640"/>
            <a:ext cx="1645920" cy="292608"/>
          </a:xfrm>
          <a:prstGeom prst="roundRect">
            <a:avLst/>
          </a:prstGeom>
          <a:solidFill>
            <a:srgbClr val="3E7B97"/>
          </a:solidFill>
          <a:ln w="12700">
            <a:solidFill>
              <a:srgbClr val="3E7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691640"/>
            <a:ext cx="1645920" cy="29260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JP"/>
              </a:rPr>
              <a:t>問い合わせ先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194560"/>
            <a:ext cx="502920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① 研修用トカログループ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「【グループ名】」</a:t>
            </a:r>
          </a:p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/>
            </a:r>
          </a:p>
          <a:p>
            <a:pPr algn="l"/>
            <a:r>
              <a:rPr sz="1400" b="1">
                <a:solidFill>
                  <a:srgbClr val="F5F0E6"/>
                </a:solidFill>
                <a:latin typeface="Noto Sans CJK JP"/>
              </a:rPr>
              <a:t>② Adminメーリス</a:t>
            </a:r>
          </a:p>
          <a:p>
            <a:pPr algn="l"/>
            <a:r>
              <a:rPr sz="1400" b="0">
                <a:solidFill>
                  <a:srgbClr val="F5F0E6"/>
                </a:solidFill>
                <a:latin typeface="Noto Sans CJK JP"/>
              </a:rPr>
              <a:t>telbiz-global-admin@ctc-g.co.jp</a:t>
            </a:r>
          </a:p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【US研修でも同じメーリスを使うか確認】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APPENDIX 1 · 資料レビュー／直前ガイダンス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Appendix 1：資料レビュー・直前ガイダンス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26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1101852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6243F"/>
                </a:solidFill>
                <a:latin typeface="Noto Sans CJK JP"/>
              </a:rPr>
              <a:t>【仮】資料レビュー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日程：【日時】（3日分を確保。2回になる可能性あり）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4A5A75"/>
                </a:solidFill>
                <a:latin typeface="Noto Sans CJK JP"/>
              </a:rPr>
              <a:t>内容：CESの準備、サンノゼで行うベンダー訪問の準備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66160"/>
            <a:ext cx="11018520" cy="1783080"/>
          </a:xfrm>
          <a:prstGeom prst="roundRect">
            <a:avLst/>
          </a:prstGeom>
          <a:solidFill>
            <a:srgbClr val="16243F"/>
          </a:solidFill>
          <a:ln w="12700">
            <a:solidFill>
              <a:srgbClr val="1624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4904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F5F0E6"/>
                </a:solidFill>
                <a:latin typeface="Noto Sans CJK JP"/>
              </a:rPr>
              <a:t>【仮】直前ガイダンス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C46B3D"/>
                </a:solidFill>
                <a:latin typeface="Noto Sans CJK JP"/>
              </a:rPr>
              <a:t>日程：【日時】＠【会議室】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BECAD7"/>
                </a:solidFill>
                <a:latin typeface="Noto Sans CJK JP"/>
              </a:rPr>
              <a:t>内容：出張前の注意事項、保険加入、各種申請が済んでいるかの確認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669280"/>
            <a:ext cx="11018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4A5A75"/>
                </a:solidFill>
                <a:latin typeface="Noto Sans CJK JP"/>
              </a:rPr>
              <a:t>※予定は事務局から仮登録済みです。詳細はトカログループでアナウンスします。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0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961120" cy="2560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>
                <a:solidFill>
                  <a:srgbClr val="3E7B97"/>
                </a:solidFill>
                <a:latin typeface="Noto Sans CJK JP"/>
              </a:rPr>
              <a:t>APPENDIX 2 · 現地連絡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6070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1">
                <a:solidFill>
                  <a:srgbClr val="16243F"/>
                </a:solidFill>
                <a:latin typeface="Noto Sans CJK JP"/>
              </a:rPr>
              <a:t>Appendix 2：現地連絡・写真共有用のグループ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320040"/>
            <a:ext cx="777240" cy="228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>
                <a:solidFill>
                  <a:srgbClr val="4A5A75"/>
                </a:solidFill>
                <a:latin typeface="Noto Sans CJK JP"/>
              </a:rPr>
              <a:t>27 / 28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34440"/>
            <a:ext cx="11045952" cy="27432"/>
          </a:xfrm>
          <a:prstGeom prst="rect">
            <a:avLst/>
          </a:prstGeom>
          <a:solidFill>
            <a:srgbClr val="E8EC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528816"/>
            <a:ext cx="6400800" cy="182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800" b="0">
                <a:solidFill>
                  <a:srgbClr val="4A5A75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6492240" cy="3657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グループ名</a:t>
            </a:r>
          </a:p>
          <a:p>
            <a:pPr algn="l"/>
            <a:r>
              <a:rPr sz="1500" b="0">
                <a:solidFill>
                  <a:srgbClr val="C46B3D"/>
                </a:solidFill>
                <a:latin typeface="Noto Sans CJK JP"/>
              </a:rPr>
              <a:t>【グループ名】</a:t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500" b="1">
                <a:solidFill>
                  <a:srgbClr val="16243F"/>
                </a:solidFill>
                <a:latin typeface="Noto Sans CJK JP"/>
              </a:rPr>
              <a:t>参加方法（To join）</a:t>
            </a:r>
          </a:p>
          <a:p>
            <a:pPr algn="l"/>
            <a:r>
              <a:rPr sz="1500" b="0">
                <a:solidFill>
                  <a:srgbClr val="C46B3D"/>
                </a:solidFill>
                <a:latin typeface="Noto Sans CJK JP"/>
              </a:rPr>
              <a:t>【参加用URL】</a:t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/>
            </a:r>
          </a:p>
          <a:p>
            <a:pPr algn="l"/>
            <a:r>
              <a:rPr sz="1500" b="0">
                <a:solidFill>
                  <a:srgbClr val="4A5A75"/>
                </a:solidFill>
                <a:latin typeface="Noto Sans CJK JP"/>
              </a:rPr>
              <a:t>現地での連絡と、写真の共有に使います。出発前に参加してください。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679" y="1554480"/>
            <a:ext cx="3858768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C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3291840"/>
            <a:ext cx="356616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C46B3D"/>
                </a:solidFill>
                <a:latin typeface="Noto Sans CJK JP"/>
              </a:rPr>
              <a:t>【QRコードを貼り付け】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>
                <a:solidFill>
                  <a:srgbClr val="F5F0E6"/>
                </a:solidFill>
                <a:latin typeface="Noto Sans CJK JP"/>
              </a:rPr>
              <a:t>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611880"/>
            <a:ext cx="8229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BECAD7"/>
                </a:solidFill>
                <a:latin typeface="Noto Sans CJK JP"/>
              </a:rPr>
              <a:t>ご質問・ご不明点をお聞かせください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4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>
                <a:solidFill>
                  <a:srgbClr val="C46B3D"/>
                </a:solidFill>
                <a:latin typeface="Noto Sans CJK JP"/>
              </a:rPr>
              <a:t>INFORMATION &amp; COMMUNICATIONS · US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274320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2400" b="1">
                <a:solidFill>
                  <a:srgbClr val="F5F0E6"/>
                </a:solidFill>
                <a:latin typeface="Noto Sans CJK JP"/>
              </a:rPr>
              <a:t>情通 若手海外（US）研修｜CES 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429000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500" b="1">
                <a:solidFill>
                  <a:srgbClr val="C46B3D"/>
                </a:solidFill>
                <a:latin typeface="Noto Sans CJK JP"/>
              </a:rPr>
              <a:t>2027.01.05 出発  →  2027.01.14 帰国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194075964</TotalTime>
  <Words>908</Words>
  <Application>Microsoft Office PowerPoint</Application>
  <PresentationFormat>ワイド画面</PresentationFormat>
  <Paragraphs>270</Paragraphs>
  <Slides>13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9" baseType="lpstr">
      <vt:lpstr>Noto Sans CJK JP</vt:lpstr>
      <vt:lpstr>Noto Sans JP Light</vt:lpstr>
      <vt:lpstr>游ゴシック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情通 若手海外（US）研修 CES 2027 キックオフ 更新版 最新日程反映</dc:title>
  <dc:subject>参加者向けキックオフ資料</dc:subject>
  <dc:creator>王　帆</dc:creator>
  <dc:description>generated using python-pptx</dc:description>
  <cp:lastModifiedBy>川北　敬仁</cp:lastModifiedBy>
  <cp:revision>9</cp:revision>
  <dcterms:created xsi:type="dcterms:W3CDTF">2026-10-21T07:19:59Z</dcterms:created>
  <dcterms:modified xsi:type="dcterms:W3CDTF">2026-10-29T01:51:46Z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bb27ca-7868-470c-8d5b-74df37759162_Enabled">
    <vt:lpwstr>true</vt:lpwstr>
  </property>
  <property fmtid="{D5CDD505-2E9C-101B-9397-08002B2CF9AE}" pid="3" name="MSIP_Label_babb27ca-7868-470c-8d5b-74df37759162_SetDate">
    <vt:lpwstr>2026-10-29T01:51:46Z</vt:lpwstr>
  </property>
  <property fmtid="{D5CDD505-2E9C-101B-9397-08002B2CF9AE}" pid="4" name="MSIP_Label_babb27ca-7868-470c-8d5b-74df37759162_Method">
    <vt:lpwstr>Privileged</vt:lpwstr>
  </property>
  <property fmtid="{D5CDD505-2E9C-101B-9397-08002B2CF9AE}" pid="5" name="MSIP_Label_babb27ca-7868-470c-8d5b-74df37759162_Name">
    <vt:lpwstr>babb27ca-7868-470c-8d5b-74df37759162</vt:lpwstr>
  </property>
  <property fmtid="{D5CDD505-2E9C-101B-9397-08002B2CF9AE}" pid="6" name="MSIP_Label_babb27ca-7868-470c-8d5b-74df37759162_SiteId">
    <vt:lpwstr>bdda4ca5-4ffd-4f47-9e0d-ce56ad194b37</vt:lpwstr>
  </property>
  <property fmtid="{D5CDD505-2E9C-101B-9397-08002B2CF9AE}" pid="7" name="MSIP_Label_babb27ca-7868-470c-8d5b-74df37759162_ActionId">
    <vt:lpwstr>79b8ff44-afaa-488d-9fbd-771850fbff19</vt:lpwstr>
  </property>
  <property fmtid="{D5CDD505-2E9C-101B-9397-08002B2CF9AE}" pid="8" name="MSIP_Label_babb27ca-7868-470c-8d5b-74df37759162_ContentBits">
    <vt:lpwstr>0</vt:lpwstr>
  </property>
  <property fmtid="{D5CDD505-2E9C-101B-9397-08002B2CF9AE}" pid="9" name="MSIP_Label_babb27ca-7868-470c-8d5b-74df37759162_Tag">
    <vt:lpwstr>10, 0, 1, 1</vt:lpwstr>
  </property>
</Properties>
</file>