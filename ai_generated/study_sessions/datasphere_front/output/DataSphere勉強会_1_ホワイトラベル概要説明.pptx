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4"/>
    <p:sldMasterId id="2147483695" r:id="rId5"/>
    <p:sldMasterId id="2147483790" r:id="rId6"/>
    <p:sldMasterId id="2147483805" r:id="rId7"/>
  </p:sldMasterIdLst>
  <p:notesMasterIdLst>
    <p:notesMasterId r:id="rId47"/>
  </p:notesMasterIdLst>
  <p:sldIdLst>
    <p:sldId id="259" r:id="rId8"/>
    <p:sldId id="2147482976" r:id="rId55"/>
    <p:sldId id="2147480114" r:id="rId9"/>
    <p:sldId id="2147482964" r:id="rId10"/>
    <p:sldId id="2147482960" r:id="rId11"/>
    <p:sldId id="2147482965" r:id="rId12"/>
    <p:sldId id="2147482975" r:id="rId13"/>
    <p:sldId id="2147482649" r:id="rId14"/>
    <p:sldId id="2147482955" r:id="rId15"/>
    <p:sldId id="2147482977" r:id="rId25"/>
    <p:sldId id="2147482978" r:id="rId26"/>
    <p:sldId id="2147482979" r:id="rId27"/>
    <p:sldId id="2147482980" r:id="rId28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作成者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58F"/>
    <a:srgbClr val="E9EDF3"/>
    <a:srgbClr val="FFFFFF"/>
    <a:srgbClr val="D0D9E8"/>
    <a:srgbClr val="00255E"/>
    <a:srgbClr val="F3F4F6"/>
    <a:srgbClr val="DEDEDE"/>
    <a:srgbClr val="113670"/>
    <a:srgbClr val="16468E"/>
    <a:srgbClr val="1A50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F4A517-B93F-4E68-BDF5-330BFEF68A2B}" v="310" dt="2026-09-28T05:11:09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4" Type="http://schemas.microsoft.com/office/2018/10/relationships/authors" Target="authors.xml"/><Relationship Id="rId55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崔　善珠" userId="60a12ef4-e236-47be-aead-ee7f02db034a" providerId="ADAL" clId="{E0398D38-6183-4E33-B05A-1E5126697213}"/>
    <pc:docChg chg="addSld modSld">
      <pc:chgData name="崔　善珠" userId="60a12ef4-e236-47be-aead-ee7f02db034a" providerId="ADAL" clId="{E0398D38-6183-4E33-B05A-1E5126697213}" dt="2026-09-28T05:11:09.008" v="309" actId="1037"/>
      <pc:docMkLst>
        <pc:docMk/>
      </pc:docMkLst>
      <pc:sldChg chg="addSp modSp mod">
        <pc:chgData name="崔　善珠" userId="60a12ef4-e236-47be-aead-ee7f02db034a" providerId="ADAL" clId="{E0398D38-6183-4E33-B05A-1E5126697213}" dt="2026-09-28T05:10:32.418" v="268" actId="20577"/>
        <pc:sldMkLst>
          <pc:docMk/>
          <pc:sldMk cId="2804013043" sldId="2147480110"/>
        </pc:sldMkLst>
        <pc:spChg chg="add mod">
          <ac:chgData name="崔　善珠" userId="60a12ef4-e236-47be-aead-ee7f02db034a" providerId="ADAL" clId="{E0398D38-6183-4E33-B05A-1E5126697213}" dt="2026-09-28T05:10:32.418" v="268" actId="20577"/>
          <ac:spMkLst>
            <pc:docMk/>
            <pc:sldMk cId="2804013043" sldId="2147480110"/>
            <ac:spMk id="3" creationId="{25007A46-322C-EF94-083A-0C03F3D00FC4}"/>
          </ac:spMkLst>
        </pc:spChg>
      </pc:sldChg>
      <pc:sldChg chg="addSp modSp mod">
        <pc:chgData name="崔　善珠" userId="60a12ef4-e236-47be-aead-ee7f02db034a" providerId="ADAL" clId="{E0398D38-6183-4E33-B05A-1E5126697213}" dt="2026-09-28T05:11:09.008" v="309" actId="1037"/>
        <pc:sldMkLst>
          <pc:docMk/>
          <pc:sldMk cId="1149829228" sldId="2147480111"/>
        </pc:sldMkLst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25" creationId="{C9F98F82-B39A-1D04-AF70-A45C4FCFBEA1}"/>
          </ac:spMkLst>
        </pc:spChg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28" creationId="{5FC37ACF-3E7D-8CEA-7540-B4A668247EE6}"/>
          </ac:spMkLst>
        </pc:spChg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30" creationId="{B49E4B3A-C13D-70B4-D2F0-DF48A69E173E}"/>
          </ac:spMkLst>
        </pc:spChg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31" creationId="{48C76ADC-C95E-198F-889A-A923C1CE030B}"/>
          </ac:spMkLst>
        </pc:spChg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33" creationId="{6AED96F9-9858-9EBE-23F4-94CB405088EC}"/>
          </ac:spMkLst>
        </pc:spChg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37" creationId="{5FBA6F77-593A-F556-6967-5D7B40AB67E4}"/>
          </ac:spMkLst>
        </pc:spChg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38" creationId="{07908B75-56FB-7C68-9CD6-47BA841FC93E}"/>
          </ac:spMkLst>
        </pc:spChg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39" creationId="{A14571D6-A38D-B0DA-0419-8A65F29C8AE7}"/>
          </ac:spMkLst>
        </pc:spChg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40" creationId="{8E4DC507-5932-9C0A-A858-2A1A2062DA5B}"/>
          </ac:spMkLst>
        </pc:spChg>
        <pc:spChg chg="mod">
          <ac:chgData name="崔　善珠" userId="60a12ef4-e236-47be-aead-ee7f02db034a" providerId="ADAL" clId="{E0398D38-6183-4E33-B05A-1E5126697213}" dt="2026-09-28T05:08:04.882" v="31" actId="1037"/>
          <ac:spMkLst>
            <pc:docMk/>
            <pc:sldMk cId="1149829228" sldId="2147480111"/>
            <ac:spMk id="50" creationId="{BBDC8ACE-8F60-83E1-57C4-E69D2DA52DBF}"/>
          </ac:spMkLst>
        </pc:spChg>
        <pc:spChg chg="add mod">
          <ac:chgData name="崔　善珠" userId="60a12ef4-e236-47be-aead-ee7f02db034a" providerId="ADAL" clId="{E0398D38-6183-4E33-B05A-1E5126697213}" dt="2026-09-28T05:11:09.008" v="309" actId="1037"/>
          <ac:spMkLst>
            <pc:docMk/>
            <pc:sldMk cId="1149829228" sldId="2147480111"/>
            <ac:spMk id="55" creationId="{C49C1483-57E0-5399-4E5B-73971D46E4DB}"/>
          </ac:spMkLst>
        </pc:spChg>
        <pc:spChg chg="add mod">
          <ac:chgData name="崔　善珠" userId="60a12ef4-e236-47be-aead-ee7f02db034a" providerId="ADAL" clId="{E0398D38-6183-4E33-B05A-1E5126697213}" dt="2026-09-28T05:08:21.049" v="45" actId="1038"/>
          <ac:spMkLst>
            <pc:docMk/>
            <pc:sldMk cId="1149829228" sldId="2147480111"/>
            <ac:spMk id="57" creationId="{9F2D6E75-076F-888E-8D30-E641547F74BF}"/>
          </ac:spMkLst>
        </pc:spChg>
        <pc:picChg chg="mod">
          <ac:chgData name="崔　善珠" userId="60a12ef4-e236-47be-aead-ee7f02db034a" providerId="ADAL" clId="{E0398D38-6183-4E33-B05A-1E5126697213}" dt="2026-09-28T05:07:56.833" v="3" actId="1038"/>
          <ac:picMkLst>
            <pc:docMk/>
            <pc:sldMk cId="1149829228" sldId="2147480111"/>
            <ac:picMk id="2" creationId="{891B20AF-26F7-3FD2-FF2F-3CF1B6B8EA73}"/>
          </ac:picMkLst>
        </pc:picChg>
      </pc:sldChg>
      <pc:sldChg chg="add">
        <pc:chgData name="崔　善珠" userId="60a12ef4-e236-47be-aead-ee7f02db034a" providerId="ADAL" clId="{E0398D38-6183-4E33-B05A-1E5126697213}" dt="2026-09-28T05:06:12.592" v="0"/>
        <pc:sldMkLst>
          <pc:docMk/>
          <pc:sldMk cId="1413062569" sldId="214748297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0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E19E5-9701-4732-BE77-B004BF3C3FBA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0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4" y="9371286"/>
            <a:ext cx="2918830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1F205-52E0-41EA-8B27-FC64325173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524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F205-52E0-41EA-8B27-FC64325173B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374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F205-52E0-41EA-8B27-FC64325173B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4969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D9CEC-1A8C-6889-5AB9-D79568C4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DBA9B9-FB12-C950-0D03-70ACC54D6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6800E46-23A7-789A-B549-4C07AD376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D2271D-959A-1DA5-A318-E6DE5E99A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F205-52E0-41EA-8B27-FC64325173B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317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AAB63-48C6-702C-DB5B-B7A2B5A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7F09652-7749-4114-7158-69217DDFF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34372F0-E9F9-8F26-21E8-2DB777599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8FFFEE-2018-7449-39D7-12EA75ECA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F205-52E0-41EA-8B27-FC64325173B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783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DE50-40F1-ABC9-18BD-167C9796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F327DF-5C3A-D897-D2AE-CC88A1175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FE61F8-A58E-4D01-5E9D-895D16E1D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D491D7-49DC-FE71-F3F3-3179D39C8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F205-52E0-41EA-8B27-FC64325173B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046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3BAA0-F636-BFFD-12AE-BFA6D842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C863738-6EF3-9A05-B859-E6845386D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5C3A522-38F6-56AD-68F5-0FEEE9652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D5BC25-8FE6-B09D-05F8-55881BE36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F205-52E0-41EA-8B27-FC64325173B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9361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EAD2-6BBF-6606-45AF-B5B1B1C7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B92755B-85EF-B24B-5C07-7C53B7D6A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B820B5-2895-842D-421A-0304C3157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DA407D-ED7A-A20D-E940-C7370DEA8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F205-52E0-41EA-8B27-FC64325173B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2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E68A0-072C-5B8B-6CC8-801206BD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554255C-F0B1-7024-593E-6737BDDD8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24A1C80-156D-8E2F-B26E-F013FC162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81E077-34A6-78CD-2FF2-392A08400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F205-52E0-41EA-8B27-FC64325173B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5875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A549B3F-6E42-5D8E-5AF1-A6A01DDBF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3" y="1989091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0" name="テキスト プレースホルダー 12">
            <a:extLst>
              <a:ext uri="{FF2B5EF4-FFF2-40B4-BE49-F238E27FC236}">
                <a16:creationId xmlns:a16="http://schemas.microsoft.com/office/drawing/2014/main" id="{9944335A-02FF-AAD2-DE22-E224FD7E7B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3" y="5470209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7912AAE3-523D-E323-7491-DD06357C77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3" y="5930987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624DC346-A7F9-5571-B983-366BBAA3E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3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E0BB9D9A-7D83-BDC9-5484-A8DE58E5E5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1" y="561891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7D51BA0-4D20-D946-83F2-23804FB14B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283" y="5021961"/>
            <a:ext cx="10563436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55779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FA704374-D3A0-BEE4-7081-53FADE195E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388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4B1295D-9297-98D3-4943-C0AA218C7B69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1656AB0-3198-460E-9F5B-AA4046500886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7AC05E7B-9814-9626-5062-1D68BF6EE3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6897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48A653F-4B8E-E878-8165-68AC74B397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217880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lue）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4DD33FE-B22B-7C6E-F2F3-74EB184EE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3" y="1921295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31EB169B-A341-76A4-5288-4555442A69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3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CF70B69-14BF-DB02-61E4-0C658E99F859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21262D-4CBC-711A-678E-C582A97E2A4B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02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lue）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894B2F28-2EB2-D95E-3269-4717B394FA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8024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2D76FB24-79F7-F06C-3218-54816F7707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9" y="1268416"/>
            <a:ext cx="10562800" cy="49441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89929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lue）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2CD85119-74BE-A8B0-D31F-1DC10F827D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5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2815103C-B0C1-BDA9-97C9-1BCB0BC710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08973DCF-40A2-6351-B849-2EFB0AEB7C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2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339924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Blu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92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1195-F120-BCB2-5EE3-723E70C1F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3" y="1989091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2214ACD-D9BE-40F6-D231-9138B5215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83" y="5470206"/>
            <a:ext cx="10563436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FC9C3C0-2F9D-131F-910E-8008929D8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283" y="5930984"/>
            <a:ext cx="10563436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6B053CD4-F3BD-5F69-E59C-A597A09B6F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3" y="3453206"/>
            <a:ext cx="10563436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92E9DB0B-9077-D203-7FE6-5988DC6DEC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4283" y="5021958"/>
            <a:ext cx="10563436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EE60B748-7DA5-28DA-6FDB-CC4794F43A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281" y="561890"/>
            <a:ext cx="864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239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A9D96-0593-35C3-1979-E826592B79F1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565B7F-EA3C-5F4C-83F4-5E84A10FF4D0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F3315ADE-16E8-091A-1BE1-CE1257C6D3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281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  <a:p>
            <a:pPr lvl="0"/>
            <a:r>
              <a:rPr kumimoji="1" lang="en-US" altLang="ja-JP"/>
              <a:t>00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A111D72C-386D-D961-0695-CC2D826257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6792" y="1736725"/>
            <a:ext cx="7012467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57170" indent="0"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A1D38A7B-5C59-9300-89B5-DAB0E353AC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7516" y="345421"/>
            <a:ext cx="9360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5974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White）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0911B44-43E5-C652-2977-C75C89E671A2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1FA6925-A068-A444-1957-B0B944CDD944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F0C50-C194-741F-5AEB-FAA6A9B44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3" y="1921295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C8443232-A4D7-0B6A-2119-B6107EBFC1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3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77627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White_BrandPromise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A0D995C7-DCD1-BA44-4BF0-265113C3AE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5924" y="3471448"/>
            <a:ext cx="6171795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2AB5FDC-733A-C70A-FB12-285C92099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5924" y="1921295"/>
            <a:ext cx="6171795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56FBD49-6E8D-D0D0-1E72-1F8FE69ED2CA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8D78511-D148-0EF9-172D-DA2C6D03DE7E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bg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68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White）_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17DC41-1215-A6C0-4C88-636C2EFE7AD2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3D640A-F364-BA6E-7B4B-222DF43A1541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F295DF3E-40BF-7535-7BDE-41DFEAEE85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5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D2BF2330-A7EB-FA53-0870-3EF26ACA6F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9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134157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White）_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17DC41-1215-A6C0-4C88-636C2EFE7AD2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3D640A-F364-BA6E-7B4B-222DF43A1541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F295DF3E-40BF-7535-7BDE-41DFEAEE85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5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1A5E9BAF-AE8D-50F4-A800-803BF05BB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2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E79741C9-F273-7126-0EB4-6C3C949009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2" y="1268414"/>
            <a:ext cx="4949027" cy="49441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877634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E7F11BC7-143A-387D-3917-393210D3A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2" y="1736727"/>
            <a:ext cx="4949027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897D687-90EE-4A4F-C8E7-8CBB9A645AD9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図プレースホルダー 16">
            <a:extLst>
              <a:ext uri="{FF2B5EF4-FFF2-40B4-BE49-F238E27FC236}">
                <a16:creationId xmlns:a16="http://schemas.microsoft.com/office/drawing/2014/main" id="{0250B0A2-D4B9-A4DC-0554-2326F56D8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20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A950CA7-D005-11F1-F535-3585CD44B0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691" y="2630079"/>
            <a:ext cx="4949027" cy="3582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674F5-4E57-E04C-7651-6DF5B186CA40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657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Photo）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16">
            <a:extLst>
              <a:ext uri="{FF2B5EF4-FFF2-40B4-BE49-F238E27FC236}">
                <a16:creationId xmlns:a16="http://schemas.microsoft.com/office/drawing/2014/main" id="{40FE2F04-6B75-1C75-F9DF-825DA93754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36729"/>
            <a:ext cx="12192000" cy="512127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/>
          </a:p>
          <a:p>
            <a:endParaRPr kumimoji="1" lang="en-US" altLang="ja-JP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F42955C-2661-77B4-7E94-6C49CE94C967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121B00E-FCA3-D75D-90B2-7E55D24110B4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D229F9AB-613B-B0B7-9ECD-FDCB586841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5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8015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Whit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41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583" y="315955"/>
            <a:ext cx="10516036" cy="500856"/>
          </a:xfrm>
          <a:prstGeom prst="rect">
            <a:avLst/>
          </a:prstGeom>
        </p:spPr>
        <p:txBody>
          <a:bodyPr/>
          <a:lstStyle>
            <a:lvl1pPr>
              <a:defRPr sz="2798" baseline="0">
                <a:solidFill>
                  <a:srgbClr val="3C69A1"/>
                </a:solidFill>
                <a:latin typeface="游ゴシック" panose="020B0400000000000000" pitchFamily="34" charset="-128"/>
                <a:ea typeface="游ゴシック" panose="020B0400000000000000" pitchFamily="34" charset="-128"/>
              </a:defRPr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8D16C8-0B8B-4C59-9B97-E0BC4BF6F3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35451" y="383593"/>
            <a:ext cx="1518637" cy="359961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51CAD1-8D8D-47A9-B7F5-076CDA055F01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6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rgbClr val="3C69A1"/>
                </a:solidFill>
              </a:rPr>
              <a:t>ⓒ ITOCHU Techno-Solutions Corporation</a:t>
            </a:r>
            <a:endParaRPr kumimoji="1" lang="ja-JP" altLang="en-US" sz="700">
              <a:solidFill>
                <a:srgbClr val="3C69A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8D5334E-DDDF-41B2-A128-9A061B060103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rgbClr val="3C69A1"/>
                </a:solidFill>
              </a:rPr>
              <a:pPr/>
              <a:t>‹#›</a:t>
            </a:fld>
            <a:endParaRPr kumimoji="1" lang="ja-JP" altLang="en-US" sz="1600">
              <a:solidFill>
                <a:srgbClr val="3C69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311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13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46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683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07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54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15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181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16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433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147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55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表紙（BrandPromis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1195-F120-BCB2-5EE3-723E70C1F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7427" y="1989091"/>
            <a:ext cx="6170292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2214ACD-D9BE-40F6-D231-9138B5215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5307" y="5470206"/>
            <a:ext cx="6172412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FC9C3C0-2F9D-131F-910E-8008929D8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5307" y="5930984"/>
            <a:ext cx="6172412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6B053CD4-F3BD-5F69-E59C-A597A09B6F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05307" y="3453206"/>
            <a:ext cx="6172412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62007915-F4F5-B5F4-7D86-F096B722CD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5307" y="5021958"/>
            <a:ext cx="6172412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EC5E5A87-055B-CC48-B155-1E58CEE1FD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05307" y="561890"/>
            <a:ext cx="4248976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659479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裏表紙（BrandPromis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6247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文ページ（White）_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17DC41-1215-A6C0-4C88-636C2EFE7AD2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23D640A-F364-BA6E-7B4B-222DF43A1541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F295DF3E-40BF-7535-7BDE-41DFEAEE85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8026" y="347571"/>
            <a:ext cx="9360000" cy="432000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D2BF2330-A7EB-FA53-0870-3EF26ACA6F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 b="0" i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defRPr b="0" i="0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defRPr b="0" i="0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defRPr b="0" i="0">
                <a:solidFill>
                  <a:schemeClr val="tx1"/>
                </a:solidFill>
                <a:latin typeface="+mn-ea"/>
                <a:ea typeface="+mn-ea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4236788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文ページ（Photo）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E7F11BC7-143A-387D-3917-393210D3A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2" y="1736727"/>
            <a:ext cx="4949027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897D687-90EE-4A4F-C8E7-8CBB9A645AD9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図プレースホルダー 16">
            <a:extLst>
              <a:ext uri="{FF2B5EF4-FFF2-40B4-BE49-F238E27FC236}">
                <a16:creationId xmlns:a16="http://schemas.microsoft.com/office/drawing/2014/main" id="{0250B0A2-D4B9-A4DC-0554-2326F56D8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20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A950CA7-D005-11F1-F535-3585CD44B0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691" y="2630079"/>
            <a:ext cx="4949027" cy="3582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674F5-4E57-E04C-7651-6DF5B186CA40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195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334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099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647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401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23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505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305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68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249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58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044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文ページ（Photo）1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E7F11BC7-143A-387D-3917-393210D3A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8692" y="1736727"/>
            <a:ext cx="4949027" cy="365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800" b="1" i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タイトルの書式設定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897D687-90EE-4A4F-C8E7-8CBB9A645AD9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600">
              <a:solidFill>
                <a:schemeClr val="tx1"/>
              </a:solidFill>
            </a:endParaRPr>
          </a:p>
        </p:txBody>
      </p:sp>
      <p:sp>
        <p:nvSpPr>
          <p:cNvPr id="3" name="図プレースホルダー 16">
            <a:extLst>
              <a:ext uri="{FF2B5EF4-FFF2-40B4-BE49-F238E27FC236}">
                <a16:creationId xmlns:a16="http://schemas.microsoft.com/office/drawing/2014/main" id="{0250B0A2-D4B9-A4DC-0554-2326F56D8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20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6"/>
                </a:solidFill>
              </a:defRPr>
            </a:lvl1pPr>
          </a:lstStyle>
          <a:p>
            <a:endParaRPr kumimoji="1" lang="en-US" altLang="ja-JP"/>
          </a:p>
          <a:p>
            <a:r>
              <a:rPr kumimoji="1" lang="ja-JP" altLang="en-US"/>
              <a:t>下のアイコンをクリックして画像を入れてください。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A950CA7-D005-11F1-F535-3585CD44B0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691" y="2630079"/>
            <a:ext cx="4949027" cy="35824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900" indent="-342900" defTabSz="479968">
              <a:buFont typeface="Arial" panose="020B0604020202020204" pitchFamily="34" charset="0"/>
              <a:buChar char="•"/>
              <a:defRPr sz="2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>
              <a:defRPr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/>
              <a:t>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テキスト</a:t>
            </a:r>
            <a:endParaRPr kumimoji="1" lang="en-US" altLang="ja-JP"/>
          </a:p>
          <a:p>
            <a:pPr lvl="2"/>
            <a:r>
              <a:rPr kumimoji="1" lang="ja-JP" altLang="en-US"/>
              <a:t>テキスト</a:t>
            </a:r>
            <a:endParaRPr kumimoji="1" lang="en-US" altLang="ja-JP"/>
          </a:p>
          <a:p>
            <a:pPr lvl="3"/>
            <a:r>
              <a:rPr kumimoji="1" lang="ja-JP" altLang="en-US"/>
              <a:t>テキスト</a:t>
            </a:r>
            <a:endParaRPr kumimoji="1" lang="en-US" altLang="ja-JP"/>
          </a:p>
          <a:p>
            <a:pPr lvl="4"/>
            <a:r>
              <a:rPr kumimoji="1" lang="ja-JP" altLang="en-US"/>
              <a:t>テキスト</a:t>
            </a:r>
            <a:endParaRPr kumimoji="1" lang="en-US" altLang="ja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674F5-4E57-E04C-7651-6DF5B186CA40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chemeClr val="tx1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0870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583" y="315955"/>
            <a:ext cx="10516036" cy="500856"/>
          </a:xfrm>
          <a:prstGeom prst="rect">
            <a:avLst/>
          </a:prstGeom>
        </p:spPr>
        <p:txBody>
          <a:bodyPr/>
          <a:lstStyle>
            <a:lvl1pPr>
              <a:defRPr sz="2798" baseline="0">
                <a:solidFill>
                  <a:srgbClr val="3C69A1"/>
                </a:solidFill>
                <a:latin typeface="游ゴシック" panose="020B0400000000000000" pitchFamily="34" charset="-128"/>
                <a:ea typeface="游ゴシック" panose="020B0400000000000000" pitchFamily="34" charset="-128"/>
              </a:defRPr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8D16C8-0B8B-4C59-9B97-E0BC4BF6F3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35451" y="383593"/>
            <a:ext cx="1518637" cy="359961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51CAD1-8D8D-47A9-B7F5-076CDA055F01}"/>
              </a:ext>
            </a:extLst>
          </p:cNvPr>
          <p:cNvSpPr txBox="1">
            <a:spLocks/>
          </p:cNvSpPr>
          <p:nvPr userDrawn="1"/>
        </p:nvSpPr>
        <p:spPr>
          <a:xfrm>
            <a:off x="325401" y="6394866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>
                <a:solidFill>
                  <a:srgbClr val="3C69A1"/>
                </a:solidFill>
              </a:rPr>
              <a:t>ⓒ ITOCHU Techno-Solutions Corporation</a:t>
            </a:r>
            <a:endParaRPr kumimoji="1" lang="ja-JP" altLang="en-US" sz="700">
              <a:solidFill>
                <a:srgbClr val="3C69A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8D5334E-DDDF-41B2-A128-9A061B060103}"/>
              </a:ext>
            </a:extLst>
          </p:cNvPr>
          <p:cNvSpPr txBox="1">
            <a:spLocks/>
          </p:cNvSpPr>
          <p:nvPr userDrawn="1"/>
        </p:nvSpPr>
        <p:spPr>
          <a:xfrm>
            <a:off x="9133619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rgbClr val="3C69A1"/>
                </a:solidFill>
              </a:rPr>
              <a:pPr/>
              <a:t>‹#›</a:t>
            </a:fld>
            <a:endParaRPr kumimoji="1" lang="ja-JP" altLang="en-US" sz="1600">
              <a:solidFill>
                <a:srgbClr val="3C69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698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13D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028CA4-2672-771F-54A4-87AC31A089A6}"/>
              </a:ext>
            </a:extLst>
          </p:cNvPr>
          <p:cNvGrpSpPr/>
          <p:nvPr userDrawn="1"/>
        </p:nvGrpSpPr>
        <p:grpSpPr>
          <a:xfrm>
            <a:off x="-2160000" y="51671"/>
            <a:ext cx="1800000" cy="3260331"/>
            <a:chOff x="-2160000" y="51668"/>
            <a:chExt cx="1800000" cy="3260331"/>
          </a:xfrm>
        </p:grpSpPr>
        <p:sp>
          <p:nvSpPr>
            <p:cNvPr id="3" name="円/楕円 31">
              <a:extLst>
                <a:ext uri="{FF2B5EF4-FFF2-40B4-BE49-F238E27FC236}">
                  <a16:creationId xmlns:a16="http://schemas.microsoft.com/office/drawing/2014/main" id="{065FA79F-C1AC-EDC4-EBE8-47D7804B12F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431999"/>
              <a:ext cx="288037" cy="28800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4" name="円/楕円 33">
              <a:extLst>
                <a:ext uri="{FF2B5EF4-FFF2-40B4-BE49-F238E27FC236}">
                  <a16:creationId xmlns:a16="http://schemas.microsoft.com/office/drawing/2014/main" id="{50541E0B-A584-8C31-98CC-EC0F8F59A66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863999"/>
              <a:ext cx="288037" cy="28800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5" name="円/楕円 37">
              <a:extLst>
                <a:ext uri="{FF2B5EF4-FFF2-40B4-BE49-F238E27FC236}">
                  <a16:creationId xmlns:a16="http://schemas.microsoft.com/office/drawing/2014/main" id="{3D8D24CA-AC7B-8B35-5318-090294F09F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1295999"/>
              <a:ext cx="288037" cy="28800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6" name="円/楕円 38">
              <a:extLst>
                <a:ext uri="{FF2B5EF4-FFF2-40B4-BE49-F238E27FC236}">
                  <a16:creationId xmlns:a16="http://schemas.microsoft.com/office/drawing/2014/main" id="{2863C9A2-3046-73C7-64F6-8ECD311A86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431999"/>
              <a:ext cx="288037" cy="28800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7" name="円/楕円 39">
              <a:extLst>
                <a:ext uri="{FF2B5EF4-FFF2-40B4-BE49-F238E27FC236}">
                  <a16:creationId xmlns:a16="http://schemas.microsoft.com/office/drawing/2014/main" id="{14B3C179-52B3-C891-2CE2-8388423C8B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863999"/>
              <a:ext cx="288037" cy="28800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8" name="円/楕円 40">
              <a:extLst>
                <a:ext uri="{FF2B5EF4-FFF2-40B4-BE49-F238E27FC236}">
                  <a16:creationId xmlns:a16="http://schemas.microsoft.com/office/drawing/2014/main" id="{56173E9F-2618-08A1-650D-C3ABC2CC88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1727999"/>
              <a:ext cx="288037" cy="28800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円/楕円 41">
              <a:extLst>
                <a:ext uri="{FF2B5EF4-FFF2-40B4-BE49-F238E27FC236}">
                  <a16:creationId xmlns:a16="http://schemas.microsoft.com/office/drawing/2014/main" id="{08BD3DEF-CF95-8C33-2B05-00C835330B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1727999"/>
              <a:ext cx="288037" cy="28800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0" name="円/楕円 42">
              <a:extLst>
                <a:ext uri="{FF2B5EF4-FFF2-40B4-BE49-F238E27FC236}">
                  <a16:creationId xmlns:a16="http://schemas.microsoft.com/office/drawing/2014/main" id="{4662BBEE-68C0-CDC6-1FD3-07F656EE4FF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2157916"/>
              <a:ext cx="288037" cy="28800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円/楕円 43">
              <a:extLst>
                <a:ext uri="{FF2B5EF4-FFF2-40B4-BE49-F238E27FC236}">
                  <a16:creationId xmlns:a16="http://schemas.microsoft.com/office/drawing/2014/main" id="{4C77AA4F-87ED-7788-A7BF-F64BC47FD74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2159999"/>
              <a:ext cx="288037" cy="28800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2" name="円/楕円 44">
              <a:extLst>
                <a:ext uri="{FF2B5EF4-FFF2-40B4-BE49-F238E27FC236}">
                  <a16:creationId xmlns:a16="http://schemas.microsoft.com/office/drawing/2014/main" id="{64C0CD26-4B94-75E8-3EE0-CD18812671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2591999"/>
              <a:ext cx="288037" cy="28800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円/楕円 45">
              <a:extLst>
                <a:ext uri="{FF2B5EF4-FFF2-40B4-BE49-F238E27FC236}">
                  <a16:creationId xmlns:a16="http://schemas.microsoft.com/office/drawing/2014/main" id="{D34643D4-1905-FEFB-42C1-F7D0618C2F2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2591999"/>
              <a:ext cx="288037" cy="28800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円/楕円 46">
              <a:extLst>
                <a:ext uri="{FF2B5EF4-FFF2-40B4-BE49-F238E27FC236}">
                  <a16:creationId xmlns:a16="http://schemas.microsoft.com/office/drawing/2014/main" id="{B0FF70F6-C225-7F78-B842-1531D5E8A9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3023999"/>
              <a:ext cx="288037" cy="28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円/楕円 47">
              <a:extLst>
                <a:ext uri="{FF2B5EF4-FFF2-40B4-BE49-F238E27FC236}">
                  <a16:creationId xmlns:a16="http://schemas.microsoft.com/office/drawing/2014/main" id="{D3E9DE17-4C6D-3205-667A-B5FEB3090C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3023999"/>
              <a:ext cx="288037" cy="28800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テキスト ボックス 58">
              <a:extLst>
                <a:ext uri="{FF2B5EF4-FFF2-40B4-BE49-F238E27FC236}">
                  <a16:creationId xmlns:a16="http://schemas.microsoft.com/office/drawing/2014/main" id="{551CA08B-7B06-3D59-E434-A27DEF592CA7}"/>
                </a:ext>
              </a:extLst>
            </p:cNvPr>
            <p:cNvSpPr txBox="1"/>
            <p:nvPr userDrawn="1"/>
          </p:nvSpPr>
          <p:spPr>
            <a:xfrm>
              <a:off x="-2160000" y="51668"/>
              <a:ext cx="180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kumimoji="1" lang="en-US" altLang="ja-JP" sz="12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CTC Basic Color</a:t>
              </a:r>
              <a:endParaRPr kumimoji="1" lang="ja-JP" altLang="en-US" sz="12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5DD535-FE9A-E16F-5229-85BF0D791059}"/>
              </a:ext>
            </a:extLst>
          </p:cNvPr>
          <p:cNvGrpSpPr/>
          <p:nvPr userDrawn="1"/>
        </p:nvGrpSpPr>
        <p:grpSpPr>
          <a:xfrm>
            <a:off x="-2160000" y="4461669"/>
            <a:ext cx="1800000" cy="2396332"/>
            <a:chOff x="-2160000" y="4461668"/>
            <a:chExt cx="1800000" cy="2396332"/>
          </a:xfrm>
        </p:grpSpPr>
        <p:sp>
          <p:nvSpPr>
            <p:cNvPr id="18" name="円/楕円 48">
              <a:extLst>
                <a:ext uri="{FF2B5EF4-FFF2-40B4-BE49-F238E27FC236}">
                  <a16:creationId xmlns:a16="http://schemas.microsoft.com/office/drawing/2014/main" id="{571870EB-9C24-E9C6-FB2F-7809F8EAD9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4842000"/>
              <a:ext cx="288037" cy="288000"/>
            </a:xfrm>
            <a:prstGeom prst="ellipse">
              <a:avLst/>
            </a:prstGeom>
            <a:solidFill>
              <a:srgbClr val="0126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円/楕円 49">
              <a:extLst>
                <a:ext uri="{FF2B5EF4-FFF2-40B4-BE49-F238E27FC236}">
                  <a16:creationId xmlns:a16="http://schemas.microsoft.com/office/drawing/2014/main" id="{CD2EBA25-D5D1-D518-D343-7238B7692FE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4842000"/>
              <a:ext cx="288037" cy="288000"/>
            </a:xfrm>
            <a:prstGeom prst="ellipse">
              <a:avLst/>
            </a:prstGeom>
            <a:solidFill>
              <a:srgbClr val="677D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0" name="円/楕円 50">
              <a:extLst>
                <a:ext uri="{FF2B5EF4-FFF2-40B4-BE49-F238E27FC236}">
                  <a16:creationId xmlns:a16="http://schemas.microsoft.com/office/drawing/2014/main" id="{D2B1EB4C-159F-7E7E-28D4-348665470F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5706000"/>
              <a:ext cx="288037" cy="288000"/>
            </a:xfrm>
            <a:prstGeom prst="ellipse">
              <a:avLst/>
            </a:prstGeom>
            <a:solidFill>
              <a:srgbClr val="5439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1" name="円/楕円 51">
              <a:extLst>
                <a:ext uri="{FF2B5EF4-FFF2-40B4-BE49-F238E27FC236}">
                  <a16:creationId xmlns:a16="http://schemas.microsoft.com/office/drawing/2014/main" id="{9B0B2BDD-4869-1641-758F-724F7B7EAD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5706000"/>
              <a:ext cx="288037" cy="288000"/>
            </a:xfrm>
            <a:prstGeom prst="ellipse">
              <a:avLst/>
            </a:prstGeom>
            <a:solidFill>
              <a:srgbClr val="9888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2" name="円/楕円 52">
              <a:extLst>
                <a:ext uri="{FF2B5EF4-FFF2-40B4-BE49-F238E27FC236}">
                  <a16:creationId xmlns:a16="http://schemas.microsoft.com/office/drawing/2014/main" id="{CC93D1C3-B5EA-F759-16F1-7C259D2027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5274000"/>
              <a:ext cx="288037" cy="28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3" name="円/楕円 53">
              <a:extLst>
                <a:ext uri="{FF2B5EF4-FFF2-40B4-BE49-F238E27FC236}">
                  <a16:creationId xmlns:a16="http://schemas.microsoft.com/office/drawing/2014/main" id="{C9B1EAC7-CD0F-1104-58AC-4C30D852E3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5274000"/>
              <a:ext cx="288037" cy="288000"/>
            </a:xfrm>
            <a:prstGeom prst="ellipse">
              <a:avLst/>
            </a:prstGeom>
            <a:solidFill>
              <a:srgbClr val="6565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4" name="円/楕円 54">
              <a:extLst>
                <a:ext uri="{FF2B5EF4-FFF2-40B4-BE49-F238E27FC236}">
                  <a16:creationId xmlns:a16="http://schemas.microsoft.com/office/drawing/2014/main" id="{BB2F2364-99F7-BB2F-C37A-6CFBED0FA2F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6570000"/>
              <a:ext cx="288037" cy="288000"/>
            </a:xfrm>
            <a:prstGeom prst="ellipse">
              <a:avLst/>
            </a:prstGeom>
            <a:solidFill>
              <a:srgbClr val="0015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5" name="円/楕円 55">
              <a:extLst>
                <a:ext uri="{FF2B5EF4-FFF2-40B4-BE49-F238E27FC236}">
                  <a16:creationId xmlns:a16="http://schemas.microsoft.com/office/drawing/2014/main" id="{627E4203-9B5C-34B6-11EE-75A078F3D2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6570000"/>
              <a:ext cx="288037" cy="288000"/>
            </a:xfrm>
            <a:prstGeom prst="ellipse">
              <a:avLst/>
            </a:prstGeom>
            <a:solidFill>
              <a:srgbClr val="6572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6" name="円/楕円 56">
              <a:extLst>
                <a:ext uri="{FF2B5EF4-FFF2-40B4-BE49-F238E27FC236}">
                  <a16:creationId xmlns:a16="http://schemas.microsoft.com/office/drawing/2014/main" id="{63A04664-5085-8CDA-E3C2-DF278FBE913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6138000"/>
              <a:ext cx="288037" cy="288000"/>
            </a:xfrm>
            <a:prstGeom prst="ellipse">
              <a:avLst/>
            </a:prstGeom>
            <a:solidFill>
              <a:srgbClr val="093E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7" name="円/楕円 57">
              <a:extLst>
                <a:ext uri="{FF2B5EF4-FFF2-40B4-BE49-F238E27FC236}">
                  <a16:creationId xmlns:a16="http://schemas.microsoft.com/office/drawing/2014/main" id="{C6335A92-4F0D-2581-DFCD-69C5A66FBF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6138000"/>
              <a:ext cx="288037" cy="288000"/>
            </a:xfrm>
            <a:prstGeom prst="ellipse">
              <a:avLst/>
            </a:prstGeom>
            <a:solidFill>
              <a:srgbClr val="6C8B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8" name="テキスト ボックス 59">
              <a:extLst>
                <a:ext uri="{FF2B5EF4-FFF2-40B4-BE49-F238E27FC236}">
                  <a16:creationId xmlns:a16="http://schemas.microsoft.com/office/drawing/2014/main" id="{16DB99CD-0FBD-DA50-7EBA-D71A53A77645}"/>
                </a:ext>
              </a:extLst>
            </p:cNvPr>
            <p:cNvSpPr txBox="1"/>
            <p:nvPr userDrawn="1"/>
          </p:nvSpPr>
          <p:spPr>
            <a:xfrm>
              <a:off x="-2160000" y="4461668"/>
              <a:ext cx="180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kumimoji="1" lang="en-US" altLang="ja-JP" sz="12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CTC Business Color</a:t>
              </a:r>
              <a:endParaRPr kumimoji="1" lang="ja-JP" altLang="en-US" sz="12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  <p:sp>
          <p:nvSpPr>
            <p:cNvPr id="29" name="テキスト ボックス 60">
              <a:extLst>
                <a:ext uri="{FF2B5EF4-FFF2-40B4-BE49-F238E27FC236}">
                  <a16:creationId xmlns:a16="http://schemas.microsoft.com/office/drawing/2014/main" id="{CD5A8566-5630-A52E-3001-80EB034FDCDC}"/>
                </a:ext>
              </a:extLst>
            </p:cNvPr>
            <p:cNvSpPr txBox="1"/>
            <p:nvPr userDrawn="1"/>
          </p:nvSpPr>
          <p:spPr>
            <a:xfrm>
              <a:off x="-1296000" y="4842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統括</a:t>
              </a:r>
            </a:p>
          </p:txBody>
        </p:sp>
        <p:sp>
          <p:nvSpPr>
            <p:cNvPr id="30" name="テキスト ボックス 61">
              <a:extLst>
                <a:ext uri="{FF2B5EF4-FFF2-40B4-BE49-F238E27FC236}">
                  <a16:creationId xmlns:a16="http://schemas.microsoft.com/office/drawing/2014/main" id="{C6E09C86-030C-D32B-7877-5A033BB3F07A}"/>
                </a:ext>
              </a:extLst>
            </p:cNvPr>
            <p:cNvSpPr txBox="1"/>
            <p:nvPr userDrawn="1"/>
          </p:nvSpPr>
          <p:spPr>
            <a:xfrm>
              <a:off x="-1296000" y="5274000"/>
              <a:ext cx="93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高度</a:t>
              </a:r>
              <a:r>
                <a:rPr kumimoji="1" lang="en-US" altLang="ja-JP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AI</a:t>
              </a:r>
              <a:endParaRPr kumimoji="1" lang="ja-JP" altLang="en-US" sz="8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  <p:sp>
          <p:nvSpPr>
            <p:cNvPr id="31" name="テキスト ボックス 62">
              <a:extLst>
                <a:ext uri="{FF2B5EF4-FFF2-40B4-BE49-F238E27FC236}">
                  <a16:creationId xmlns:a16="http://schemas.microsoft.com/office/drawing/2014/main" id="{39B6A44B-2939-D86E-BD7F-F905A5C49BB5}"/>
                </a:ext>
              </a:extLst>
            </p:cNvPr>
            <p:cNvSpPr txBox="1"/>
            <p:nvPr userDrawn="1"/>
          </p:nvSpPr>
          <p:spPr>
            <a:xfrm>
              <a:off x="-1296000" y="5706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データ＆</a:t>
              </a:r>
              <a:br>
                <a:rPr kumimoji="1" lang="en-US" altLang="ja-JP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</a:br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アナリティクス</a:t>
              </a:r>
            </a:p>
          </p:txBody>
        </p:sp>
        <p:sp>
          <p:nvSpPr>
            <p:cNvPr id="32" name="テキスト ボックス 63">
              <a:extLst>
                <a:ext uri="{FF2B5EF4-FFF2-40B4-BE49-F238E27FC236}">
                  <a16:creationId xmlns:a16="http://schemas.microsoft.com/office/drawing/2014/main" id="{4A647C2C-D239-6004-745C-ED6468154C98}"/>
                </a:ext>
              </a:extLst>
            </p:cNvPr>
            <p:cNvSpPr txBox="1"/>
            <p:nvPr userDrawn="1"/>
          </p:nvSpPr>
          <p:spPr>
            <a:xfrm>
              <a:off x="-1296000" y="6138000"/>
              <a:ext cx="93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クラウド</a:t>
              </a:r>
              <a:br>
                <a:rPr kumimoji="1" lang="en-US" altLang="ja-JP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</a:br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ネイティブ</a:t>
              </a:r>
            </a:p>
          </p:txBody>
        </p:sp>
        <p:sp>
          <p:nvSpPr>
            <p:cNvPr id="33" name="テキスト ボックス 64">
              <a:extLst>
                <a:ext uri="{FF2B5EF4-FFF2-40B4-BE49-F238E27FC236}">
                  <a16:creationId xmlns:a16="http://schemas.microsoft.com/office/drawing/2014/main" id="{C7DA14CD-AA70-FB19-48DD-5B8483BF86AC}"/>
                </a:ext>
              </a:extLst>
            </p:cNvPr>
            <p:cNvSpPr txBox="1"/>
            <p:nvPr userDrawn="1"/>
          </p:nvSpPr>
          <p:spPr>
            <a:xfrm>
              <a:off x="-1296000" y="6570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セキュリティ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85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 userDrawn="1">
          <p15:clr>
            <a:srgbClr val="F26B43"/>
          </p15:clr>
        </p15:guide>
        <p15:guide id="2" pos="512" userDrawn="1">
          <p15:clr>
            <a:srgbClr val="F26B43"/>
          </p15:clr>
        </p15:guide>
        <p15:guide id="3" pos="7168" userDrawn="1">
          <p15:clr>
            <a:srgbClr val="F26B43"/>
          </p15:clr>
        </p15:guide>
        <p15:guide id="4" orient="horz" pos="1094" userDrawn="1">
          <p15:clr>
            <a:srgbClr val="F26B43"/>
          </p15:clr>
        </p15:guide>
        <p15:guide id="5" orient="horz" pos="391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9350CA-95E4-2BE2-0BCF-21D9FAA81AF2}"/>
              </a:ext>
            </a:extLst>
          </p:cNvPr>
          <p:cNvGrpSpPr/>
          <p:nvPr userDrawn="1"/>
        </p:nvGrpSpPr>
        <p:grpSpPr>
          <a:xfrm>
            <a:off x="-2160000" y="51671"/>
            <a:ext cx="1800000" cy="3260331"/>
            <a:chOff x="-2160000" y="51668"/>
            <a:chExt cx="1800000" cy="3260331"/>
          </a:xfrm>
        </p:grpSpPr>
        <p:sp>
          <p:nvSpPr>
            <p:cNvPr id="3" name="円/楕円 31">
              <a:extLst>
                <a:ext uri="{FF2B5EF4-FFF2-40B4-BE49-F238E27FC236}">
                  <a16:creationId xmlns:a16="http://schemas.microsoft.com/office/drawing/2014/main" id="{0F85D2AC-EA94-E681-1C1B-DC9C3C325F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431999"/>
              <a:ext cx="288037" cy="28800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" name="円/楕円 33">
              <a:extLst>
                <a:ext uri="{FF2B5EF4-FFF2-40B4-BE49-F238E27FC236}">
                  <a16:creationId xmlns:a16="http://schemas.microsoft.com/office/drawing/2014/main" id="{78154538-C75C-90B9-0DB1-1C1E1FBE1E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863999"/>
              <a:ext cx="288037" cy="28800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" name="円/楕円 37">
              <a:extLst>
                <a:ext uri="{FF2B5EF4-FFF2-40B4-BE49-F238E27FC236}">
                  <a16:creationId xmlns:a16="http://schemas.microsoft.com/office/drawing/2014/main" id="{F766F3AE-E6B1-94B1-1818-45B4D80BC4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1295999"/>
              <a:ext cx="288037" cy="28800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" name="円/楕円 38">
              <a:extLst>
                <a:ext uri="{FF2B5EF4-FFF2-40B4-BE49-F238E27FC236}">
                  <a16:creationId xmlns:a16="http://schemas.microsoft.com/office/drawing/2014/main" id="{1899D552-8595-2B89-5107-8B3F61DEDFA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431999"/>
              <a:ext cx="288037" cy="28800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7" name="円/楕円 39">
              <a:extLst>
                <a:ext uri="{FF2B5EF4-FFF2-40B4-BE49-F238E27FC236}">
                  <a16:creationId xmlns:a16="http://schemas.microsoft.com/office/drawing/2014/main" id="{2F4E23B6-E8C9-4723-4D79-BD40BB2FADE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863999"/>
              <a:ext cx="288037" cy="28800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8" name="円/楕円 40">
              <a:extLst>
                <a:ext uri="{FF2B5EF4-FFF2-40B4-BE49-F238E27FC236}">
                  <a16:creationId xmlns:a16="http://schemas.microsoft.com/office/drawing/2014/main" id="{7CC0CD48-A068-CD3A-C8AB-9FB884FB738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1727999"/>
              <a:ext cx="288037" cy="28800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9" name="円/楕円 41">
              <a:extLst>
                <a:ext uri="{FF2B5EF4-FFF2-40B4-BE49-F238E27FC236}">
                  <a16:creationId xmlns:a16="http://schemas.microsoft.com/office/drawing/2014/main" id="{A77C309D-2B89-F59C-005D-7D60B36D7D7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1727999"/>
              <a:ext cx="288037" cy="28800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0" name="円/楕円 42">
              <a:extLst>
                <a:ext uri="{FF2B5EF4-FFF2-40B4-BE49-F238E27FC236}">
                  <a16:creationId xmlns:a16="http://schemas.microsoft.com/office/drawing/2014/main" id="{0E07B5EB-E9BA-A6C7-FFE8-D07B828730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2157916"/>
              <a:ext cx="288037" cy="28800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1" name="円/楕円 43">
              <a:extLst>
                <a:ext uri="{FF2B5EF4-FFF2-40B4-BE49-F238E27FC236}">
                  <a16:creationId xmlns:a16="http://schemas.microsoft.com/office/drawing/2014/main" id="{29CD1681-FD08-D84D-56EF-0572C8C806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2159999"/>
              <a:ext cx="288037" cy="28800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2" name="円/楕円 44">
              <a:extLst>
                <a:ext uri="{FF2B5EF4-FFF2-40B4-BE49-F238E27FC236}">
                  <a16:creationId xmlns:a16="http://schemas.microsoft.com/office/drawing/2014/main" id="{89C2359B-E91E-E9F5-3B84-10E2C325F1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2591999"/>
              <a:ext cx="288037" cy="28800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3" name="円/楕円 45">
              <a:extLst>
                <a:ext uri="{FF2B5EF4-FFF2-40B4-BE49-F238E27FC236}">
                  <a16:creationId xmlns:a16="http://schemas.microsoft.com/office/drawing/2014/main" id="{3632B270-88DC-6FFB-D306-7F3CDE0AB17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2591999"/>
              <a:ext cx="288037" cy="28800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4" name="円/楕円 46">
              <a:extLst>
                <a:ext uri="{FF2B5EF4-FFF2-40B4-BE49-F238E27FC236}">
                  <a16:creationId xmlns:a16="http://schemas.microsoft.com/office/drawing/2014/main" id="{0790D774-CD84-C1EC-4BCE-449D26C8E0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3023999"/>
              <a:ext cx="288037" cy="28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5" name="円/楕円 47">
              <a:extLst>
                <a:ext uri="{FF2B5EF4-FFF2-40B4-BE49-F238E27FC236}">
                  <a16:creationId xmlns:a16="http://schemas.microsoft.com/office/drawing/2014/main" id="{9A4435E1-52BE-1FC5-22C6-5D66D50F99B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3023999"/>
              <a:ext cx="288037" cy="28800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6" name="テキスト ボックス 58">
              <a:extLst>
                <a:ext uri="{FF2B5EF4-FFF2-40B4-BE49-F238E27FC236}">
                  <a16:creationId xmlns:a16="http://schemas.microsoft.com/office/drawing/2014/main" id="{FB6247EB-7614-948F-1D0E-C54AD3E02237}"/>
                </a:ext>
              </a:extLst>
            </p:cNvPr>
            <p:cNvSpPr txBox="1"/>
            <p:nvPr userDrawn="1"/>
          </p:nvSpPr>
          <p:spPr>
            <a:xfrm>
              <a:off x="-2160000" y="51668"/>
              <a:ext cx="180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kumimoji="1" lang="en-US" altLang="ja-JP" sz="12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CTC Basic Color</a:t>
              </a:r>
              <a:endParaRPr kumimoji="1" lang="ja-JP" altLang="en-US" sz="12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4AC014-25AD-CB17-9513-DFBFD601CDA9}"/>
              </a:ext>
            </a:extLst>
          </p:cNvPr>
          <p:cNvGrpSpPr/>
          <p:nvPr userDrawn="1"/>
        </p:nvGrpSpPr>
        <p:grpSpPr>
          <a:xfrm>
            <a:off x="-2160000" y="4461669"/>
            <a:ext cx="1800000" cy="2396332"/>
            <a:chOff x="-2160000" y="4461668"/>
            <a:chExt cx="1800000" cy="2396332"/>
          </a:xfrm>
        </p:grpSpPr>
        <p:sp>
          <p:nvSpPr>
            <p:cNvPr id="18" name="円/楕円 48">
              <a:extLst>
                <a:ext uri="{FF2B5EF4-FFF2-40B4-BE49-F238E27FC236}">
                  <a16:creationId xmlns:a16="http://schemas.microsoft.com/office/drawing/2014/main" id="{4FE08924-91A5-809D-6229-C0352D2EF9D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4842000"/>
              <a:ext cx="288037" cy="288000"/>
            </a:xfrm>
            <a:prstGeom prst="ellipse">
              <a:avLst/>
            </a:prstGeom>
            <a:solidFill>
              <a:srgbClr val="0126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9" name="円/楕円 49">
              <a:extLst>
                <a:ext uri="{FF2B5EF4-FFF2-40B4-BE49-F238E27FC236}">
                  <a16:creationId xmlns:a16="http://schemas.microsoft.com/office/drawing/2014/main" id="{2FA045DF-441B-5932-F289-733249FC9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4842000"/>
              <a:ext cx="288037" cy="288000"/>
            </a:xfrm>
            <a:prstGeom prst="ellipse">
              <a:avLst/>
            </a:prstGeom>
            <a:solidFill>
              <a:srgbClr val="677D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0" name="円/楕円 50">
              <a:extLst>
                <a:ext uri="{FF2B5EF4-FFF2-40B4-BE49-F238E27FC236}">
                  <a16:creationId xmlns:a16="http://schemas.microsoft.com/office/drawing/2014/main" id="{9BF97F45-9851-B9BA-A3A9-7B52285042F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5706000"/>
              <a:ext cx="288037" cy="288000"/>
            </a:xfrm>
            <a:prstGeom prst="ellipse">
              <a:avLst/>
            </a:prstGeom>
            <a:solidFill>
              <a:srgbClr val="5439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1" name="円/楕円 51">
              <a:extLst>
                <a:ext uri="{FF2B5EF4-FFF2-40B4-BE49-F238E27FC236}">
                  <a16:creationId xmlns:a16="http://schemas.microsoft.com/office/drawing/2014/main" id="{B699B1FD-30C0-B98C-59C5-780286B26E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5706000"/>
              <a:ext cx="288037" cy="288000"/>
            </a:xfrm>
            <a:prstGeom prst="ellipse">
              <a:avLst/>
            </a:prstGeom>
            <a:solidFill>
              <a:srgbClr val="9888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2" name="円/楕円 52">
              <a:extLst>
                <a:ext uri="{FF2B5EF4-FFF2-40B4-BE49-F238E27FC236}">
                  <a16:creationId xmlns:a16="http://schemas.microsoft.com/office/drawing/2014/main" id="{925FE6B1-1D66-CE1C-C5EA-4529BB0BFFD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5274000"/>
              <a:ext cx="288037" cy="28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3" name="円/楕円 53">
              <a:extLst>
                <a:ext uri="{FF2B5EF4-FFF2-40B4-BE49-F238E27FC236}">
                  <a16:creationId xmlns:a16="http://schemas.microsoft.com/office/drawing/2014/main" id="{CD7DE2EB-ABB8-5A42-632F-78B5BA195D7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5274000"/>
              <a:ext cx="288037" cy="288000"/>
            </a:xfrm>
            <a:prstGeom prst="ellipse">
              <a:avLst/>
            </a:prstGeom>
            <a:solidFill>
              <a:srgbClr val="6565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4" name="円/楕円 54">
              <a:extLst>
                <a:ext uri="{FF2B5EF4-FFF2-40B4-BE49-F238E27FC236}">
                  <a16:creationId xmlns:a16="http://schemas.microsoft.com/office/drawing/2014/main" id="{75F2B881-372A-DB1F-6E60-F3A1F55671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6570000"/>
              <a:ext cx="288037" cy="288000"/>
            </a:xfrm>
            <a:prstGeom prst="ellipse">
              <a:avLst/>
            </a:prstGeom>
            <a:solidFill>
              <a:srgbClr val="0015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5" name="円/楕円 55">
              <a:extLst>
                <a:ext uri="{FF2B5EF4-FFF2-40B4-BE49-F238E27FC236}">
                  <a16:creationId xmlns:a16="http://schemas.microsoft.com/office/drawing/2014/main" id="{FB052A3F-EB90-2ADE-AFB6-9B9CB67DA3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6570000"/>
              <a:ext cx="288037" cy="288000"/>
            </a:xfrm>
            <a:prstGeom prst="ellipse">
              <a:avLst/>
            </a:prstGeom>
            <a:solidFill>
              <a:srgbClr val="6572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6" name="円/楕円 56">
              <a:extLst>
                <a:ext uri="{FF2B5EF4-FFF2-40B4-BE49-F238E27FC236}">
                  <a16:creationId xmlns:a16="http://schemas.microsoft.com/office/drawing/2014/main" id="{E2E59412-F223-2C31-E8AD-0D40536F64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6138000"/>
              <a:ext cx="288037" cy="288000"/>
            </a:xfrm>
            <a:prstGeom prst="ellipse">
              <a:avLst/>
            </a:prstGeom>
            <a:solidFill>
              <a:srgbClr val="093E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7" name="円/楕円 57">
              <a:extLst>
                <a:ext uri="{FF2B5EF4-FFF2-40B4-BE49-F238E27FC236}">
                  <a16:creationId xmlns:a16="http://schemas.microsoft.com/office/drawing/2014/main" id="{1B641FF6-2B1F-571D-86B1-4DD7D6CAF14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6138000"/>
              <a:ext cx="288037" cy="288000"/>
            </a:xfrm>
            <a:prstGeom prst="ellipse">
              <a:avLst/>
            </a:prstGeom>
            <a:solidFill>
              <a:srgbClr val="6C8B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8" name="テキスト ボックス 59">
              <a:extLst>
                <a:ext uri="{FF2B5EF4-FFF2-40B4-BE49-F238E27FC236}">
                  <a16:creationId xmlns:a16="http://schemas.microsoft.com/office/drawing/2014/main" id="{AAD0CA50-4964-9E42-2A80-9DFD7DF6E54B}"/>
                </a:ext>
              </a:extLst>
            </p:cNvPr>
            <p:cNvSpPr txBox="1"/>
            <p:nvPr userDrawn="1"/>
          </p:nvSpPr>
          <p:spPr>
            <a:xfrm>
              <a:off x="-2160000" y="4461668"/>
              <a:ext cx="180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kumimoji="1" lang="en-US" altLang="ja-JP" sz="12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CTC Business Color</a:t>
              </a:r>
              <a:endParaRPr kumimoji="1" lang="ja-JP" altLang="en-US" sz="12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  <p:sp>
          <p:nvSpPr>
            <p:cNvPr id="29" name="テキスト ボックス 60">
              <a:extLst>
                <a:ext uri="{FF2B5EF4-FFF2-40B4-BE49-F238E27FC236}">
                  <a16:creationId xmlns:a16="http://schemas.microsoft.com/office/drawing/2014/main" id="{C3BB664E-5004-CAE7-0F48-77952A82F096}"/>
                </a:ext>
              </a:extLst>
            </p:cNvPr>
            <p:cNvSpPr txBox="1"/>
            <p:nvPr userDrawn="1"/>
          </p:nvSpPr>
          <p:spPr>
            <a:xfrm>
              <a:off x="-1296000" y="4842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統括</a:t>
              </a:r>
            </a:p>
          </p:txBody>
        </p:sp>
        <p:sp>
          <p:nvSpPr>
            <p:cNvPr id="30" name="テキスト ボックス 61">
              <a:extLst>
                <a:ext uri="{FF2B5EF4-FFF2-40B4-BE49-F238E27FC236}">
                  <a16:creationId xmlns:a16="http://schemas.microsoft.com/office/drawing/2014/main" id="{5F474275-DCEC-9436-7D06-F96DCD47530A}"/>
                </a:ext>
              </a:extLst>
            </p:cNvPr>
            <p:cNvSpPr txBox="1"/>
            <p:nvPr userDrawn="1"/>
          </p:nvSpPr>
          <p:spPr>
            <a:xfrm>
              <a:off x="-1296000" y="5274000"/>
              <a:ext cx="93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高度</a:t>
              </a:r>
              <a:r>
                <a:rPr kumimoji="1" lang="en-US" altLang="ja-JP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AI</a:t>
              </a:r>
              <a:endParaRPr kumimoji="1" lang="ja-JP" altLang="en-US" sz="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  <p:sp>
          <p:nvSpPr>
            <p:cNvPr id="31" name="テキスト ボックス 62">
              <a:extLst>
                <a:ext uri="{FF2B5EF4-FFF2-40B4-BE49-F238E27FC236}">
                  <a16:creationId xmlns:a16="http://schemas.microsoft.com/office/drawing/2014/main" id="{C40A5544-CB7F-7391-201D-05A4B743C08C}"/>
                </a:ext>
              </a:extLst>
            </p:cNvPr>
            <p:cNvSpPr txBox="1"/>
            <p:nvPr userDrawn="1"/>
          </p:nvSpPr>
          <p:spPr>
            <a:xfrm>
              <a:off x="-1296000" y="5706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データ＆</a:t>
              </a:r>
              <a:br>
                <a:rPr kumimoji="1" lang="en-US" altLang="ja-JP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</a:br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アナリティクス</a:t>
              </a:r>
            </a:p>
          </p:txBody>
        </p:sp>
        <p:sp>
          <p:nvSpPr>
            <p:cNvPr id="32" name="テキスト ボックス 63">
              <a:extLst>
                <a:ext uri="{FF2B5EF4-FFF2-40B4-BE49-F238E27FC236}">
                  <a16:creationId xmlns:a16="http://schemas.microsoft.com/office/drawing/2014/main" id="{88A7CA32-06B6-2BA5-6358-1776E41D3926}"/>
                </a:ext>
              </a:extLst>
            </p:cNvPr>
            <p:cNvSpPr txBox="1"/>
            <p:nvPr userDrawn="1"/>
          </p:nvSpPr>
          <p:spPr>
            <a:xfrm>
              <a:off x="-1296000" y="6138000"/>
              <a:ext cx="93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クラウド</a:t>
              </a:r>
              <a:br>
                <a:rPr kumimoji="1" lang="en-US" altLang="ja-JP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</a:br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ネイティブ</a:t>
              </a:r>
            </a:p>
          </p:txBody>
        </p:sp>
        <p:sp>
          <p:nvSpPr>
            <p:cNvPr id="33" name="テキスト ボックス 64">
              <a:extLst>
                <a:ext uri="{FF2B5EF4-FFF2-40B4-BE49-F238E27FC236}">
                  <a16:creationId xmlns:a16="http://schemas.microsoft.com/office/drawing/2014/main" id="{69DFCABE-732B-5C53-6E90-71C126047EAB}"/>
                </a:ext>
              </a:extLst>
            </p:cNvPr>
            <p:cNvSpPr txBox="1"/>
            <p:nvPr userDrawn="1"/>
          </p:nvSpPr>
          <p:spPr>
            <a:xfrm>
              <a:off x="-1296000" y="6570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セキュリティ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580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1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 userDrawn="1">
          <p15:clr>
            <a:srgbClr val="F26B43"/>
          </p15:clr>
        </p15:guide>
        <p15:guide id="2" pos="512" userDrawn="1">
          <p15:clr>
            <a:srgbClr val="F26B43"/>
          </p15:clr>
        </p15:guide>
        <p15:guide id="3" pos="7168" userDrawn="1">
          <p15:clr>
            <a:srgbClr val="F26B43"/>
          </p15:clr>
        </p15:guide>
        <p15:guide id="4" orient="horz" pos="1093" userDrawn="1">
          <p15:clr>
            <a:srgbClr val="F26B43"/>
          </p15:clr>
        </p15:guide>
        <p15:guide id="5" orient="horz" pos="391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38E3E008-31DD-08F5-CDC3-BE7C2192A431}"/>
              </a:ext>
            </a:extLst>
          </p:cNvPr>
          <p:cNvGrpSpPr/>
          <p:nvPr userDrawn="1"/>
        </p:nvGrpSpPr>
        <p:grpSpPr>
          <a:xfrm>
            <a:off x="-2160000" y="51671"/>
            <a:ext cx="1800000" cy="3260331"/>
            <a:chOff x="-2160000" y="51668"/>
            <a:chExt cx="1800000" cy="3260331"/>
          </a:xfrm>
        </p:grpSpPr>
        <p:sp>
          <p:nvSpPr>
            <p:cNvPr id="8" name="円/楕円 31">
              <a:extLst>
                <a:ext uri="{FF2B5EF4-FFF2-40B4-BE49-F238E27FC236}">
                  <a16:creationId xmlns:a16="http://schemas.microsoft.com/office/drawing/2014/main" id="{CBA1CA27-4715-5613-6C49-2B937C2573F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431999"/>
              <a:ext cx="288037" cy="28800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9" name="円/楕円 33">
              <a:extLst>
                <a:ext uri="{FF2B5EF4-FFF2-40B4-BE49-F238E27FC236}">
                  <a16:creationId xmlns:a16="http://schemas.microsoft.com/office/drawing/2014/main" id="{A93A0945-B293-3A83-4756-A9CF9AAA28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863999"/>
              <a:ext cx="288037" cy="28800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0" name="円/楕円 37">
              <a:extLst>
                <a:ext uri="{FF2B5EF4-FFF2-40B4-BE49-F238E27FC236}">
                  <a16:creationId xmlns:a16="http://schemas.microsoft.com/office/drawing/2014/main" id="{FAC9D042-D33C-2A1F-BB3D-250A972C15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1295999"/>
              <a:ext cx="288037" cy="28800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1" name="円/楕円 38">
              <a:extLst>
                <a:ext uri="{FF2B5EF4-FFF2-40B4-BE49-F238E27FC236}">
                  <a16:creationId xmlns:a16="http://schemas.microsoft.com/office/drawing/2014/main" id="{58269898-25A3-AEC9-A567-6699F0D187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431999"/>
              <a:ext cx="288037" cy="28800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2" name="円/楕円 39">
              <a:extLst>
                <a:ext uri="{FF2B5EF4-FFF2-40B4-BE49-F238E27FC236}">
                  <a16:creationId xmlns:a16="http://schemas.microsoft.com/office/drawing/2014/main" id="{FB887C3D-D8BC-39C6-C2B1-329E63337CD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863999"/>
              <a:ext cx="288037" cy="28800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3" name="円/楕円 40">
              <a:extLst>
                <a:ext uri="{FF2B5EF4-FFF2-40B4-BE49-F238E27FC236}">
                  <a16:creationId xmlns:a16="http://schemas.microsoft.com/office/drawing/2014/main" id="{A07EA5C4-8C34-7594-A08B-0C8ACCC3E8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1727999"/>
              <a:ext cx="288037" cy="28800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4" name="円/楕円 41">
              <a:extLst>
                <a:ext uri="{FF2B5EF4-FFF2-40B4-BE49-F238E27FC236}">
                  <a16:creationId xmlns:a16="http://schemas.microsoft.com/office/drawing/2014/main" id="{48B4DC84-21AB-FD1A-1CA7-5F3477D208E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1727999"/>
              <a:ext cx="288037" cy="28800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5" name="円/楕円 42">
              <a:extLst>
                <a:ext uri="{FF2B5EF4-FFF2-40B4-BE49-F238E27FC236}">
                  <a16:creationId xmlns:a16="http://schemas.microsoft.com/office/drawing/2014/main" id="{2CAA1D65-48AA-9B6B-7B13-2D3F9F4800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2157916"/>
              <a:ext cx="288037" cy="28800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円/楕円 43">
              <a:extLst>
                <a:ext uri="{FF2B5EF4-FFF2-40B4-BE49-F238E27FC236}">
                  <a16:creationId xmlns:a16="http://schemas.microsoft.com/office/drawing/2014/main" id="{9938D77F-F2F5-D2A7-C77F-1A3F2B80DA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2159999"/>
              <a:ext cx="288037" cy="28800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7" name="円/楕円 44">
              <a:extLst>
                <a:ext uri="{FF2B5EF4-FFF2-40B4-BE49-F238E27FC236}">
                  <a16:creationId xmlns:a16="http://schemas.microsoft.com/office/drawing/2014/main" id="{2158FF14-60E2-3D68-72E1-2FC0C80171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2591999"/>
              <a:ext cx="288037" cy="28800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8" name="円/楕円 45">
              <a:extLst>
                <a:ext uri="{FF2B5EF4-FFF2-40B4-BE49-F238E27FC236}">
                  <a16:creationId xmlns:a16="http://schemas.microsoft.com/office/drawing/2014/main" id="{368ED112-65E2-51B7-2B72-A66B3DA70B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2591999"/>
              <a:ext cx="288037" cy="28800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円/楕円 46">
              <a:extLst>
                <a:ext uri="{FF2B5EF4-FFF2-40B4-BE49-F238E27FC236}">
                  <a16:creationId xmlns:a16="http://schemas.microsoft.com/office/drawing/2014/main" id="{2F1CDA0C-6692-E351-6A26-EAE0C77A8B5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3023999"/>
              <a:ext cx="288037" cy="28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0" name="円/楕円 47">
              <a:extLst>
                <a:ext uri="{FF2B5EF4-FFF2-40B4-BE49-F238E27FC236}">
                  <a16:creationId xmlns:a16="http://schemas.microsoft.com/office/drawing/2014/main" id="{59E715B0-9E78-E06C-B512-D112334505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3023999"/>
              <a:ext cx="288037" cy="28800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1" name="テキスト ボックス 58">
              <a:extLst>
                <a:ext uri="{FF2B5EF4-FFF2-40B4-BE49-F238E27FC236}">
                  <a16:creationId xmlns:a16="http://schemas.microsoft.com/office/drawing/2014/main" id="{FD6EFD31-EF0A-0EA8-2449-4614D6714A7B}"/>
                </a:ext>
              </a:extLst>
            </p:cNvPr>
            <p:cNvSpPr txBox="1"/>
            <p:nvPr userDrawn="1"/>
          </p:nvSpPr>
          <p:spPr>
            <a:xfrm>
              <a:off x="-2160000" y="51668"/>
              <a:ext cx="180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kumimoji="1" lang="en-US" altLang="ja-JP" sz="12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CTC Basic Color</a:t>
              </a:r>
              <a:endParaRPr kumimoji="1" lang="ja-JP" altLang="en-US" sz="12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</p:grpSp>
      <p:grpSp>
        <p:nvGrpSpPr>
          <p:cNvPr id="22" name="Group 16">
            <a:extLst>
              <a:ext uri="{FF2B5EF4-FFF2-40B4-BE49-F238E27FC236}">
                <a16:creationId xmlns:a16="http://schemas.microsoft.com/office/drawing/2014/main" id="{66C01093-789D-5A48-6262-E91AA5129CEB}"/>
              </a:ext>
            </a:extLst>
          </p:cNvPr>
          <p:cNvGrpSpPr/>
          <p:nvPr userDrawn="1"/>
        </p:nvGrpSpPr>
        <p:grpSpPr>
          <a:xfrm>
            <a:off x="-2160000" y="4461669"/>
            <a:ext cx="1800000" cy="2396332"/>
            <a:chOff x="-2160000" y="4461668"/>
            <a:chExt cx="1800000" cy="2396332"/>
          </a:xfrm>
        </p:grpSpPr>
        <p:sp>
          <p:nvSpPr>
            <p:cNvPr id="23" name="円/楕円 48">
              <a:extLst>
                <a:ext uri="{FF2B5EF4-FFF2-40B4-BE49-F238E27FC236}">
                  <a16:creationId xmlns:a16="http://schemas.microsoft.com/office/drawing/2014/main" id="{A9E9F1C1-4F8E-7929-AC08-4F90C4B4B6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4842000"/>
              <a:ext cx="288037" cy="288000"/>
            </a:xfrm>
            <a:prstGeom prst="ellipse">
              <a:avLst/>
            </a:prstGeom>
            <a:solidFill>
              <a:srgbClr val="0126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4" name="円/楕円 49">
              <a:extLst>
                <a:ext uri="{FF2B5EF4-FFF2-40B4-BE49-F238E27FC236}">
                  <a16:creationId xmlns:a16="http://schemas.microsoft.com/office/drawing/2014/main" id="{0E8E66C0-1C35-67F7-BCBD-181E8C5870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4842000"/>
              <a:ext cx="288037" cy="288000"/>
            </a:xfrm>
            <a:prstGeom prst="ellipse">
              <a:avLst/>
            </a:prstGeom>
            <a:solidFill>
              <a:srgbClr val="677D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5" name="円/楕円 50">
              <a:extLst>
                <a:ext uri="{FF2B5EF4-FFF2-40B4-BE49-F238E27FC236}">
                  <a16:creationId xmlns:a16="http://schemas.microsoft.com/office/drawing/2014/main" id="{C06A7746-72BD-49C1-78A9-01F53C7C8F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5706000"/>
              <a:ext cx="288037" cy="288000"/>
            </a:xfrm>
            <a:prstGeom prst="ellipse">
              <a:avLst/>
            </a:prstGeom>
            <a:solidFill>
              <a:srgbClr val="5439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6" name="円/楕円 51">
              <a:extLst>
                <a:ext uri="{FF2B5EF4-FFF2-40B4-BE49-F238E27FC236}">
                  <a16:creationId xmlns:a16="http://schemas.microsoft.com/office/drawing/2014/main" id="{58C9BBC7-4D33-15C2-4861-CA39F0739F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5706000"/>
              <a:ext cx="288037" cy="288000"/>
            </a:xfrm>
            <a:prstGeom prst="ellipse">
              <a:avLst/>
            </a:prstGeom>
            <a:solidFill>
              <a:srgbClr val="9888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7" name="円/楕円 52">
              <a:extLst>
                <a:ext uri="{FF2B5EF4-FFF2-40B4-BE49-F238E27FC236}">
                  <a16:creationId xmlns:a16="http://schemas.microsoft.com/office/drawing/2014/main" id="{0DCE83AC-0C48-AE7F-241F-699D6640B3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5274000"/>
              <a:ext cx="288037" cy="28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8" name="円/楕円 53">
              <a:extLst>
                <a:ext uri="{FF2B5EF4-FFF2-40B4-BE49-F238E27FC236}">
                  <a16:creationId xmlns:a16="http://schemas.microsoft.com/office/drawing/2014/main" id="{C794CE8F-87E9-B468-1C34-7D88DC83671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5274000"/>
              <a:ext cx="288037" cy="288000"/>
            </a:xfrm>
            <a:prstGeom prst="ellipse">
              <a:avLst/>
            </a:prstGeom>
            <a:solidFill>
              <a:srgbClr val="6565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9" name="円/楕円 54">
              <a:extLst>
                <a:ext uri="{FF2B5EF4-FFF2-40B4-BE49-F238E27FC236}">
                  <a16:creationId xmlns:a16="http://schemas.microsoft.com/office/drawing/2014/main" id="{FA15C998-CC1B-2B9E-D9FF-FD69B54C0B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6570000"/>
              <a:ext cx="288037" cy="288000"/>
            </a:xfrm>
            <a:prstGeom prst="ellipse">
              <a:avLst/>
            </a:prstGeom>
            <a:solidFill>
              <a:srgbClr val="0015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0" name="円/楕円 55">
              <a:extLst>
                <a:ext uri="{FF2B5EF4-FFF2-40B4-BE49-F238E27FC236}">
                  <a16:creationId xmlns:a16="http://schemas.microsoft.com/office/drawing/2014/main" id="{E3ECCAB4-2D61-9A5A-DB2A-D6F41A10BF2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6570000"/>
              <a:ext cx="288037" cy="288000"/>
            </a:xfrm>
            <a:prstGeom prst="ellipse">
              <a:avLst/>
            </a:prstGeom>
            <a:solidFill>
              <a:srgbClr val="6572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1" name="円/楕円 56">
              <a:extLst>
                <a:ext uri="{FF2B5EF4-FFF2-40B4-BE49-F238E27FC236}">
                  <a16:creationId xmlns:a16="http://schemas.microsoft.com/office/drawing/2014/main" id="{240556BC-D026-1AE0-21D7-AE335219CD2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6138000"/>
              <a:ext cx="288037" cy="288000"/>
            </a:xfrm>
            <a:prstGeom prst="ellipse">
              <a:avLst/>
            </a:prstGeom>
            <a:solidFill>
              <a:srgbClr val="093E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2" name="円/楕円 57">
              <a:extLst>
                <a:ext uri="{FF2B5EF4-FFF2-40B4-BE49-F238E27FC236}">
                  <a16:creationId xmlns:a16="http://schemas.microsoft.com/office/drawing/2014/main" id="{95DE6908-3DC9-2967-00BC-25A0E89D34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6138000"/>
              <a:ext cx="288037" cy="288000"/>
            </a:xfrm>
            <a:prstGeom prst="ellipse">
              <a:avLst/>
            </a:prstGeom>
            <a:solidFill>
              <a:srgbClr val="6C8B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3" name="テキスト ボックス 59">
              <a:extLst>
                <a:ext uri="{FF2B5EF4-FFF2-40B4-BE49-F238E27FC236}">
                  <a16:creationId xmlns:a16="http://schemas.microsoft.com/office/drawing/2014/main" id="{E2D28A87-339C-0BE2-8C1B-8BD33845717E}"/>
                </a:ext>
              </a:extLst>
            </p:cNvPr>
            <p:cNvSpPr txBox="1"/>
            <p:nvPr userDrawn="1"/>
          </p:nvSpPr>
          <p:spPr>
            <a:xfrm>
              <a:off x="-2160000" y="4461668"/>
              <a:ext cx="180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kumimoji="1" lang="en-US" altLang="ja-JP" sz="12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CTC Business Color</a:t>
              </a:r>
              <a:endParaRPr kumimoji="1" lang="ja-JP" altLang="en-US" sz="12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  <p:sp>
          <p:nvSpPr>
            <p:cNvPr id="34" name="テキスト ボックス 60">
              <a:extLst>
                <a:ext uri="{FF2B5EF4-FFF2-40B4-BE49-F238E27FC236}">
                  <a16:creationId xmlns:a16="http://schemas.microsoft.com/office/drawing/2014/main" id="{A804B49C-00F4-C0A7-8E9E-661F2FE1C275}"/>
                </a:ext>
              </a:extLst>
            </p:cNvPr>
            <p:cNvSpPr txBox="1"/>
            <p:nvPr userDrawn="1"/>
          </p:nvSpPr>
          <p:spPr>
            <a:xfrm>
              <a:off x="-1296000" y="4842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統括</a:t>
              </a:r>
            </a:p>
          </p:txBody>
        </p:sp>
        <p:sp>
          <p:nvSpPr>
            <p:cNvPr id="35" name="テキスト ボックス 61">
              <a:extLst>
                <a:ext uri="{FF2B5EF4-FFF2-40B4-BE49-F238E27FC236}">
                  <a16:creationId xmlns:a16="http://schemas.microsoft.com/office/drawing/2014/main" id="{3DFBA4E2-C622-4F62-279E-5876E8F6CCDE}"/>
                </a:ext>
              </a:extLst>
            </p:cNvPr>
            <p:cNvSpPr txBox="1"/>
            <p:nvPr userDrawn="1"/>
          </p:nvSpPr>
          <p:spPr>
            <a:xfrm>
              <a:off x="-1296000" y="5274000"/>
              <a:ext cx="93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高度</a:t>
              </a:r>
              <a:r>
                <a:rPr kumimoji="1" lang="en-US" altLang="ja-JP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AI</a:t>
              </a:r>
              <a:endParaRPr kumimoji="1" lang="ja-JP" altLang="en-US" sz="800"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  <p:sp>
          <p:nvSpPr>
            <p:cNvPr id="36" name="テキスト ボックス 62">
              <a:extLst>
                <a:ext uri="{FF2B5EF4-FFF2-40B4-BE49-F238E27FC236}">
                  <a16:creationId xmlns:a16="http://schemas.microsoft.com/office/drawing/2014/main" id="{CEAE93D5-79E4-7292-E977-ECA2FC710F61}"/>
                </a:ext>
              </a:extLst>
            </p:cNvPr>
            <p:cNvSpPr txBox="1"/>
            <p:nvPr userDrawn="1"/>
          </p:nvSpPr>
          <p:spPr>
            <a:xfrm>
              <a:off x="-1296000" y="5706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データ＆</a:t>
              </a:r>
              <a:br>
                <a:rPr kumimoji="1" lang="en-US" altLang="ja-JP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</a:br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アナリティクス</a:t>
              </a:r>
            </a:p>
          </p:txBody>
        </p:sp>
        <p:sp>
          <p:nvSpPr>
            <p:cNvPr id="37" name="テキスト ボックス 63">
              <a:extLst>
                <a:ext uri="{FF2B5EF4-FFF2-40B4-BE49-F238E27FC236}">
                  <a16:creationId xmlns:a16="http://schemas.microsoft.com/office/drawing/2014/main" id="{24BB877D-C964-A5FB-8FC5-AEF25E0C3952}"/>
                </a:ext>
              </a:extLst>
            </p:cNvPr>
            <p:cNvSpPr txBox="1"/>
            <p:nvPr userDrawn="1"/>
          </p:nvSpPr>
          <p:spPr>
            <a:xfrm>
              <a:off x="-1296000" y="6138000"/>
              <a:ext cx="93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クラウド</a:t>
              </a:r>
              <a:br>
                <a:rPr kumimoji="1" lang="en-US" altLang="ja-JP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</a:br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ネイティブ</a:t>
              </a:r>
            </a:p>
          </p:txBody>
        </p:sp>
        <p:sp>
          <p:nvSpPr>
            <p:cNvPr id="38" name="テキスト ボックス 64">
              <a:extLst>
                <a:ext uri="{FF2B5EF4-FFF2-40B4-BE49-F238E27FC236}">
                  <a16:creationId xmlns:a16="http://schemas.microsoft.com/office/drawing/2014/main" id="{E3831BFD-7245-3131-031D-241B1A3C69B1}"/>
                </a:ext>
              </a:extLst>
            </p:cNvPr>
            <p:cNvSpPr txBox="1"/>
            <p:nvPr userDrawn="1"/>
          </p:nvSpPr>
          <p:spPr>
            <a:xfrm>
              <a:off x="-1296000" y="6570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bg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セキュリティ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65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4" r:id="rId13"/>
    <p:sldLayoutId id="2147483819" r:id="rId14"/>
    <p:sldLayoutId id="214748382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 userDrawn="1">
          <p15:clr>
            <a:srgbClr val="F26B43"/>
          </p15:clr>
        </p15:guide>
        <p15:guide id="2" pos="512" userDrawn="1">
          <p15:clr>
            <a:srgbClr val="F26B43"/>
          </p15:clr>
        </p15:guide>
        <p15:guide id="3" pos="7168" userDrawn="1">
          <p15:clr>
            <a:srgbClr val="F26B43"/>
          </p15:clr>
        </p15:guide>
        <p15:guide id="4" orient="horz" pos="1094" userDrawn="1">
          <p15:clr>
            <a:srgbClr val="F26B43"/>
          </p15:clr>
        </p15:guide>
        <p15:guide id="5" orient="horz" pos="391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3143B2AF-CA8B-81A2-5E71-E019027C2D3F}"/>
              </a:ext>
            </a:extLst>
          </p:cNvPr>
          <p:cNvGrpSpPr/>
          <p:nvPr userDrawn="1"/>
        </p:nvGrpSpPr>
        <p:grpSpPr>
          <a:xfrm>
            <a:off x="-2160000" y="51671"/>
            <a:ext cx="1800000" cy="3260331"/>
            <a:chOff x="-2160000" y="51668"/>
            <a:chExt cx="1800000" cy="3260331"/>
          </a:xfrm>
        </p:grpSpPr>
        <p:sp>
          <p:nvSpPr>
            <p:cNvPr id="8" name="円/楕円 31">
              <a:extLst>
                <a:ext uri="{FF2B5EF4-FFF2-40B4-BE49-F238E27FC236}">
                  <a16:creationId xmlns:a16="http://schemas.microsoft.com/office/drawing/2014/main" id="{7EA8715F-E953-58BA-CB17-02BA46C91B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431999"/>
              <a:ext cx="288037" cy="288000"/>
            </a:xfrm>
            <a:prstGeom prst="ellipse">
              <a:avLst/>
            </a:prstGeom>
            <a:solidFill>
              <a:srgbClr val="005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9" name="円/楕円 33">
              <a:extLst>
                <a:ext uri="{FF2B5EF4-FFF2-40B4-BE49-F238E27FC236}">
                  <a16:creationId xmlns:a16="http://schemas.microsoft.com/office/drawing/2014/main" id="{4AD511A7-2797-ECE8-FC9F-3ECFBA8EDF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863999"/>
              <a:ext cx="288037" cy="288000"/>
            </a:xfrm>
            <a:prstGeom prst="ellipse">
              <a:avLst/>
            </a:prstGeom>
            <a:solidFill>
              <a:srgbClr val="4C8D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0" name="円/楕円 37">
              <a:extLst>
                <a:ext uri="{FF2B5EF4-FFF2-40B4-BE49-F238E27FC236}">
                  <a16:creationId xmlns:a16="http://schemas.microsoft.com/office/drawing/2014/main" id="{825DAA3D-B401-663A-A9AD-02AC537BC49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1295999"/>
              <a:ext cx="288037" cy="288000"/>
            </a:xfrm>
            <a:prstGeom prst="ellipse">
              <a:avLst/>
            </a:prstGeom>
            <a:solidFill>
              <a:srgbClr val="99B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1" name="円/楕円 38">
              <a:extLst>
                <a:ext uri="{FF2B5EF4-FFF2-40B4-BE49-F238E27FC236}">
                  <a16:creationId xmlns:a16="http://schemas.microsoft.com/office/drawing/2014/main" id="{DDFB728C-DF7D-9E0B-F85F-9692EB51D7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431999"/>
              <a:ext cx="288037" cy="288000"/>
            </a:xfrm>
            <a:prstGeom prst="ellipse">
              <a:avLst/>
            </a:prstGeom>
            <a:solidFill>
              <a:srgbClr val="013D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2" name="円/楕円 39">
              <a:extLst>
                <a:ext uri="{FF2B5EF4-FFF2-40B4-BE49-F238E27FC236}">
                  <a16:creationId xmlns:a16="http://schemas.microsoft.com/office/drawing/2014/main" id="{11E32F8C-53D6-9507-58AF-FF08C2389C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863999"/>
              <a:ext cx="288037" cy="288000"/>
            </a:xfrm>
            <a:prstGeom prst="ellipse">
              <a:avLst/>
            </a:prstGeom>
            <a:solidFill>
              <a:srgbClr val="002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3" name="円/楕円 40">
              <a:extLst>
                <a:ext uri="{FF2B5EF4-FFF2-40B4-BE49-F238E27FC236}">
                  <a16:creationId xmlns:a16="http://schemas.microsoft.com/office/drawing/2014/main" id="{0BA47660-E829-CD4B-4910-30C5D638F16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1727999"/>
              <a:ext cx="288037" cy="288000"/>
            </a:xfrm>
            <a:prstGeom prst="ellipse">
              <a:avLst/>
            </a:prstGeom>
            <a:solidFill>
              <a:srgbClr val="01B1C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4" name="円/楕円 41">
              <a:extLst>
                <a:ext uri="{FF2B5EF4-FFF2-40B4-BE49-F238E27FC236}">
                  <a16:creationId xmlns:a16="http://schemas.microsoft.com/office/drawing/2014/main" id="{C9239CD4-FC02-02D4-D384-555D038C95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1727999"/>
              <a:ext cx="288037" cy="288000"/>
            </a:xfrm>
            <a:prstGeom prst="ellipse">
              <a:avLst/>
            </a:prstGeom>
            <a:solidFill>
              <a:srgbClr val="CD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5" name="円/楕円 42">
              <a:extLst>
                <a:ext uri="{FF2B5EF4-FFF2-40B4-BE49-F238E27FC236}">
                  <a16:creationId xmlns:a16="http://schemas.microsoft.com/office/drawing/2014/main" id="{ABBDE4ED-3A8C-3CD6-C6C0-E15CC44CE5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2157916"/>
              <a:ext cx="288037" cy="288000"/>
            </a:xfrm>
            <a:prstGeom prst="ellipse">
              <a:avLst/>
            </a:prstGeom>
            <a:solidFill>
              <a:srgbClr val="0092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6" name="円/楕円 43">
              <a:extLst>
                <a:ext uri="{FF2B5EF4-FFF2-40B4-BE49-F238E27FC236}">
                  <a16:creationId xmlns:a16="http://schemas.microsoft.com/office/drawing/2014/main" id="{22539870-9F7B-DEBC-A214-3DE15C4630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2159999"/>
              <a:ext cx="288037" cy="288000"/>
            </a:xfrm>
            <a:prstGeom prst="ellipse">
              <a:avLst/>
            </a:prstGeom>
            <a:solidFill>
              <a:srgbClr val="CDE9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7" name="円/楕円 44">
              <a:extLst>
                <a:ext uri="{FF2B5EF4-FFF2-40B4-BE49-F238E27FC236}">
                  <a16:creationId xmlns:a16="http://schemas.microsoft.com/office/drawing/2014/main" id="{025EC563-6DC1-650B-B759-3FF4A7FD0C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2591999"/>
              <a:ext cx="288037" cy="288000"/>
            </a:xfrm>
            <a:prstGeom prst="ellipse">
              <a:avLst/>
            </a:prstGeom>
            <a:solidFill>
              <a:srgbClr val="E8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8" name="円/楕円 45">
              <a:extLst>
                <a:ext uri="{FF2B5EF4-FFF2-40B4-BE49-F238E27FC236}">
                  <a16:creationId xmlns:a16="http://schemas.microsoft.com/office/drawing/2014/main" id="{045622E9-3923-DBC5-381B-B85C12F071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2591999"/>
              <a:ext cx="288037" cy="288000"/>
            </a:xfrm>
            <a:prstGeom prst="ellipse">
              <a:avLst/>
            </a:prstGeom>
            <a:solidFill>
              <a:srgbClr val="FBCD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9" name="円/楕円 46">
              <a:extLst>
                <a:ext uri="{FF2B5EF4-FFF2-40B4-BE49-F238E27FC236}">
                  <a16:creationId xmlns:a16="http://schemas.microsoft.com/office/drawing/2014/main" id="{2A0A3058-59DF-BFE1-7064-DBA546B8446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3023999"/>
              <a:ext cx="288037" cy="28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0" name="円/楕円 47">
              <a:extLst>
                <a:ext uri="{FF2B5EF4-FFF2-40B4-BE49-F238E27FC236}">
                  <a16:creationId xmlns:a16="http://schemas.microsoft.com/office/drawing/2014/main" id="{74AFBF74-0104-1889-6D7F-F5C6C664C4F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3023999"/>
              <a:ext cx="288037" cy="288000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1" name="テキスト ボックス 58">
              <a:extLst>
                <a:ext uri="{FF2B5EF4-FFF2-40B4-BE49-F238E27FC236}">
                  <a16:creationId xmlns:a16="http://schemas.microsoft.com/office/drawing/2014/main" id="{F10F6540-BC88-452C-5B9A-FF78AF9DCC98}"/>
                </a:ext>
              </a:extLst>
            </p:cNvPr>
            <p:cNvSpPr txBox="1"/>
            <p:nvPr userDrawn="1"/>
          </p:nvSpPr>
          <p:spPr>
            <a:xfrm>
              <a:off x="-2160000" y="51668"/>
              <a:ext cx="180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kumimoji="1" lang="en-US" altLang="ja-JP" sz="12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CTC Basic Color</a:t>
              </a:r>
              <a:endParaRPr kumimoji="1" lang="ja-JP" altLang="en-US" sz="12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</p:grpSp>
      <p:grpSp>
        <p:nvGrpSpPr>
          <p:cNvPr id="22" name="Group 16">
            <a:extLst>
              <a:ext uri="{FF2B5EF4-FFF2-40B4-BE49-F238E27FC236}">
                <a16:creationId xmlns:a16="http://schemas.microsoft.com/office/drawing/2014/main" id="{3DFF3929-A9A4-F854-50CE-7377DB9B3EDF}"/>
              </a:ext>
            </a:extLst>
          </p:cNvPr>
          <p:cNvGrpSpPr/>
          <p:nvPr userDrawn="1"/>
        </p:nvGrpSpPr>
        <p:grpSpPr>
          <a:xfrm>
            <a:off x="-2160000" y="4461669"/>
            <a:ext cx="1800000" cy="2396332"/>
            <a:chOff x="-2160000" y="4461668"/>
            <a:chExt cx="1800000" cy="2396332"/>
          </a:xfrm>
        </p:grpSpPr>
        <p:sp>
          <p:nvSpPr>
            <p:cNvPr id="23" name="円/楕円 48">
              <a:extLst>
                <a:ext uri="{FF2B5EF4-FFF2-40B4-BE49-F238E27FC236}">
                  <a16:creationId xmlns:a16="http://schemas.microsoft.com/office/drawing/2014/main" id="{099DBA17-DBAA-2A40-1ECD-F2C388AC06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4842000"/>
              <a:ext cx="288037" cy="288000"/>
            </a:xfrm>
            <a:prstGeom prst="ellipse">
              <a:avLst/>
            </a:prstGeom>
            <a:solidFill>
              <a:srgbClr val="0126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4" name="円/楕円 49">
              <a:extLst>
                <a:ext uri="{FF2B5EF4-FFF2-40B4-BE49-F238E27FC236}">
                  <a16:creationId xmlns:a16="http://schemas.microsoft.com/office/drawing/2014/main" id="{4FDD8D3C-2163-D5FF-D771-DDFE6A98A2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4842000"/>
              <a:ext cx="288037" cy="288000"/>
            </a:xfrm>
            <a:prstGeom prst="ellipse">
              <a:avLst/>
            </a:prstGeom>
            <a:solidFill>
              <a:srgbClr val="677D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5" name="円/楕円 50">
              <a:extLst>
                <a:ext uri="{FF2B5EF4-FFF2-40B4-BE49-F238E27FC236}">
                  <a16:creationId xmlns:a16="http://schemas.microsoft.com/office/drawing/2014/main" id="{75D0B2DE-9CFD-4BAC-C1DB-278D5666DE6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5706000"/>
              <a:ext cx="288037" cy="288000"/>
            </a:xfrm>
            <a:prstGeom prst="ellipse">
              <a:avLst/>
            </a:prstGeom>
            <a:solidFill>
              <a:srgbClr val="5439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6" name="円/楕円 51">
              <a:extLst>
                <a:ext uri="{FF2B5EF4-FFF2-40B4-BE49-F238E27FC236}">
                  <a16:creationId xmlns:a16="http://schemas.microsoft.com/office/drawing/2014/main" id="{56861024-6265-4548-BC82-F817C8E2272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5706000"/>
              <a:ext cx="288037" cy="288000"/>
            </a:xfrm>
            <a:prstGeom prst="ellipse">
              <a:avLst/>
            </a:prstGeom>
            <a:solidFill>
              <a:srgbClr val="9888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7" name="円/楕円 52">
              <a:extLst>
                <a:ext uri="{FF2B5EF4-FFF2-40B4-BE49-F238E27FC236}">
                  <a16:creationId xmlns:a16="http://schemas.microsoft.com/office/drawing/2014/main" id="{08809F74-67A4-043E-DA72-A6BD08CED85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5274000"/>
              <a:ext cx="288037" cy="28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8" name="円/楕円 53">
              <a:extLst>
                <a:ext uri="{FF2B5EF4-FFF2-40B4-BE49-F238E27FC236}">
                  <a16:creationId xmlns:a16="http://schemas.microsoft.com/office/drawing/2014/main" id="{8358D67C-C23A-532E-41FA-E41C12F5647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5274000"/>
              <a:ext cx="288037" cy="288000"/>
            </a:xfrm>
            <a:prstGeom prst="ellipse">
              <a:avLst/>
            </a:prstGeom>
            <a:solidFill>
              <a:srgbClr val="65656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9" name="円/楕円 54">
              <a:extLst>
                <a:ext uri="{FF2B5EF4-FFF2-40B4-BE49-F238E27FC236}">
                  <a16:creationId xmlns:a16="http://schemas.microsoft.com/office/drawing/2014/main" id="{62460CF2-90EA-9330-366F-80CC6901798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6570000"/>
              <a:ext cx="288037" cy="288000"/>
            </a:xfrm>
            <a:prstGeom prst="ellipse">
              <a:avLst/>
            </a:prstGeom>
            <a:solidFill>
              <a:srgbClr val="0015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0" name="円/楕円 55">
              <a:extLst>
                <a:ext uri="{FF2B5EF4-FFF2-40B4-BE49-F238E27FC236}">
                  <a16:creationId xmlns:a16="http://schemas.microsoft.com/office/drawing/2014/main" id="{788FBBBD-6469-8E45-23A7-140D4E688D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6570000"/>
              <a:ext cx="288037" cy="288000"/>
            </a:xfrm>
            <a:prstGeom prst="ellipse">
              <a:avLst/>
            </a:prstGeom>
            <a:solidFill>
              <a:srgbClr val="6572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1" name="円/楕円 56">
              <a:extLst>
                <a:ext uri="{FF2B5EF4-FFF2-40B4-BE49-F238E27FC236}">
                  <a16:creationId xmlns:a16="http://schemas.microsoft.com/office/drawing/2014/main" id="{E6A68D7B-4710-CB09-C4D2-0627F0CA67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160000" y="6138000"/>
              <a:ext cx="288037" cy="288000"/>
            </a:xfrm>
            <a:prstGeom prst="ellipse">
              <a:avLst/>
            </a:prstGeom>
            <a:solidFill>
              <a:srgbClr val="093E0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2" name="円/楕円 57">
              <a:extLst>
                <a:ext uri="{FF2B5EF4-FFF2-40B4-BE49-F238E27FC236}">
                  <a16:creationId xmlns:a16="http://schemas.microsoft.com/office/drawing/2014/main" id="{B3B0D4F5-7FF4-6362-B5D1-CC48F614D0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800000" y="6138000"/>
              <a:ext cx="288037" cy="288000"/>
            </a:xfrm>
            <a:prstGeom prst="ellipse">
              <a:avLst/>
            </a:prstGeom>
            <a:solidFill>
              <a:srgbClr val="6C8B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3" name="テキスト ボックス 59">
              <a:extLst>
                <a:ext uri="{FF2B5EF4-FFF2-40B4-BE49-F238E27FC236}">
                  <a16:creationId xmlns:a16="http://schemas.microsoft.com/office/drawing/2014/main" id="{F424789B-63F1-7FD9-E134-5EF1FFC88627}"/>
                </a:ext>
              </a:extLst>
            </p:cNvPr>
            <p:cNvSpPr txBox="1"/>
            <p:nvPr userDrawn="1"/>
          </p:nvSpPr>
          <p:spPr>
            <a:xfrm>
              <a:off x="-2160000" y="4461668"/>
              <a:ext cx="180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kumimoji="1" lang="en-US" altLang="ja-JP" sz="12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CTC Business Color</a:t>
              </a:r>
              <a:endParaRPr kumimoji="1" lang="ja-JP" altLang="en-US" sz="12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  <p:sp>
          <p:nvSpPr>
            <p:cNvPr id="34" name="テキスト ボックス 60">
              <a:extLst>
                <a:ext uri="{FF2B5EF4-FFF2-40B4-BE49-F238E27FC236}">
                  <a16:creationId xmlns:a16="http://schemas.microsoft.com/office/drawing/2014/main" id="{0FA05D56-3228-D3AF-A1E5-0F292E027F17}"/>
                </a:ext>
              </a:extLst>
            </p:cNvPr>
            <p:cNvSpPr txBox="1"/>
            <p:nvPr userDrawn="1"/>
          </p:nvSpPr>
          <p:spPr>
            <a:xfrm>
              <a:off x="-1296000" y="4842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統括</a:t>
              </a:r>
            </a:p>
          </p:txBody>
        </p:sp>
        <p:sp>
          <p:nvSpPr>
            <p:cNvPr id="35" name="テキスト ボックス 61">
              <a:extLst>
                <a:ext uri="{FF2B5EF4-FFF2-40B4-BE49-F238E27FC236}">
                  <a16:creationId xmlns:a16="http://schemas.microsoft.com/office/drawing/2014/main" id="{BEDFC717-3746-DCCF-EA51-B57F572F2EDE}"/>
                </a:ext>
              </a:extLst>
            </p:cNvPr>
            <p:cNvSpPr txBox="1"/>
            <p:nvPr userDrawn="1"/>
          </p:nvSpPr>
          <p:spPr>
            <a:xfrm>
              <a:off x="-1296000" y="5274000"/>
              <a:ext cx="93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高度</a:t>
              </a:r>
              <a:r>
                <a:rPr kumimoji="1" lang="en-US" altLang="ja-JP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AI</a:t>
              </a:r>
              <a:endParaRPr kumimoji="1" lang="ja-JP" altLang="en-US" sz="800" b="0" i="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endParaRPr>
            </a:p>
          </p:txBody>
        </p:sp>
        <p:sp>
          <p:nvSpPr>
            <p:cNvPr id="36" name="テキスト ボックス 62">
              <a:extLst>
                <a:ext uri="{FF2B5EF4-FFF2-40B4-BE49-F238E27FC236}">
                  <a16:creationId xmlns:a16="http://schemas.microsoft.com/office/drawing/2014/main" id="{19CBC4AD-2718-5193-DC9F-47A2941A7587}"/>
                </a:ext>
              </a:extLst>
            </p:cNvPr>
            <p:cNvSpPr txBox="1"/>
            <p:nvPr userDrawn="1"/>
          </p:nvSpPr>
          <p:spPr>
            <a:xfrm>
              <a:off x="-1296000" y="5706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データ＆</a:t>
              </a:r>
              <a:br>
                <a:rPr kumimoji="1" lang="en-US" altLang="ja-JP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</a:br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アナリティクス</a:t>
              </a:r>
            </a:p>
          </p:txBody>
        </p:sp>
        <p:sp>
          <p:nvSpPr>
            <p:cNvPr id="37" name="テキスト ボックス 63">
              <a:extLst>
                <a:ext uri="{FF2B5EF4-FFF2-40B4-BE49-F238E27FC236}">
                  <a16:creationId xmlns:a16="http://schemas.microsoft.com/office/drawing/2014/main" id="{DACA1715-A211-6D1B-8E1E-019C04B430AC}"/>
                </a:ext>
              </a:extLst>
            </p:cNvPr>
            <p:cNvSpPr txBox="1"/>
            <p:nvPr userDrawn="1"/>
          </p:nvSpPr>
          <p:spPr>
            <a:xfrm>
              <a:off x="-1296000" y="6138000"/>
              <a:ext cx="936000" cy="288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クラウド</a:t>
              </a:r>
              <a:br>
                <a:rPr kumimoji="1" lang="en-US" altLang="ja-JP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</a:br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ネイティブ</a:t>
              </a:r>
            </a:p>
          </p:txBody>
        </p:sp>
        <p:sp>
          <p:nvSpPr>
            <p:cNvPr id="38" name="テキスト ボックス 64">
              <a:extLst>
                <a:ext uri="{FF2B5EF4-FFF2-40B4-BE49-F238E27FC236}">
                  <a16:creationId xmlns:a16="http://schemas.microsoft.com/office/drawing/2014/main" id="{ECAEF1F4-5B1B-E870-EAB8-3B603CA58A0E}"/>
                </a:ext>
              </a:extLst>
            </p:cNvPr>
            <p:cNvSpPr txBox="1"/>
            <p:nvPr userDrawn="1"/>
          </p:nvSpPr>
          <p:spPr>
            <a:xfrm>
              <a:off x="-1296000" y="6570000"/>
              <a:ext cx="936000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/>
              <a:r>
                <a:rPr kumimoji="1" lang="ja-JP" altLang="en-US" sz="800" b="0" i="0">
                  <a:solidFill>
                    <a:schemeClr val="tx1"/>
                  </a:solidFill>
                  <a:latin typeface="Yu Gothic Medium" panose="020B0400000000000000" pitchFamily="34" charset="-128"/>
                  <a:ea typeface="Yu Gothic Medium" panose="020B0400000000000000" pitchFamily="34" charset="-128"/>
                </a:rPr>
                <a:t>セキュリティ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405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 userDrawn="1">
          <p15:clr>
            <a:srgbClr val="F26B43"/>
          </p15:clr>
        </p15:guide>
        <p15:guide id="2" pos="512" userDrawn="1">
          <p15:clr>
            <a:srgbClr val="F26B43"/>
          </p15:clr>
        </p15:guide>
        <p15:guide id="3" pos="7168" userDrawn="1">
          <p15:clr>
            <a:srgbClr val="F26B43"/>
          </p15:clr>
        </p15:guide>
        <p15:guide id="4" orient="horz" pos="1093" userDrawn="1">
          <p15:clr>
            <a:srgbClr val="F26B43"/>
          </p15:clr>
        </p15:guide>
        <p15:guide id="5" orient="horz" pos="391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sv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microsoft.com/office/2007/relationships/hdphoto" Target="../media/hdphoto1.wdp"/><Relationship Id="rId6" Type="http://schemas.openxmlformats.org/officeDocument/2006/relationships/image" Target="../media/image5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56.jp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AC0A33-B155-4DB9-86C6-09F2D559B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DataSphere</a:t>
            </a:r>
            <a:r>
              <a:rPr lang="ja-JP" altLang="en-US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勉強会</a:t>
            </a:r>
            <a:endParaRPr lang="zh-CN" altLang="en-US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4EF96565-694B-2635-E900-CD69132B14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4034" y="4591610"/>
            <a:ext cx="5521216" cy="1468876"/>
          </a:xfrm>
        </p:spPr>
        <p:txBody>
          <a:bodyPr anchor="ctr"/>
          <a:lstStyle/>
          <a:p>
            <a:r>
              <a:rPr lang="en-US" altLang="ja-JP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lang="ja-JP" altLang="en-US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lang="en-US" altLang="ja-JP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lang="ja-JP" altLang="en-US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月8日</a:t>
            </a:r>
          </a:p>
          <a:p>
            <a:endParaRPr lang="en-US" altLang="ja-JP" sz="3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伊藤忠テクノソリューションズ株式会社</a:t>
            </a:r>
            <a:endParaRPr lang="en-US" altLang="ja-JP" sz="18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S PGothic" panose="020B0600070205080204" pitchFamily="34" charset="-128"/>
              </a:rPr>
              <a:t>情報通信事業</a:t>
            </a:r>
            <a:r>
              <a:rPr lang="en-US" altLang="ja-JP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S PGothic" panose="020B0600070205080204" pitchFamily="34" charset="-128"/>
              </a:rPr>
              <a:t>G</a:t>
            </a:r>
            <a:r>
              <a:rPr lang="ja-JP" altLang="en-US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S PGothic" panose="020B0600070205080204" pitchFamily="34" charset="-128"/>
              </a:rPr>
              <a:t>　情報通信</a:t>
            </a:r>
            <a:r>
              <a:rPr lang="ja-JP" altLang="zh-CN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S PGothic" panose="020B0600070205080204" pitchFamily="34" charset="-128"/>
              </a:rPr>
              <a:t>事業開発部</a:t>
            </a:r>
            <a:endParaRPr lang="en-US" altLang="ja-JP" sz="18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panose="020B0600070205080204" pitchFamily="34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CDD46C45-9F8A-3476-7044-2A7D9FCB465E}"/>
              </a:ext>
            </a:extLst>
          </p:cNvPr>
          <p:cNvSpPr/>
          <p:nvPr/>
        </p:nvSpPr>
        <p:spPr>
          <a:xfrm>
            <a:off x="-2228850" y="3429000"/>
            <a:ext cx="1339850" cy="235344"/>
          </a:xfrm>
          <a:prstGeom prst="rect">
            <a:avLst/>
          </a:prstGeom>
          <a:solidFill>
            <a:srgbClr val="E6E9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85D29938-6991-9B8D-59A9-325A10FA23E4}"/>
              </a:ext>
            </a:extLst>
          </p:cNvPr>
          <p:cNvSpPr/>
          <p:nvPr/>
        </p:nvSpPr>
        <p:spPr>
          <a:xfrm>
            <a:off x="-2228850" y="3691534"/>
            <a:ext cx="1339850" cy="235344"/>
          </a:xfrm>
          <a:prstGeom prst="rect">
            <a:avLst/>
          </a:prstGeom>
          <a:solidFill>
            <a:srgbClr val="5D81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B37B3425-D5BE-B873-173D-51C16F652DF3}"/>
              </a:ext>
            </a:extLst>
          </p:cNvPr>
          <p:cNvSpPr/>
          <p:nvPr/>
        </p:nvSpPr>
        <p:spPr>
          <a:xfrm>
            <a:off x="-2228850" y="3954068"/>
            <a:ext cx="1339850" cy="235344"/>
          </a:xfrm>
          <a:prstGeom prst="rect">
            <a:avLst/>
          </a:prstGeom>
          <a:solidFill>
            <a:srgbClr val="99B1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2173886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タイトル 2">
            <a:extLst>
              <a:ext uri="{FF2B5EF4-FFF2-40B4-BE49-F238E27FC236}">
                <a16:creationId xmlns:a16="http://schemas.microsoft.com/office/drawing/2014/main" id="{08E77BE8-6D71-AFD7-980B-EDF679DD3E0F}"/>
              </a:ext>
            </a:extLst>
          </p:cNvPr>
          <p:cNvSpPr txBox="1">
            <a:spLocks/>
          </p:cNvSpPr>
          <p:nvPr/>
        </p:nvSpPr>
        <p:spPr>
          <a:xfrm>
            <a:off x="280582" y="315955"/>
            <a:ext cx="10516036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アジェンダ</a:t>
            </a:r>
            <a:r>
              <a:rPr lang="ja-JP" altLang="en-US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0000" y="1500000"/>
            <a:ext cx="9992000" cy="780000"/>
          </a:xfrm>
          <a:prstGeom prst="roundRect">
            <a:avLst>
              <a:gd name="adj" fmla="val 1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00000" y="1500000"/>
            <a:ext cx="780000" cy="780000"/>
          </a:xfrm>
          <a:prstGeom prst="roundRect">
            <a:avLst>
              <a:gd name="adj" fmla="val 18000"/>
            </a:avLst>
          </a:prstGeom>
          <a:solidFill>
            <a:srgbClr val="003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000" y="1500000"/>
            <a:ext cx="8962000" cy="7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13D86"/>
                </a:solidFill>
                <a:latin typeface="Meiryo UI"/>
                <a:ea typeface="Meiryo UI"/>
              </a:rPr>
              <a:t>ホワイトラベル概要説明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0000" y="2410000"/>
            <a:ext cx="9992000" cy="780000"/>
          </a:xfrm>
          <a:prstGeom prst="roundRect">
            <a:avLst>
              <a:gd name="adj" fmla="val 1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0000" y="2410000"/>
            <a:ext cx="780000" cy="780000"/>
          </a:xfrm>
          <a:prstGeom prst="roundRect">
            <a:avLst>
              <a:gd name="adj" fmla="val 18000"/>
            </a:avLst>
          </a:prstGeom>
          <a:solidFill>
            <a:srgbClr val="003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000" y="2410000"/>
            <a:ext cx="8962000" cy="7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13D86"/>
                </a:solidFill>
                <a:latin typeface="Meiryo UI"/>
                <a:ea typeface="Meiryo UI"/>
              </a:rPr>
              <a:t>DataSphereポートフォリオ紹介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0000" y="3320000"/>
            <a:ext cx="9992000" cy="780000"/>
          </a:xfrm>
          <a:prstGeom prst="roundRect">
            <a:avLst>
              <a:gd name="adj" fmla="val 1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00000" y="3320000"/>
            <a:ext cx="780000" cy="780000"/>
          </a:xfrm>
          <a:prstGeom prst="roundRect">
            <a:avLst>
              <a:gd name="adj" fmla="val 18000"/>
            </a:avLst>
          </a:prstGeom>
          <a:solidFill>
            <a:srgbClr val="003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000" y="3320000"/>
            <a:ext cx="8962000" cy="7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13D86"/>
                </a:solidFill>
                <a:latin typeface="Meiryo UI"/>
                <a:ea typeface="Meiryo UI"/>
              </a:rPr>
              <a:t>ハードウェア紹介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00000" y="4230000"/>
            <a:ext cx="9992000" cy="780000"/>
          </a:xfrm>
          <a:prstGeom prst="roundRect">
            <a:avLst>
              <a:gd name="adj" fmla="val 1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00000" y="4230000"/>
            <a:ext cx="780000" cy="780000"/>
          </a:xfrm>
          <a:prstGeom prst="roundRect">
            <a:avLst>
              <a:gd name="adj" fmla="val 18000"/>
            </a:avLst>
          </a:prstGeom>
          <a:solidFill>
            <a:srgbClr val="003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000" y="4230000"/>
            <a:ext cx="8962000" cy="7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13D86"/>
                </a:solidFill>
                <a:latin typeface="Meiryo UI"/>
                <a:ea typeface="Meiryo UI"/>
              </a:rPr>
              <a:t>共通ソフトウェア概要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0000" y="5140000"/>
            <a:ext cx="9992000" cy="780000"/>
          </a:xfrm>
          <a:prstGeom prst="roundRect">
            <a:avLst>
              <a:gd name="adj" fmla="val 1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00000" y="5140000"/>
            <a:ext cx="780000" cy="780000"/>
          </a:xfrm>
          <a:prstGeom prst="roundRect">
            <a:avLst>
              <a:gd name="adj" fmla="val 18000"/>
            </a:avLst>
          </a:prstGeom>
          <a:solidFill>
            <a:srgbClr val="003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0000" y="5140000"/>
            <a:ext cx="8962000" cy="7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13D86"/>
                </a:solidFill>
                <a:latin typeface="Meiryo UI"/>
                <a:ea typeface="Meiryo UI"/>
              </a:rPr>
              <a:t>NAS／SAN／OBJソフトウェア概要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D4597C3-9A84-2515-C4F3-EAD77714F4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1. 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ホワイトラベル概要説明</a:t>
            </a:r>
          </a:p>
        </p:txBody>
      </p:sp>
    </p:spTree>
    <p:extLst>
      <p:ext uri="{BB962C8B-B14F-4D97-AF65-F5344CB8AC3E}">
        <p14:creationId xmlns:p14="http://schemas.microsoft.com/office/powerpoint/2010/main" val="323555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9C5D-C8F0-416A-8C3D-3C04B7B9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551A221-1967-B558-1CE0-4DFE785C9227}"/>
              </a:ext>
            </a:extLst>
          </p:cNvPr>
          <p:cNvSpPr/>
          <p:nvPr/>
        </p:nvSpPr>
        <p:spPr>
          <a:xfrm>
            <a:off x="0" y="917952"/>
            <a:ext cx="12192000" cy="684000"/>
          </a:xfrm>
          <a:prstGeom prst="rect">
            <a:avLst/>
          </a:prstGeom>
          <a:solidFill>
            <a:srgbClr val="003CB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2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海外製造製品を、</a:t>
            </a:r>
            <a:r>
              <a:rPr lang="en-US" altLang="ja-JP" sz="22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CTC</a:t>
            </a:r>
            <a:r>
              <a:rPr lang="ja-JP" altLang="en-US" sz="22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ブランドとして提供する仕組み</a:t>
            </a:r>
            <a:endParaRPr lang="en-US" altLang="ja-JP" sz="2200" b="1">
              <a:solidFill>
                <a:srgbClr val="FFFFFF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F826B46-3FD0-0F12-0B23-C39121D3E1C4}"/>
              </a:ext>
            </a:extLst>
          </p:cNvPr>
          <p:cNvSpPr/>
          <p:nvPr/>
        </p:nvSpPr>
        <p:spPr>
          <a:xfrm>
            <a:off x="726220" y="2023532"/>
            <a:ext cx="2874774" cy="3065826"/>
          </a:xfrm>
          <a:prstGeom prst="roundRect">
            <a:avLst/>
          </a:prstGeom>
          <a:solidFill>
            <a:sysClr val="window" lastClr="FFFFFF"/>
          </a:solidFill>
          <a:ln w="3175">
            <a:solidFill>
              <a:sysClr val="window" lastClr="FFFFFF">
                <a:lumMod val="50000"/>
              </a:sysClr>
            </a:solidFill>
            <a:prstDash val="sysDot"/>
          </a:ln>
          <a:effectLst>
            <a:outerShdw blurRad="63500" sx="102000" sy="102000" algn="ctr" rotWithShape="0">
              <a:schemeClr val="accent3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27444C8-F316-A420-026B-2EDF5E7B18EE}"/>
              </a:ext>
            </a:extLst>
          </p:cNvPr>
          <p:cNvSpPr/>
          <p:nvPr/>
        </p:nvSpPr>
        <p:spPr>
          <a:xfrm>
            <a:off x="1009650" y="2174710"/>
            <a:ext cx="2343150" cy="355110"/>
          </a:xfrm>
          <a:prstGeom prst="roundRect">
            <a:avLst/>
          </a:prstGeom>
          <a:solidFill>
            <a:srgbClr val="A11B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海外製造委託先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3FEEFAE-BE7B-5B9A-AE76-01352FD10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2551305"/>
            <a:ext cx="2343150" cy="1857882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56C315F-6445-9CE6-2469-2CCEF6143215}"/>
              </a:ext>
            </a:extLst>
          </p:cNvPr>
          <p:cNvSpPr/>
          <p:nvPr/>
        </p:nvSpPr>
        <p:spPr>
          <a:xfrm>
            <a:off x="759993" y="4365643"/>
            <a:ext cx="2811272" cy="451573"/>
          </a:xfrm>
          <a:prstGeom prst="roundRect">
            <a:avLst/>
          </a:prstGeom>
          <a:solidFill>
            <a:srgbClr val="F8ECEC"/>
          </a:solidFill>
          <a:ln>
            <a:solidFill>
              <a:srgbClr val="FCEC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ネットワーク</a:t>
            </a:r>
            <a:r>
              <a:rPr lang="ja-JP" altLang="en-US" sz="105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・サーバ</a:t>
            </a:r>
            <a:r>
              <a:rPr kumimoji="1" lang="ja-JP" altLang="en-US" sz="105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・ストレージ</a:t>
            </a:r>
            <a:r>
              <a:rPr lang="ja-JP" altLang="en-US" sz="105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を製造</a:t>
            </a:r>
            <a:endParaRPr kumimoji="1" lang="ja-JP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79F9724-7E26-13F3-2595-007435A94A25}"/>
              </a:ext>
            </a:extLst>
          </p:cNvPr>
          <p:cNvSpPr/>
          <p:nvPr/>
        </p:nvSpPr>
        <p:spPr>
          <a:xfrm>
            <a:off x="8564751" y="2023531"/>
            <a:ext cx="2874774" cy="3065827"/>
          </a:xfrm>
          <a:prstGeom prst="roundRect">
            <a:avLst/>
          </a:prstGeom>
          <a:solidFill>
            <a:sysClr val="window" lastClr="FFFFFF"/>
          </a:solidFill>
          <a:ln w="3175">
            <a:solidFill>
              <a:sysClr val="window" lastClr="FFFFFF">
                <a:lumMod val="50000"/>
              </a:sysClr>
            </a:solidFill>
            <a:prstDash val="sysDot"/>
          </a:ln>
          <a:effectLst>
            <a:outerShdw blurRad="63500" sx="102000" sy="102000" algn="ctr" rotWithShape="0">
              <a:schemeClr val="accent3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E4C2062-CB5F-A90A-FDEB-CC064D270CC8}"/>
              </a:ext>
            </a:extLst>
          </p:cNvPr>
          <p:cNvSpPr/>
          <p:nvPr/>
        </p:nvSpPr>
        <p:spPr>
          <a:xfrm>
            <a:off x="8848181" y="2174710"/>
            <a:ext cx="2343150" cy="355110"/>
          </a:xfrm>
          <a:prstGeom prst="roundRect">
            <a:avLst/>
          </a:prstGeom>
          <a:solidFill>
            <a:srgbClr val="003B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lang="ja-JP" altLang="en-US"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ブランド製品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2EA140A-C8ED-A987-0679-DEBE97328F8A}"/>
              </a:ext>
            </a:extLst>
          </p:cNvPr>
          <p:cNvSpPr/>
          <p:nvPr/>
        </p:nvSpPr>
        <p:spPr>
          <a:xfrm>
            <a:off x="8800556" y="4447287"/>
            <a:ext cx="2409825" cy="451573"/>
          </a:xfrm>
          <a:prstGeom prst="roundRect">
            <a:avLst/>
          </a:prstGeom>
          <a:solidFill>
            <a:srgbClr val="EAF0FB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>
                <a:solidFill>
                  <a:srgbClr val="003BA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お客様へそのまま提供可能</a:t>
            </a:r>
            <a:endParaRPr kumimoji="1" lang="ja-JP" altLang="en-US" sz="2800" b="1">
              <a:solidFill>
                <a:srgbClr val="003BA8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8D36D0CE-7C6A-79F4-BC79-4EB9EE93A3D7}"/>
              </a:ext>
            </a:extLst>
          </p:cNvPr>
          <p:cNvGrpSpPr/>
          <p:nvPr/>
        </p:nvGrpSpPr>
        <p:grpSpPr>
          <a:xfrm>
            <a:off x="9240253" y="2743193"/>
            <a:ext cx="635496" cy="625337"/>
            <a:chOff x="8726055" y="2272152"/>
            <a:chExt cx="845846" cy="832324"/>
          </a:xfrm>
        </p:grpSpPr>
        <p:pic>
          <p:nvPicPr>
            <p:cNvPr id="16" name="图片 40">
              <a:extLst>
                <a:ext uri="{FF2B5EF4-FFF2-40B4-BE49-F238E27FC236}">
                  <a16:creationId xmlns:a16="http://schemas.microsoft.com/office/drawing/2014/main" id="{8CAC5862-7257-1853-2336-6E8D9CC2A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6055" y="2272152"/>
              <a:ext cx="845846" cy="83232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7" name="矩形 41">
              <a:extLst>
                <a:ext uri="{FF2B5EF4-FFF2-40B4-BE49-F238E27FC236}">
                  <a16:creationId xmlns:a16="http://schemas.microsoft.com/office/drawing/2014/main" id="{52165061-9AEB-4B7E-CC48-65610F2701AF}"/>
                </a:ext>
              </a:extLst>
            </p:cNvPr>
            <p:cNvSpPr/>
            <p:nvPr/>
          </p:nvSpPr>
          <p:spPr>
            <a:xfrm>
              <a:off x="9038091" y="2600107"/>
              <a:ext cx="216545" cy="215317"/>
            </a:xfrm>
            <a:prstGeom prst="rect">
              <a:avLst/>
            </a:prstGeom>
            <a:solidFill>
              <a:srgbClr val="E4E4E4"/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</p:grpSp>
      <p:pic>
        <p:nvPicPr>
          <p:cNvPr id="18" name="图片 4" descr="屏幕剪辑">
            <a:extLst>
              <a:ext uri="{FF2B5EF4-FFF2-40B4-BE49-F238E27FC236}">
                <a16:creationId xmlns:a16="http://schemas.microsoft.com/office/drawing/2014/main" id="{789A0E5A-4E2D-24E3-3F3D-FD651AA4334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0924"/>
          <a:stretch/>
        </p:blipFill>
        <p:spPr>
          <a:xfrm>
            <a:off x="8898747" y="3659296"/>
            <a:ext cx="949794" cy="206766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CB0C3179-DFFD-31F9-8114-89B58A90D35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7" b="26777"/>
          <a:stretch/>
        </p:blipFill>
        <p:spPr>
          <a:xfrm>
            <a:off x="10019756" y="3175449"/>
            <a:ext cx="1103132" cy="415905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424DEF2-BCDA-1574-59AB-0864A7B5B90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4" t="34881" r="13054" b="40487"/>
          <a:stretch/>
        </p:blipFill>
        <p:spPr>
          <a:xfrm>
            <a:off x="9986418" y="3992963"/>
            <a:ext cx="1040159" cy="195045"/>
          </a:xfrm>
          <a:prstGeom prst="rect">
            <a:avLst/>
          </a:prstGeom>
        </p:spPr>
      </p:pic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7804C22-21F1-F5B3-FD86-28141CCC218B}"/>
              </a:ext>
            </a:extLst>
          </p:cNvPr>
          <p:cNvSpPr/>
          <p:nvPr/>
        </p:nvSpPr>
        <p:spPr>
          <a:xfrm>
            <a:off x="4241619" y="1754531"/>
            <a:ext cx="3740331" cy="3525771"/>
          </a:xfrm>
          <a:prstGeom prst="roundRect">
            <a:avLst>
              <a:gd name="adj" fmla="val 10143"/>
            </a:avLst>
          </a:prstGeom>
          <a:solidFill>
            <a:srgbClr val="013B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7739AFD7-D6F2-0CC8-D16A-54658F789A61}"/>
              </a:ext>
            </a:extLst>
          </p:cNvPr>
          <p:cNvSpPr/>
          <p:nvPr/>
        </p:nvSpPr>
        <p:spPr>
          <a:xfrm>
            <a:off x="4333876" y="2212810"/>
            <a:ext cx="3562350" cy="2876548"/>
          </a:xfrm>
          <a:prstGeom prst="roundRect">
            <a:avLst>
              <a:gd name="adj" fmla="val 6593"/>
            </a:avLst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BC96355-A52B-D0D5-116F-EDE615259092}"/>
              </a:ext>
            </a:extLst>
          </p:cNvPr>
          <p:cNvSpPr txBox="1"/>
          <p:nvPr/>
        </p:nvSpPr>
        <p:spPr>
          <a:xfrm>
            <a:off x="4181474" y="1829068"/>
            <a:ext cx="3904577" cy="38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kumimoji="1" lang="ja-JP" altLang="en-US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による</a:t>
            </a:r>
            <a:r>
              <a:rPr kumimoji="1" lang="en-US" altLang="ja-JP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WhiteLabel</a:t>
            </a:r>
            <a:r>
              <a:rPr kumimoji="1" lang="ja-JP" altLang="en-US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化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593DD3F6-CE06-FC57-0B2C-F8B52D79E7C7}"/>
              </a:ext>
            </a:extLst>
          </p:cNvPr>
          <p:cNvSpPr/>
          <p:nvPr/>
        </p:nvSpPr>
        <p:spPr>
          <a:xfrm>
            <a:off x="4391026" y="2269961"/>
            <a:ext cx="3428999" cy="724514"/>
          </a:xfrm>
          <a:prstGeom prst="roundRect">
            <a:avLst>
              <a:gd name="adj" fmla="val 6593"/>
            </a:avLst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F5DA3DF3-3D64-091B-CD4B-E49884BE6630}"/>
              </a:ext>
            </a:extLst>
          </p:cNvPr>
          <p:cNvSpPr/>
          <p:nvPr/>
        </p:nvSpPr>
        <p:spPr>
          <a:xfrm>
            <a:off x="4400551" y="3047131"/>
            <a:ext cx="3428999" cy="724514"/>
          </a:xfrm>
          <a:prstGeom prst="roundRect">
            <a:avLst>
              <a:gd name="adj" fmla="val 6593"/>
            </a:avLst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25E7436B-C58B-42EA-BD6E-AFC9C94182D5}"/>
              </a:ext>
            </a:extLst>
          </p:cNvPr>
          <p:cNvSpPr/>
          <p:nvPr/>
        </p:nvSpPr>
        <p:spPr>
          <a:xfrm>
            <a:off x="4410076" y="3833826"/>
            <a:ext cx="3428999" cy="724514"/>
          </a:xfrm>
          <a:prstGeom prst="roundRect">
            <a:avLst>
              <a:gd name="adj" fmla="val 6593"/>
            </a:avLst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B1E9846-268B-661F-6920-5D2AD6F5E589}"/>
              </a:ext>
            </a:extLst>
          </p:cNvPr>
          <p:cNvSpPr txBox="1"/>
          <p:nvPr/>
        </p:nvSpPr>
        <p:spPr>
          <a:xfrm>
            <a:off x="4352924" y="4693508"/>
            <a:ext cx="3552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013BA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kumimoji="1" lang="ja-JP" altLang="en-US" sz="1200">
                <a:solidFill>
                  <a:srgbClr val="013BA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が製造者として対応</a:t>
            </a: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E53DA4B9-21C2-1D6C-219D-7A3B6243605D}"/>
              </a:ext>
            </a:extLst>
          </p:cNvPr>
          <p:cNvSpPr/>
          <p:nvPr/>
        </p:nvSpPr>
        <p:spPr>
          <a:xfrm>
            <a:off x="3629857" y="3175449"/>
            <a:ext cx="498424" cy="817514"/>
          </a:xfrm>
          <a:prstGeom prst="rightArrow">
            <a:avLst/>
          </a:prstGeom>
          <a:solidFill>
            <a:srgbClr val="013B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E98BEA5C-58F7-176D-C6CB-8A0CA04348F7}"/>
              </a:ext>
            </a:extLst>
          </p:cNvPr>
          <p:cNvSpPr/>
          <p:nvPr/>
        </p:nvSpPr>
        <p:spPr>
          <a:xfrm>
            <a:off x="7962901" y="3182597"/>
            <a:ext cx="498424" cy="817514"/>
          </a:xfrm>
          <a:prstGeom prst="rightArrow">
            <a:avLst/>
          </a:prstGeom>
          <a:solidFill>
            <a:srgbClr val="013B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65600052-E1A9-8E58-5778-5DDF68EF1F1E}"/>
              </a:ext>
            </a:extLst>
          </p:cNvPr>
          <p:cNvSpPr/>
          <p:nvPr/>
        </p:nvSpPr>
        <p:spPr>
          <a:xfrm>
            <a:off x="5574045" y="2305951"/>
            <a:ext cx="1043910" cy="223869"/>
          </a:xfrm>
          <a:prstGeom prst="roundRect">
            <a:avLst/>
          </a:prstGeom>
          <a:solidFill>
            <a:srgbClr val="003B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STEP</a:t>
            </a:r>
            <a:r>
              <a:rPr lang="ja-JP" altLang="en-US" sz="12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１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19460638-CD8F-7CFC-881B-37A9E60C0494}"/>
              </a:ext>
            </a:extLst>
          </p:cNvPr>
          <p:cNvSpPr/>
          <p:nvPr/>
        </p:nvSpPr>
        <p:spPr>
          <a:xfrm>
            <a:off x="5574045" y="3114868"/>
            <a:ext cx="1043910" cy="223869"/>
          </a:xfrm>
          <a:prstGeom prst="roundRect">
            <a:avLst/>
          </a:prstGeom>
          <a:solidFill>
            <a:srgbClr val="003B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STEP</a:t>
            </a:r>
            <a:r>
              <a:rPr lang="ja-JP" altLang="en-US" sz="12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２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B872F7D-19D9-150C-70BE-39971A184CCC}"/>
              </a:ext>
            </a:extLst>
          </p:cNvPr>
          <p:cNvSpPr/>
          <p:nvPr/>
        </p:nvSpPr>
        <p:spPr>
          <a:xfrm>
            <a:off x="5574045" y="3899721"/>
            <a:ext cx="1043910" cy="223869"/>
          </a:xfrm>
          <a:prstGeom prst="roundRect">
            <a:avLst/>
          </a:prstGeom>
          <a:solidFill>
            <a:srgbClr val="003B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STEP</a:t>
            </a:r>
            <a:r>
              <a:rPr lang="ja-JP" altLang="en-US" sz="12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３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6C2E579-A020-8578-D2F9-5161AF33B164}"/>
              </a:ext>
            </a:extLst>
          </p:cNvPr>
          <p:cNvSpPr txBox="1"/>
          <p:nvPr/>
        </p:nvSpPr>
        <p:spPr>
          <a:xfrm>
            <a:off x="4391026" y="2498032"/>
            <a:ext cx="3448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013BA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ロゴなし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5EF8F7F1-1487-CF1F-5A47-40B5395473A3}"/>
              </a:ext>
            </a:extLst>
          </p:cNvPr>
          <p:cNvSpPr/>
          <p:nvPr/>
        </p:nvSpPr>
        <p:spPr>
          <a:xfrm>
            <a:off x="4400303" y="2730621"/>
            <a:ext cx="3419722" cy="3127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筐体・ソフトウェアにロゴなし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6FE4158-B299-9753-869B-8BCEDBBC0A27}"/>
              </a:ext>
            </a:extLst>
          </p:cNvPr>
          <p:cNvSpPr txBox="1"/>
          <p:nvPr/>
        </p:nvSpPr>
        <p:spPr>
          <a:xfrm>
            <a:off x="4400303" y="3302441"/>
            <a:ext cx="3448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013BA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国内認証取得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D5BBBC08-57CA-248E-B5AD-DB80672DD354}"/>
              </a:ext>
            </a:extLst>
          </p:cNvPr>
          <p:cNvSpPr/>
          <p:nvPr/>
        </p:nvSpPr>
        <p:spPr>
          <a:xfrm>
            <a:off x="4400303" y="3527079"/>
            <a:ext cx="3419722" cy="3127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VCCI</a:t>
            </a:r>
            <a:r>
              <a:rPr kumimoji="1" lang="ja-JP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・技適なども</a:t>
            </a:r>
            <a:r>
              <a:rPr kumimoji="1" lang="en-US" alt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kumimoji="1" lang="ja-JP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名義で取得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2A3D495-B109-3B03-938F-F62FC22A7A33}"/>
              </a:ext>
            </a:extLst>
          </p:cNvPr>
          <p:cNvSpPr txBox="1"/>
          <p:nvPr/>
        </p:nvSpPr>
        <p:spPr>
          <a:xfrm>
            <a:off x="4409582" y="4090946"/>
            <a:ext cx="3448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b="1">
                <a:solidFill>
                  <a:srgbClr val="013BA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kumimoji="1" lang="ja-JP" altLang="en-US" sz="1600" b="1">
                <a:solidFill>
                  <a:srgbClr val="013BA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ブランド化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3E23B79A-9475-A6EB-FD0C-8697B7DD65EC}"/>
              </a:ext>
            </a:extLst>
          </p:cNvPr>
          <p:cNvSpPr/>
          <p:nvPr/>
        </p:nvSpPr>
        <p:spPr>
          <a:xfrm>
            <a:off x="4409582" y="4315584"/>
            <a:ext cx="3419722" cy="3127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288C47E6-06EF-DA5D-E11D-6851B129A578}"/>
              </a:ext>
            </a:extLst>
          </p:cNvPr>
          <p:cNvSpPr/>
          <p:nvPr/>
        </p:nvSpPr>
        <p:spPr>
          <a:xfrm>
            <a:off x="4416205" y="4315709"/>
            <a:ext cx="3419722" cy="3127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認証シールや</a:t>
            </a:r>
            <a:r>
              <a:rPr kumimoji="1" lang="en-US" alt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MAC</a:t>
            </a:r>
            <a:r>
              <a:rPr kumimoji="1" lang="ja-JP" alt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アドレスを付与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4C12C1BE-EA17-CE2D-C03A-9A134E18B091}"/>
              </a:ext>
            </a:extLst>
          </p:cNvPr>
          <p:cNvSpPr/>
          <p:nvPr/>
        </p:nvSpPr>
        <p:spPr>
          <a:xfrm>
            <a:off x="4810539" y="4683455"/>
            <a:ext cx="2520564" cy="270943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グラフィックス 43" descr="ユーザー 単色塗りつぶし">
            <a:extLst>
              <a:ext uri="{FF2B5EF4-FFF2-40B4-BE49-F238E27FC236}">
                <a16:creationId xmlns:a16="http://schemas.microsoft.com/office/drawing/2014/main" id="{914E80AA-D122-BA59-F749-CA5BFD60C6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2347" y="4680011"/>
            <a:ext cx="291356" cy="291356"/>
          </a:xfrm>
          <a:prstGeom prst="rect">
            <a:avLst/>
          </a:prstGeom>
        </p:spPr>
      </p:pic>
      <p:sp>
        <p:nvSpPr>
          <p:cNvPr id="48" name="タイトル 2">
            <a:extLst>
              <a:ext uri="{FF2B5EF4-FFF2-40B4-BE49-F238E27FC236}">
                <a16:creationId xmlns:a16="http://schemas.microsoft.com/office/drawing/2014/main" id="{5FBB82F3-0813-4D39-2987-8A6ECA43A5E6}"/>
              </a:ext>
            </a:extLst>
          </p:cNvPr>
          <p:cNvSpPr txBox="1">
            <a:spLocks/>
          </p:cNvSpPr>
          <p:nvPr/>
        </p:nvSpPr>
        <p:spPr>
          <a:xfrm>
            <a:off x="280582" y="315955"/>
            <a:ext cx="10516036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/>
                <a:ea typeface="Meiryo UI"/>
              </a:rPr>
              <a:t>CTC WhiteLabel</a:t>
            </a:r>
            <a:r>
              <a:rPr lang="ja-JP" altLang="en-US">
                <a:solidFill>
                  <a:srgbClr val="013D86"/>
                </a:solidFill>
                <a:latin typeface="Meiryo UI"/>
                <a:ea typeface="Meiryo UI"/>
              </a:rPr>
              <a:t>製品とは</a:t>
            </a:r>
            <a:endParaRPr lang="en-US" altLang="ja-JP">
              <a:solidFill>
                <a:srgbClr val="013D86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DD114D1-CC3C-2DE7-9920-B9162B2D4727}"/>
              </a:ext>
            </a:extLst>
          </p:cNvPr>
          <p:cNvSpPr/>
          <p:nvPr/>
        </p:nvSpPr>
        <p:spPr>
          <a:xfrm>
            <a:off x="1592174" y="5607754"/>
            <a:ext cx="2874774" cy="692602"/>
          </a:xfrm>
          <a:prstGeom prst="roundRect">
            <a:avLst/>
          </a:prstGeom>
          <a:solidFill>
            <a:sysClr val="window" lastClr="FFFFFF"/>
          </a:solidFill>
          <a:ln w="3175">
            <a:solidFill>
              <a:sysClr val="window" lastClr="FFFFFF">
                <a:lumMod val="50000"/>
              </a:sysClr>
            </a:solidFill>
            <a:prstDash val="sysDot"/>
          </a:ln>
          <a:effectLst>
            <a:outerShdw blurRad="63500" sx="102000" sy="102000" algn="ctr" rotWithShape="0">
              <a:srgbClr val="E4E7F9"/>
            </a:outerShdw>
          </a:effectLst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D0F8638-2F20-6BDA-2BD7-0FD45B866A9D}"/>
              </a:ext>
            </a:extLst>
          </p:cNvPr>
          <p:cNvSpPr/>
          <p:nvPr/>
        </p:nvSpPr>
        <p:spPr>
          <a:xfrm>
            <a:off x="2256579" y="5728269"/>
            <a:ext cx="2210369" cy="45157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特定ベンダーに依存しない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CE57E72F-BD20-AD7D-86FD-0DE633B059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1843" y="5687318"/>
            <a:ext cx="571580" cy="533474"/>
          </a:xfrm>
          <a:prstGeom prst="rect">
            <a:avLst/>
          </a:prstGeom>
        </p:spPr>
      </p:pic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859651E-83C4-2E74-8AAE-179CE9FF3621}"/>
              </a:ext>
            </a:extLst>
          </p:cNvPr>
          <p:cNvSpPr/>
          <p:nvPr/>
        </p:nvSpPr>
        <p:spPr>
          <a:xfrm>
            <a:off x="4877405" y="5607754"/>
            <a:ext cx="2874774" cy="692602"/>
          </a:xfrm>
          <a:prstGeom prst="roundRect">
            <a:avLst/>
          </a:prstGeom>
          <a:solidFill>
            <a:sysClr val="window" lastClr="FFFFFF"/>
          </a:solidFill>
          <a:ln w="3175">
            <a:solidFill>
              <a:sysClr val="window" lastClr="FFFFFF">
                <a:lumMod val="50000"/>
              </a:sysClr>
            </a:solidFill>
            <a:prstDash val="sysDot"/>
          </a:ln>
          <a:effectLst>
            <a:outerShdw blurRad="63500" sx="102000" sy="102000" algn="ctr" rotWithShape="0">
              <a:srgbClr val="E4E7F9"/>
            </a:outerShdw>
          </a:effectLst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895B9BB2-61C9-D50B-62A4-73BE518D9879}"/>
              </a:ext>
            </a:extLst>
          </p:cNvPr>
          <p:cNvSpPr/>
          <p:nvPr/>
        </p:nvSpPr>
        <p:spPr>
          <a:xfrm>
            <a:off x="5541810" y="5728269"/>
            <a:ext cx="2099347" cy="45157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kumimoji="1" lang="ja-JP" altLang="en-US" sz="13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名義で国内認証取得</a:t>
            </a:r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CFAD8BF7-D6C9-54A6-C359-2D59554C98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9213" y="5696844"/>
            <a:ext cx="590632" cy="514422"/>
          </a:xfrm>
          <a:prstGeom prst="rect">
            <a:avLst/>
          </a:prstGeom>
        </p:spPr>
      </p:pic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BAA41CCD-5937-252E-5D5B-1700A5D087D7}"/>
              </a:ext>
            </a:extLst>
          </p:cNvPr>
          <p:cNvSpPr/>
          <p:nvPr/>
        </p:nvSpPr>
        <p:spPr>
          <a:xfrm>
            <a:off x="8183754" y="5607754"/>
            <a:ext cx="3418824" cy="692602"/>
          </a:xfrm>
          <a:prstGeom prst="roundRect">
            <a:avLst/>
          </a:prstGeom>
          <a:solidFill>
            <a:sysClr val="window" lastClr="FFFFFF"/>
          </a:solidFill>
          <a:ln w="3175">
            <a:solidFill>
              <a:sysClr val="window" lastClr="FFFFFF">
                <a:lumMod val="50000"/>
              </a:sysClr>
            </a:solidFill>
            <a:prstDash val="sysDot"/>
          </a:ln>
          <a:effectLst>
            <a:outerShdw blurRad="63500" sx="102000" sy="102000" algn="ctr" rotWithShape="0">
              <a:srgbClr val="E4E7F9"/>
            </a:outerShdw>
          </a:effectLst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F7A0721F-10F7-FCF7-07E3-F050C35AFBD0}"/>
              </a:ext>
            </a:extLst>
          </p:cNvPr>
          <p:cNvSpPr/>
          <p:nvPr/>
        </p:nvSpPr>
        <p:spPr>
          <a:xfrm>
            <a:off x="8771368" y="5728269"/>
            <a:ext cx="2766410" cy="45157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自社ブランド製品として展開可能</a:t>
            </a:r>
          </a:p>
        </p:txBody>
      </p:sp>
      <p:pic>
        <p:nvPicPr>
          <p:cNvPr id="52" name="図 51">
            <a:extLst>
              <a:ext uri="{FF2B5EF4-FFF2-40B4-BE49-F238E27FC236}">
                <a16:creationId xmlns:a16="http://schemas.microsoft.com/office/drawing/2014/main" id="{199CAE3C-888A-1FF3-7860-10A4F657D1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2344" y="5682555"/>
            <a:ext cx="638264" cy="543001"/>
          </a:xfrm>
          <a:prstGeom prst="rect">
            <a:avLst/>
          </a:prstGeom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B02F514-424D-91DC-C69C-A1B21402A7A9}"/>
              </a:ext>
            </a:extLst>
          </p:cNvPr>
          <p:cNvSpPr txBox="1"/>
          <p:nvPr/>
        </p:nvSpPr>
        <p:spPr>
          <a:xfrm>
            <a:off x="402109" y="5769389"/>
            <a:ext cx="1121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003BA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特徴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D20122D3-6316-884E-27CB-008A7561CA57}"/>
              </a:ext>
            </a:extLst>
          </p:cNvPr>
          <p:cNvCxnSpPr>
            <a:cxnSpLocks/>
          </p:cNvCxnSpPr>
          <p:nvPr/>
        </p:nvCxnSpPr>
        <p:spPr>
          <a:xfrm>
            <a:off x="552899" y="5695866"/>
            <a:ext cx="0" cy="516379"/>
          </a:xfrm>
          <a:prstGeom prst="line">
            <a:avLst/>
          </a:prstGeom>
          <a:ln w="38100">
            <a:solidFill>
              <a:srgbClr val="003B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31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E178-CA2E-86B1-05FF-891915DE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06B9BDE-F965-F3E5-06A0-E4C570EB3031}"/>
              </a:ext>
            </a:extLst>
          </p:cNvPr>
          <p:cNvSpPr/>
          <p:nvPr/>
        </p:nvSpPr>
        <p:spPr>
          <a:xfrm>
            <a:off x="798670" y="1857789"/>
            <a:ext cx="3158712" cy="2399612"/>
          </a:xfrm>
          <a:prstGeom prst="roundRect">
            <a:avLst/>
          </a:prstGeom>
          <a:solidFill>
            <a:srgbClr val="E1908F"/>
          </a:solidFill>
          <a:ln w="3175">
            <a:solidFill>
              <a:srgbClr val="E19190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5496E4-64AA-7EC0-7D77-7F8CED22F4C7}"/>
              </a:ext>
            </a:extLst>
          </p:cNvPr>
          <p:cNvSpPr/>
          <p:nvPr/>
        </p:nvSpPr>
        <p:spPr>
          <a:xfrm>
            <a:off x="0" y="917952"/>
            <a:ext cx="12192000" cy="684000"/>
          </a:xfrm>
          <a:prstGeom prst="rect">
            <a:avLst/>
          </a:prstGeom>
          <a:solidFill>
            <a:srgbClr val="003CB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IT</a:t>
            </a:r>
            <a:r>
              <a:rPr lang="ja-JP" altLang="en-US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インフラの調達・運用のビジネスリスクを解決</a:t>
            </a:r>
            <a:endParaRPr lang="en-US" altLang="ja-JP" sz="2200" b="1">
              <a:solidFill>
                <a:srgbClr val="FFFFFF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D7D9C0AB-DED9-BFAF-6DBE-6F3BBEF87F7B}"/>
              </a:ext>
            </a:extLst>
          </p:cNvPr>
          <p:cNvSpPr txBox="1">
            <a:spLocks/>
          </p:cNvSpPr>
          <p:nvPr/>
        </p:nvSpPr>
        <p:spPr>
          <a:xfrm>
            <a:off x="280582" y="315955"/>
            <a:ext cx="10516036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CTC WhiteLabel</a:t>
            </a:r>
            <a:r>
              <a:rPr lang="ja-JP" altLang="en-US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製品が解決する課題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6855755-6970-435C-C219-3AF3D7BFA4C4}"/>
              </a:ext>
            </a:extLst>
          </p:cNvPr>
          <p:cNvSpPr/>
          <p:nvPr/>
        </p:nvSpPr>
        <p:spPr>
          <a:xfrm>
            <a:off x="795130" y="1928676"/>
            <a:ext cx="3162251" cy="2399612"/>
          </a:xfrm>
          <a:prstGeom prst="roundRect">
            <a:avLst/>
          </a:prstGeom>
          <a:solidFill>
            <a:srgbClr val="FEF8F7"/>
          </a:solidFill>
          <a:ln w="3175">
            <a:solidFill>
              <a:srgbClr val="E19190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92C1675-A6DC-AD48-399A-1D912C0544A4}"/>
              </a:ext>
            </a:extLst>
          </p:cNvPr>
          <p:cNvSpPr/>
          <p:nvPr/>
        </p:nvSpPr>
        <p:spPr>
          <a:xfrm>
            <a:off x="2277456" y="2231082"/>
            <a:ext cx="615708" cy="322827"/>
          </a:xfrm>
          <a:prstGeom prst="roundRect">
            <a:avLst/>
          </a:prstGeom>
          <a:solidFill>
            <a:srgbClr val="BC0B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課題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9A16046-8C38-46D7-A954-CA7EA00ACDCD}"/>
              </a:ext>
            </a:extLst>
          </p:cNvPr>
          <p:cNvSpPr/>
          <p:nvPr/>
        </p:nvSpPr>
        <p:spPr>
          <a:xfrm>
            <a:off x="1688417" y="2679806"/>
            <a:ext cx="2086133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BC0B0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納期の不確実性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F39BE9A-5B8B-268A-A83E-B4C3697DF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32" y="2146129"/>
            <a:ext cx="790685" cy="847843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05E62B3-CB76-A7F2-275B-09DE86FD6CA8}"/>
              </a:ext>
            </a:extLst>
          </p:cNvPr>
          <p:cNvCxnSpPr/>
          <p:nvPr/>
        </p:nvCxnSpPr>
        <p:spPr>
          <a:xfrm>
            <a:off x="1105783" y="3408574"/>
            <a:ext cx="2551814" cy="0"/>
          </a:xfrm>
          <a:prstGeom prst="line">
            <a:avLst/>
          </a:prstGeom>
          <a:ln w="19050">
            <a:solidFill>
              <a:srgbClr val="FAE0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F76D30C-0955-434F-C3FB-2ABB871BC17D}"/>
              </a:ext>
            </a:extLst>
          </p:cNvPr>
          <p:cNvSpPr/>
          <p:nvPr/>
        </p:nvSpPr>
        <p:spPr>
          <a:xfrm>
            <a:off x="1328872" y="3018687"/>
            <a:ext cx="2650808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部品不足・需要変動による長期化</a:t>
            </a:r>
            <a:endParaRPr kumimoji="1" lang="ja-JP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2D8FF58C-EC60-9C0C-AE61-5443A8131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783" y="3618990"/>
            <a:ext cx="314369" cy="257211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57A50D5C-BE4C-F054-0C03-19B3EF904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783" y="3943822"/>
            <a:ext cx="314369" cy="257211"/>
          </a:xfrm>
          <a:prstGeom prst="rect">
            <a:avLst/>
          </a:prstGeom>
        </p:spPr>
      </p:pic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47CB3CDA-3D42-C14A-4133-625409EA3C9D}"/>
              </a:ext>
            </a:extLst>
          </p:cNvPr>
          <p:cNvSpPr/>
          <p:nvPr/>
        </p:nvSpPr>
        <p:spPr>
          <a:xfrm>
            <a:off x="1348778" y="3584922"/>
            <a:ext cx="2551814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プロジェクト遅延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3504DAC-4F71-38B9-1890-89153225C819}"/>
              </a:ext>
            </a:extLst>
          </p:cNvPr>
          <p:cNvSpPr/>
          <p:nvPr/>
        </p:nvSpPr>
        <p:spPr>
          <a:xfrm>
            <a:off x="1348778" y="3906995"/>
            <a:ext cx="2551814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ビジネス機会の損失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D9803792-E17B-2DA5-8238-77896DCA65AB}"/>
              </a:ext>
            </a:extLst>
          </p:cNvPr>
          <p:cNvSpPr/>
          <p:nvPr/>
        </p:nvSpPr>
        <p:spPr>
          <a:xfrm>
            <a:off x="4448282" y="1857789"/>
            <a:ext cx="3158712" cy="2399612"/>
          </a:xfrm>
          <a:prstGeom prst="roundRect">
            <a:avLst/>
          </a:prstGeom>
          <a:solidFill>
            <a:srgbClr val="E1908F"/>
          </a:solidFill>
          <a:ln w="3175">
            <a:solidFill>
              <a:srgbClr val="E19190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8A53FF7C-74ED-0EBE-7F27-F5DE46D57DF0}"/>
              </a:ext>
            </a:extLst>
          </p:cNvPr>
          <p:cNvSpPr/>
          <p:nvPr/>
        </p:nvSpPr>
        <p:spPr>
          <a:xfrm>
            <a:off x="4444742" y="1928676"/>
            <a:ext cx="3162251" cy="2399612"/>
          </a:xfrm>
          <a:prstGeom prst="roundRect">
            <a:avLst/>
          </a:prstGeom>
          <a:solidFill>
            <a:srgbClr val="FEF8F7"/>
          </a:solidFill>
          <a:ln w="3175">
            <a:solidFill>
              <a:srgbClr val="E19190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34EC149-A000-C7D3-60CA-9F7108428363}"/>
              </a:ext>
            </a:extLst>
          </p:cNvPr>
          <p:cNvSpPr/>
          <p:nvPr/>
        </p:nvSpPr>
        <p:spPr>
          <a:xfrm>
            <a:off x="5927068" y="2231082"/>
            <a:ext cx="615708" cy="322827"/>
          </a:xfrm>
          <a:prstGeom prst="roundRect">
            <a:avLst/>
          </a:prstGeom>
          <a:solidFill>
            <a:srgbClr val="BC0B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課題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AE00DA4-B162-D647-7FB5-3D376C102713}"/>
              </a:ext>
            </a:extLst>
          </p:cNvPr>
          <p:cNvSpPr/>
          <p:nvPr/>
        </p:nvSpPr>
        <p:spPr>
          <a:xfrm>
            <a:off x="5338029" y="2679806"/>
            <a:ext cx="2086133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BC0B0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コストの急上昇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44574BA-755F-795B-1879-8EB6DBF877AD}"/>
              </a:ext>
            </a:extLst>
          </p:cNvPr>
          <p:cNvCxnSpPr/>
          <p:nvPr/>
        </p:nvCxnSpPr>
        <p:spPr>
          <a:xfrm>
            <a:off x="4755395" y="3408574"/>
            <a:ext cx="2551814" cy="0"/>
          </a:xfrm>
          <a:prstGeom prst="line">
            <a:avLst/>
          </a:prstGeom>
          <a:ln w="19050">
            <a:solidFill>
              <a:srgbClr val="FAE0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C59E49F1-060A-2CE4-4684-1B0E18C87F57}"/>
              </a:ext>
            </a:extLst>
          </p:cNvPr>
          <p:cNvSpPr/>
          <p:nvPr/>
        </p:nvSpPr>
        <p:spPr>
          <a:xfrm>
            <a:off x="4978484" y="3018687"/>
            <a:ext cx="2650808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1" lang="ja-JP" altLang="en-US" sz="105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/>
                <a:ea typeface="Noto Sans JP"/>
              </a:rPr>
              <a:t>調達</a:t>
            </a:r>
            <a:r>
              <a:rPr lang="ja-JP" altLang="en-US" sz="105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/>
                <a:ea typeface="Noto Sans JP"/>
              </a:rPr>
              <a:t>価格の高騰</a:t>
            </a:r>
            <a:r>
              <a:rPr kumimoji="1" lang="ja-JP" altLang="en-US" sz="105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/>
                <a:ea typeface="Noto Sans JP"/>
              </a:rPr>
              <a:t>による影響の拡大</a:t>
            </a:r>
            <a:endParaRPr kumimoji="1" lang="ja-JP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Noto Sans JP"/>
              <a:ea typeface="Noto Sans JP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E9875E17-2F05-D7C9-396C-3468AAD9A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395" y="3618990"/>
            <a:ext cx="314369" cy="257211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6521F24F-5964-74A4-4242-DB578F2B3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395" y="3943822"/>
            <a:ext cx="314369" cy="257211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A447CDDF-0290-031E-FDE8-532C99E45E3C}"/>
              </a:ext>
            </a:extLst>
          </p:cNvPr>
          <p:cNvSpPr/>
          <p:nvPr/>
        </p:nvSpPr>
        <p:spPr>
          <a:xfrm>
            <a:off x="4998390" y="3584922"/>
            <a:ext cx="2551814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予算超過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837DF13D-3D43-FA98-A6A1-FA9768ED6651}"/>
              </a:ext>
            </a:extLst>
          </p:cNvPr>
          <p:cNvSpPr/>
          <p:nvPr/>
        </p:nvSpPr>
        <p:spPr>
          <a:xfrm>
            <a:off x="4998390" y="3906995"/>
            <a:ext cx="2551814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構成の見直し・縮小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C47CA139-8950-9B64-EBCA-B3C7ABFBF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494" y="2147888"/>
            <a:ext cx="800212" cy="866896"/>
          </a:xfrm>
          <a:prstGeom prst="rect">
            <a:avLst/>
          </a:prstGeom>
        </p:spPr>
      </p:pic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C4B0191-8DA7-E268-881C-DCC35D789DF4}"/>
              </a:ext>
            </a:extLst>
          </p:cNvPr>
          <p:cNvSpPr/>
          <p:nvPr/>
        </p:nvSpPr>
        <p:spPr>
          <a:xfrm>
            <a:off x="8088795" y="1857789"/>
            <a:ext cx="3474583" cy="2399612"/>
          </a:xfrm>
          <a:prstGeom prst="roundRect">
            <a:avLst/>
          </a:prstGeom>
          <a:solidFill>
            <a:srgbClr val="E1908F"/>
          </a:solidFill>
          <a:ln w="3175">
            <a:solidFill>
              <a:srgbClr val="E19190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14B0F23-813E-E339-C117-22655AE323B6}"/>
              </a:ext>
            </a:extLst>
          </p:cNvPr>
          <p:cNvSpPr/>
          <p:nvPr/>
        </p:nvSpPr>
        <p:spPr>
          <a:xfrm>
            <a:off x="8085077" y="1928676"/>
            <a:ext cx="3478476" cy="2399612"/>
          </a:xfrm>
          <a:prstGeom prst="roundRect">
            <a:avLst/>
          </a:prstGeom>
          <a:solidFill>
            <a:srgbClr val="FEF8F7"/>
          </a:solidFill>
          <a:ln w="3175">
            <a:solidFill>
              <a:srgbClr val="E19190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FAD7CA9F-4CA1-C658-6CBC-C3167DFD43D5}"/>
              </a:ext>
            </a:extLst>
          </p:cNvPr>
          <p:cNvSpPr/>
          <p:nvPr/>
        </p:nvSpPr>
        <p:spPr>
          <a:xfrm>
            <a:off x="9608556" y="2231082"/>
            <a:ext cx="615708" cy="322827"/>
          </a:xfrm>
          <a:prstGeom prst="roundRect">
            <a:avLst/>
          </a:prstGeom>
          <a:solidFill>
            <a:srgbClr val="BC0B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課題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52DE2376-C42F-A6E8-0DA1-76301516F021}"/>
              </a:ext>
            </a:extLst>
          </p:cNvPr>
          <p:cNvSpPr/>
          <p:nvPr/>
        </p:nvSpPr>
        <p:spPr>
          <a:xfrm>
            <a:off x="8764333" y="2679806"/>
            <a:ext cx="2819072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BC0B0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サポート・運用の不安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8F1B92C7-EBA0-741D-54AA-F391A6A716EA}"/>
              </a:ext>
            </a:extLst>
          </p:cNvPr>
          <p:cNvCxnSpPr/>
          <p:nvPr/>
        </p:nvCxnSpPr>
        <p:spPr>
          <a:xfrm>
            <a:off x="8553843" y="3408574"/>
            <a:ext cx="2551814" cy="0"/>
          </a:xfrm>
          <a:prstGeom prst="line">
            <a:avLst/>
          </a:prstGeom>
          <a:ln w="19050">
            <a:solidFill>
              <a:srgbClr val="FAE0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89734407-2218-52B1-736E-227E463A20A1}"/>
              </a:ext>
            </a:extLst>
          </p:cNvPr>
          <p:cNvSpPr/>
          <p:nvPr/>
        </p:nvSpPr>
        <p:spPr>
          <a:xfrm>
            <a:off x="8136018" y="3018687"/>
            <a:ext cx="3427359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限定したサービスレベルによる対応遅延・運用負荷</a:t>
            </a:r>
            <a:endParaRPr kumimoji="1" lang="ja-JP" altLang="en-US" sz="20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3C341533-9731-556E-409F-1421C0494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843" y="3618990"/>
            <a:ext cx="314369" cy="257211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F8E60567-B798-70EA-4B45-70B539257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843" y="3943822"/>
            <a:ext cx="314369" cy="257211"/>
          </a:xfrm>
          <a:prstGeom prst="rect">
            <a:avLst/>
          </a:prstGeom>
        </p:spPr>
      </p:pic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A59E7A16-11CA-5B4E-3A14-E53D7951FC63}"/>
              </a:ext>
            </a:extLst>
          </p:cNvPr>
          <p:cNvSpPr/>
          <p:nvPr/>
        </p:nvSpPr>
        <p:spPr>
          <a:xfrm>
            <a:off x="8796838" y="3584922"/>
            <a:ext cx="2551814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対応遅延によるリスク増大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710B4ED2-212D-8854-349D-E83636229B0C}"/>
              </a:ext>
            </a:extLst>
          </p:cNvPr>
          <p:cNvSpPr/>
          <p:nvPr/>
        </p:nvSpPr>
        <p:spPr>
          <a:xfrm>
            <a:off x="8796838" y="3906995"/>
            <a:ext cx="2551814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運用負荷の増加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76FAB631-E77A-3A30-65E0-479E19F2F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6018" y="2296483"/>
            <a:ext cx="704948" cy="714475"/>
          </a:xfrm>
          <a:prstGeom prst="rect">
            <a:avLst/>
          </a:prstGeom>
        </p:spPr>
      </p:pic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8C5CA1FA-0047-740D-4D4A-5EC6782C2999}"/>
              </a:ext>
            </a:extLst>
          </p:cNvPr>
          <p:cNvSpPr/>
          <p:nvPr/>
        </p:nvSpPr>
        <p:spPr>
          <a:xfrm>
            <a:off x="820969" y="4651776"/>
            <a:ext cx="3158712" cy="1593545"/>
          </a:xfrm>
          <a:prstGeom prst="roundRect">
            <a:avLst/>
          </a:prstGeom>
          <a:solidFill>
            <a:srgbClr val="3066B2"/>
          </a:solidFill>
          <a:ln w="3175">
            <a:solidFill>
              <a:srgbClr val="E19190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61C0AC2D-6518-BEEC-4B4F-D3005A22FD5B}"/>
              </a:ext>
            </a:extLst>
          </p:cNvPr>
          <p:cNvSpPr/>
          <p:nvPr/>
        </p:nvSpPr>
        <p:spPr>
          <a:xfrm>
            <a:off x="817429" y="4722663"/>
            <a:ext cx="3162251" cy="1593545"/>
          </a:xfrm>
          <a:prstGeom prst="roundRect">
            <a:avLst/>
          </a:prstGeom>
          <a:solidFill>
            <a:srgbClr val="F4F8FC"/>
          </a:soli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FD4D08F8-8296-445D-5BAF-7AB2146DEC58}"/>
              </a:ext>
            </a:extLst>
          </p:cNvPr>
          <p:cNvSpPr/>
          <p:nvPr/>
        </p:nvSpPr>
        <p:spPr>
          <a:xfrm>
            <a:off x="2016722" y="4920396"/>
            <a:ext cx="1380348" cy="335032"/>
          </a:xfrm>
          <a:prstGeom prst="roundRect">
            <a:avLst/>
          </a:prstGeom>
          <a:solidFill>
            <a:srgbClr val="044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lang="ja-JP" altLang="en-US"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の解決策</a:t>
            </a:r>
            <a:endParaRPr lang="en-US" altLang="ja-JP" sz="1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105385FB-17F3-7607-F4C7-22B47A61B2CB}"/>
              </a:ext>
            </a:extLst>
          </p:cNvPr>
          <p:cNvSpPr/>
          <p:nvPr/>
        </p:nvSpPr>
        <p:spPr>
          <a:xfrm>
            <a:off x="1710716" y="5394115"/>
            <a:ext cx="2086133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05338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安定した納期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5D6E7F6D-31DD-E505-DD62-62945D0DD8C8}"/>
              </a:ext>
            </a:extLst>
          </p:cNvPr>
          <p:cNvCxnSpPr/>
          <p:nvPr/>
        </p:nvCxnSpPr>
        <p:spPr>
          <a:xfrm>
            <a:off x="1128082" y="6122883"/>
            <a:ext cx="2551814" cy="0"/>
          </a:xfrm>
          <a:prstGeom prst="line">
            <a:avLst/>
          </a:prstGeom>
          <a:ln w="19050">
            <a:solidFill>
              <a:srgbClr val="E2EC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F2B1299B-2787-80F0-9623-B0B642D79163}"/>
              </a:ext>
            </a:extLst>
          </p:cNvPr>
          <p:cNvSpPr/>
          <p:nvPr/>
        </p:nvSpPr>
        <p:spPr>
          <a:xfrm>
            <a:off x="1348778" y="5732996"/>
            <a:ext cx="2653201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独自の調達網で安定供給をコミット</a:t>
            </a:r>
            <a:endParaRPr kumimoji="1" lang="ja-JP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7EAD52A6-DACC-EBAD-44F5-3830A1A5E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805" y="5091797"/>
            <a:ext cx="676369" cy="676369"/>
          </a:xfrm>
          <a:prstGeom prst="rect">
            <a:avLst/>
          </a:prstGeom>
        </p:spPr>
      </p:pic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ED90239B-0FA4-001B-F8D5-8760A5D79E0F}"/>
              </a:ext>
            </a:extLst>
          </p:cNvPr>
          <p:cNvSpPr/>
          <p:nvPr/>
        </p:nvSpPr>
        <p:spPr>
          <a:xfrm>
            <a:off x="4448282" y="4651191"/>
            <a:ext cx="3158712" cy="1593545"/>
          </a:xfrm>
          <a:prstGeom prst="roundRect">
            <a:avLst/>
          </a:prstGeom>
          <a:solidFill>
            <a:srgbClr val="3066B2"/>
          </a:solidFill>
          <a:ln w="3175">
            <a:solidFill>
              <a:srgbClr val="E19190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64" name="四角形: 角を丸くする 63">
            <a:extLst>
              <a:ext uri="{FF2B5EF4-FFF2-40B4-BE49-F238E27FC236}">
                <a16:creationId xmlns:a16="http://schemas.microsoft.com/office/drawing/2014/main" id="{46D06DB6-FB05-DA2E-CCBD-94DB715CCBF9}"/>
              </a:ext>
            </a:extLst>
          </p:cNvPr>
          <p:cNvSpPr/>
          <p:nvPr/>
        </p:nvSpPr>
        <p:spPr>
          <a:xfrm>
            <a:off x="4444742" y="4722078"/>
            <a:ext cx="3162251" cy="1593545"/>
          </a:xfrm>
          <a:prstGeom prst="roundRect">
            <a:avLst/>
          </a:prstGeom>
          <a:solidFill>
            <a:srgbClr val="F4F8FC"/>
          </a:soli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001F8759-3FCF-590E-A118-B29930690838}"/>
              </a:ext>
            </a:extLst>
          </p:cNvPr>
          <p:cNvSpPr/>
          <p:nvPr/>
        </p:nvSpPr>
        <p:spPr>
          <a:xfrm>
            <a:off x="5338029" y="5393530"/>
            <a:ext cx="2086133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05338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安定価格で提供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F5F360A2-9D23-0CD7-4F05-14E8922520E6}"/>
              </a:ext>
            </a:extLst>
          </p:cNvPr>
          <p:cNvCxnSpPr/>
          <p:nvPr/>
        </p:nvCxnSpPr>
        <p:spPr>
          <a:xfrm>
            <a:off x="4755395" y="6122298"/>
            <a:ext cx="2551814" cy="0"/>
          </a:xfrm>
          <a:prstGeom prst="line">
            <a:avLst/>
          </a:prstGeom>
          <a:ln w="19050">
            <a:solidFill>
              <a:srgbClr val="E2EC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AB47EACC-27C8-7F53-0F29-3D92C77A3B98}"/>
              </a:ext>
            </a:extLst>
          </p:cNvPr>
          <p:cNvSpPr/>
          <p:nvPr/>
        </p:nvSpPr>
        <p:spPr>
          <a:xfrm>
            <a:off x="4755394" y="5732411"/>
            <a:ext cx="2873897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最適調達と効率化でコストを最適化</a:t>
            </a:r>
            <a:endParaRPr kumimoji="1" lang="ja-JP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91F85AFF-B37A-6F71-8986-A19D4E3B8121}"/>
              </a:ext>
            </a:extLst>
          </p:cNvPr>
          <p:cNvSpPr/>
          <p:nvPr/>
        </p:nvSpPr>
        <p:spPr>
          <a:xfrm>
            <a:off x="8088616" y="4651191"/>
            <a:ext cx="3471043" cy="1593545"/>
          </a:xfrm>
          <a:prstGeom prst="roundRect">
            <a:avLst/>
          </a:prstGeom>
          <a:solidFill>
            <a:srgbClr val="3066B2"/>
          </a:solidFill>
          <a:ln w="3175">
            <a:solidFill>
              <a:srgbClr val="E19190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1EFC4078-79D6-1B61-BFBF-A8B06B3448AC}"/>
              </a:ext>
            </a:extLst>
          </p:cNvPr>
          <p:cNvSpPr/>
          <p:nvPr/>
        </p:nvSpPr>
        <p:spPr>
          <a:xfrm>
            <a:off x="8085077" y="4722078"/>
            <a:ext cx="3474583" cy="1593545"/>
          </a:xfrm>
          <a:prstGeom prst="roundRect">
            <a:avLst/>
          </a:prstGeom>
          <a:solidFill>
            <a:srgbClr val="F4F8FC"/>
          </a:soli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B9A2302B-C43F-E75B-B98D-60C98DB000CB}"/>
              </a:ext>
            </a:extLst>
          </p:cNvPr>
          <p:cNvSpPr/>
          <p:nvPr/>
        </p:nvSpPr>
        <p:spPr>
          <a:xfrm>
            <a:off x="8978364" y="5393530"/>
            <a:ext cx="2481058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05338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安心できる</a:t>
            </a:r>
            <a:r>
              <a:rPr lang="en-US" altLang="ja-JP" sz="2000" b="1">
                <a:solidFill>
                  <a:srgbClr val="05338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lang="ja-JP" altLang="en-US" sz="2000" b="1">
                <a:solidFill>
                  <a:srgbClr val="05338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保守</a:t>
            </a: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C2829BF1-A288-26C6-B5B8-11750A677DAA}"/>
              </a:ext>
            </a:extLst>
          </p:cNvPr>
          <p:cNvCxnSpPr/>
          <p:nvPr/>
        </p:nvCxnSpPr>
        <p:spPr>
          <a:xfrm>
            <a:off x="8395730" y="6122298"/>
            <a:ext cx="2551814" cy="0"/>
          </a:xfrm>
          <a:prstGeom prst="line">
            <a:avLst/>
          </a:prstGeom>
          <a:ln w="19050">
            <a:solidFill>
              <a:srgbClr val="E2EC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4D790314-017A-3309-5AB3-9CEA4AA2BD35}"/>
              </a:ext>
            </a:extLst>
          </p:cNvPr>
          <p:cNvSpPr/>
          <p:nvPr/>
        </p:nvSpPr>
        <p:spPr>
          <a:xfrm>
            <a:off x="8618818" y="5732411"/>
            <a:ext cx="2840603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国内サポートによる迅速・</a:t>
            </a:r>
            <a:r>
              <a:rPr lang="ja-JP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安定対応</a:t>
            </a:r>
            <a:endParaRPr kumimoji="1" lang="ja-JP" altLang="en-US" sz="24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5968F5D9-1F85-6495-8A8C-C301AFF72658}"/>
              </a:ext>
            </a:extLst>
          </p:cNvPr>
          <p:cNvSpPr/>
          <p:nvPr/>
        </p:nvSpPr>
        <p:spPr>
          <a:xfrm>
            <a:off x="5649810" y="4915376"/>
            <a:ext cx="1380348" cy="335032"/>
          </a:xfrm>
          <a:prstGeom prst="roundRect">
            <a:avLst/>
          </a:prstGeom>
          <a:solidFill>
            <a:srgbClr val="044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lang="ja-JP" altLang="en-US"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の解決策</a:t>
            </a:r>
            <a:endParaRPr lang="en-US" altLang="ja-JP" sz="1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61AAC28D-B045-71D1-4A9A-DA6F941D21F2}"/>
              </a:ext>
            </a:extLst>
          </p:cNvPr>
          <p:cNvSpPr/>
          <p:nvPr/>
        </p:nvSpPr>
        <p:spPr>
          <a:xfrm>
            <a:off x="9415250" y="4910356"/>
            <a:ext cx="1380348" cy="335032"/>
          </a:xfrm>
          <a:prstGeom prst="roundRect">
            <a:avLst/>
          </a:prstGeom>
          <a:solidFill>
            <a:srgbClr val="044B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CTC</a:t>
            </a:r>
            <a:r>
              <a:rPr lang="ja-JP" altLang="en-US"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の解決策</a:t>
            </a:r>
            <a:endParaRPr lang="en-US" altLang="ja-JP" sz="1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0" name="図 79">
            <a:extLst>
              <a:ext uri="{FF2B5EF4-FFF2-40B4-BE49-F238E27FC236}">
                <a16:creationId xmlns:a16="http://schemas.microsoft.com/office/drawing/2014/main" id="{EED6F41B-AD7F-8BCB-7BFE-AEFCC26C4F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3521" y="5060585"/>
            <a:ext cx="685896" cy="657317"/>
          </a:xfrm>
          <a:prstGeom prst="rect">
            <a:avLst/>
          </a:prstGeom>
        </p:spPr>
      </p:pic>
      <p:pic>
        <p:nvPicPr>
          <p:cNvPr id="82" name="図 81">
            <a:extLst>
              <a:ext uri="{FF2B5EF4-FFF2-40B4-BE49-F238E27FC236}">
                <a16:creationId xmlns:a16="http://schemas.microsoft.com/office/drawing/2014/main" id="{27281951-20A2-A1DC-5760-DA38C5E7F0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377" y="5027088"/>
            <a:ext cx="590632" cy="638264"/>
          </a:xfrm>
          <a:prstGeom prst="rect">
            <a:avLst/>
          </a:prstGeom>
        </p:spPr>
      </p:pic>
      <p:sp>
        <p:nvSpPr>
          <p:cNvPr id="83" name="矢印: 右 82">
            <a:extLst>
              <a:ext uri="{FF2B5EF4-FFF2-40B4-BE49-F238E27FC236}">
                <a16:creationId xmlns:a16="http://schemas.microsoft.com/office/drawing/2014/main" id="{B855B070-8825-0831-6174-C2C421335657}"/>
              </a:ext>
            </a:extLst>
          </p:cNvPr>
          <p:cNvSpPr/>
          <p:nvPr/>
        </p:nvSpPr>
        <p:spPr>
          <a:xfrm rot="5400000">
            <a:off x="2314740" y="4255296"/>
            <a:ext cx="255771" cy="507613"/>
          </a:xfrm>
          <a:prstGeom prst="rightArrow">
            <a:avLst/>
          </a:prstGeom>
          <a:solidFill>
            <a:srgbClr val="072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矢印: 右 83">
            <a:extLst>
              <a:ext uri="{FF2B5EF4-FFF2-40B4-BE49-F238E27FC236}">
                <a16:creationId xmlns:a16="http://schemas.microsoft.com/office/drawing/2014/main" id="{5055F940-A39E-D707-8CA3-646C8B563AA0}"/>
              </a:ext>
            </a:extLst>
          </p:cNvPr>
          <p:cNvSpPr/>
          <p:nvPr/>
        </p:nvSpPr>
        <p:spPr>
          <a:xfrm rot="5400000">
            <a:off x="5968114" y="4251742"/>
            <a:ext cx="255771" cy="507613"/>
          </a:xfrm>
          <a:prstGeom prst="rightArrow">
            <a:avLst/>
          </a:prstGeom>
          <a:solidFill>
            <a:srgbClr val="072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矢印: 右 84">
            <a:extLst>
              <a:ext uri="{FF2B5EF4-FFF2-40B4-BE49-F238E27FC236}">
                <a16:creationId xmlns:a16="http://schemas.microsoft.com/office/drawing/2014/main" id="{2F18FA85-0DB5-1777-C0DE-082330CA4B52}"/>
              </a:ext>
            </a:extLst>
          </p:cNvPr>
          <p:cNvSpPr/>
          <p:nvPr/>
        </p:nvSpPr>
        <p:spPr>
          <a:xfrm rot="5400000">
            <a:off x="9777904" y="4248188"/>
            <a:ext cx="255771" cy="507613"/>
          </a:xfrm>
          <a:prstGeom prst="rightArrow">
            <a:avLst/>
          </a:prstGeom>
          <a:solidFill>
            <a:srgbClr val="072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472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C698A-988C-D004-3DD1-2FEA2D70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2FEBF3F-B5D5-CEFC-2538-227D4C3FDE55}"/>
              </a:ext>
            </a:extLst>
          </p:cNvPr>
          <p:cNvSpPr/>
          <p:nvPr/>
        </p:nvSpPr>
        <p:spPr>
          <a:xfrm>
            <a:off x="1106980" y="2442560"/>
            <a:ext cx="2246862" cy="1573711"/>
          </a:xfrm>
          <a:prstGeom prst="roundRect">
            <a:avLst>
              <a:gd name="adj" fmla="val 15596"/>
            </a:avLst>
          </a:prstGeom>
          <a:solidFill>
            <a:srgbClr val="3589E8"/>
          </a:soli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859944E-AB35-3E46-183D-C690E39797B1}"/>
              </a:ext>
            </a:extLst>
          </p:cNvPr>
          <p:cNvSpPr/>
          <p:nvPr/>
        </p:nvSpPr>
        <p:spPr>
          <a:xfrm>
            <a:off x="1089773" y="2899727"/>
            <a:ext cx="2280411" cy="3452726"/>
          </a:xfrm>
          <a:prstGeom prst="roundRect">
            <a:avLst>
              <a:gd name="adj" fmla="val 0"/>
            </a:avLst>
          </a:prstGeom>
          <a:solidFill>
            <a:srgbClr val="F9FBFD"/>
          </a:solidFill>
          <a:ln w="3175">
            <a:solidFill>
              <a:srgbClr val="F9FBFD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C489B3A-A9F2-5588-0682-718A8BD22A09}"/>
              </a:ext>
            </a:extLst>
          </p:cNvPr>
          <p:cNvSpPr/>
          <p:nvPr/>
        </p:nvSpPr>
        <p:spPr>
          <a:xfrm>
            <a:off x="0" y="917952"/>
            <a:ext cx="12192000" cy="684000"/>
          </a:xfrm>
          <a:prstGeom prst="rect">
            <a:avLst/>
          </a:prstGeom>
          <a:solidFill>
            <a:srgbClr val="003CB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継続的に製品ラインナップを強化し、競争力のある製品提供</a:t>
            </a:r>
            <a:endParaRPr lang="en-US" altLang="ja-JP" sz="2200" b="1">
              <a:solidFill>
                <a:srgbClr val="FFFFFF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タイトル 2">
            <a:extLst>
              <a:ext uri="{FF2B5EF4-FFF2-40B4-BE49-F238E27FC236}">
                <a16:creationId xmlns:a16="http://schemas.microsoft.com/office/drawing/2014/main" id="{DBBC150B-A4F6-9E81-7ED2-8CEC8A16787D}"/>
              </a:ext>
            </a:extLst>
          </p:cNvPr>
          <p:cNvSpPr txBox="1">
            <a:spLocks/>
          </p:cNvSpPr>
          <p:nvPr/>
        </p:nvSpPr>
        <p:spPr>
          <a:xfrm>
            <a:off x="280582" y="315955"/>
            <a:ext cx="10516036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CTC WhiteLabel</a:t>
            </a:r>
            <a:r>
              <a:rPr lang="ja-JP" altLang="en-US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製品のロードマップ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0F3CC686-1853-BE9F-EC38-AE3E12317D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10" b="76150"/>
          <a:stretch>
            <a:fillRect/>
          </a:stretch>
        </p:blipFill>
        <p:spPr>
          <a:xfrm>
            <a:off x="1039067" y="1617773"/>
            <a:ext cx="10172722" cy="744373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6FA4249-38AA-1F67-4EBD-0C965D405C00}"/>
              </a:ext>
            </a:extLst>
          </p:cNvPr>
          <p:cNvSpPr txBox="1"/>
          <p:nvPr/>
        </p:nvSpPr>
        <p:spPr>
          <a:xfrm>
            <a:off x="1283753" y="3891280"/>
            <a:ext cx="18802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>
                <a:latin typeface="Noto Sans JP" panose="020B0200000000000000" pitchFamily="50" charset="-128"/>
                <a:ea typeface="Noto Sans JP" panose="020B0200000000000000" pitchFamily="50" charset="-128"/>
              </a:rPr>
              <a:t>製造委託先：中国企業</a:t>
            </a:r>
            <a:endParaRPr kumimoji="1" lang="ja-JP" altLang="en-US" sz="100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9E08F04-29E9-425D-7EB4-B5F3017A47E4}"/>
              </a:ext>
            </a:extLst>
          </p:cNvPr>
          <p:cNvSpPr/>
          <p:nvPr/>
        </p:nvSpPr>
        <p:spPr>
          <a:xfrm>
            <a:off x="1283753" y="3587977"/>
            <a:ext cx="1925137" cy="253917"/>
          </a:xfrm>
          <a:prstGeom prst="rect">
            <a:avLst/>
          </a:prstGeom>
          <a:solidFill>
            <a:srgbClr val="F8FAFE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200" b="1">
                <a:solidFill>
                  <a:srgbClr val="3750C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ネットワーク</a:t>
            </a:r>
            <a:r>
              <a:rPr lang="en-US" altLang="ja-JP" sz="1200" b="1">
                <a:solidFill>
                  <a:srgbClr val="3750C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/</a:t>
            </a:r>
            <a:r>
              <a:rPr lang="ja-JP" altLang="en-US" sz="1200" b="1">
                <a:solidFill>
                  <a:srgbClr val="3750C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ストレージ</a:t>
            </a:r>
            <a:endParaRPr kumimoji="1" lang="ja-JP" altLang="en-US" sz="1200" b="1">
              <a:solidFill>
                <a:srgbClr val="3750CE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EC3A998-AAA5-B7AE-0580-9120DBE5D9F4}"/>
              </a:ext>
            </a:extLst>
          </p:cNvPr>
          <p:cNvSpPr/>
          <p:nvPr/>
        </p:nvSpPr>
        <p:spPr>
          <a:xfrm>
            <a:off x="1180803" y="3191700"/>
            <a:ext cx="2086133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03134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初期フェーズ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3C08533-7B85-8451-50BB-55C8F213ECB8}"/>
              </a:ext>
            </a:extLst>
          </p:cNvPr>
          <p:cNvSpPr/>
          <p:nvPr/>
        </p:nvSpPr>
        <p:spPr>
          <a:xfrm>
            <a:off x="1039066" y="2522974"/>
            <a:ext cx="2343150" cy="3551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PHASE 1</a:t>
            </a:r>
            <a:endParaRPr lang="ja-JP" altLang="en-US" sz="16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67F66EB-A62B-ED82-4218-B43CFFF4C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038" y="4204763"/>
            <a:ext cx="1343212" cy="724001"/>
          </a:xfrm>
          <a:prstGeom prst="rect">
            <a:avLst/>
          </a:prstGeom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9661CD5-A32A-D2A4-8E8F-C770C2C7019C}"/>
              </a:ext>
            </a:extLst>
          </p:cNvPr>
          <p:cNvCxnSpPr>
            <a:cxnSpLocks/>
          </p:cNvCxnSpPr>
          <p:nvPr/>
        </p:nvCxnSpPr>
        <p:spPr>
          <a:xfrm>
            <a:off x="1283753" y="5055437"/>
            <a:ext cx="1880234" cy="0"/>
          </a:xfrm>
          <a:prstGeom prst="line">
            <a:avLst/>
          </a:prstGeom>
          <a:ln w="19050">
            <a:solidFill>
              <a:srgbClr val="E2EC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512AF1A-426A-CC7B-3C53-75D62DD258C4}"/>
              </a:ext>
            </a:extLst>
          </p:cNvPr>
          <p:cNvSpPr/>
          <p:nvPr/>
        </p:nvSpPr>
        <p:spPr>
          <a:xfrm>
            <a:off x="1465942" y="5227691"/>
            <a:ext cx="1904242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2026</a:t>
            </a:r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年</a:t>
            </a:r>
            <a:r>
              <a:rPr kumimoji="1" lang="en-US" altLang="ja-JP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月にリリース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D71817BC-4E4A-CC79-7344-871FB9DE9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74" y="5256040"/>
            <a:ext cx="288171" cy="242064"/>
          </a:xfrm>
          <a:prstGeom prst="rect">
            <a:avLst/>
          </a:prstGeom>
        </p:spPr>
      </p:pic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6FB93136-A515-298E-17EF-CC4666782902}"/>
              </a:ext>
            </a:extLst>
          </p:cNvPr>
          <p:cNvSpPr/>
          <p:nvPr/>
        </p:nvSpPr>
        <p:spPr>
          <a:xfrm>
            <a:off x="1472200" y="5685963"/>
            <a:ext cx="1904242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NW</a:t>
            </a:r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のラインナップ拡充を順次実施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BDEA44E6-B30D-F52B-4FEA-4AA8B170E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932" y="5618056"/>
            <a:ext cx="288171" cy="242064"/>
          </a:xfrm>
          <a:prstGeom prst="rect">
            <a:avLst/>
          </a:prstGeom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939B02E-A58E-EDF3-1E0C-60DFDE609B61}"/>
              </a:ext>
            </a:extLst>
          </p:cNvPr>
          <p:cNvSpPr/>
          <p:nvPr/>
        </p:nvSpPr>
        <p:spPr>
          <a:xfrm>
            <a:off x="3711019" y="2442560"/>
            <a:ext cx="2246862" cy="1573711"/>
          </a:xfrm>
          <a:prstGeom prst="roundRect">
            <a:avLst>
              <a:gd name="adj" fmla="val 15596"/>
            </a:avLst>
          </a:prstGeom>
          <a:solidFill>
            <a:srgbClr val="1874E3"/>
          </a:soli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4F08CB8-DD8D-07EB-63E6-6F8F02426B91}"/>
              </a:ext>
            </a:extLst>
          </p:cNvPr>
          <p:cNvSpPr/>
          <p:nvPr/>
        </p:nvSpPr>
        <p:spPr>
          <a:xfrm>
            <a:off x="3693812" y="2899727"/>
            <a:ext cx="2280411" cy="3452726"/>
          </a:xfrm>
          <a:prstGeom prst="roundRect">
            <a:avLst>
              <a:gd name="adj" fmla="val 348"/>
            </a:avLst>
          </a:prstGeom>
          <a:gradFill>
            <a:gsLst>
              <a:gs pos="0">
                <a:srgbClr val="EDF4FC"/>
              </a:gs>
              <a:gs pos="42000">
                <a:srgbClr val="FAFBFC"/>
              </a:gs>
            </a:gsLst>
            <a:lin ang="5400000" scaled="1"/>
          </a:gra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5AA9DAD-2EA7-651D-58CC-521E8E60DD99}"/>
              </a:ext>
            </a:extLst>
          </p:cNvPr>
          <p:cNvSpPr txBox="1"/>
          <p:nvPr/>
        </p:nvSpPr>
        <p:spPr>
          <a:xfrm>
            <a:off x="3887792" y="3891280"/>
            <a:ext cx="18802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>
                <a:latin typeface="Noto Sans JP" panose="020B0200000000000000" pitchFamily="50" charset="-128"/>
                <a:ea typeface="Noto Sans JP" panose="020B0200000000000000" pitchFamily="50" charset="-128"/>
              </a:rPr>
              <a:t>製造委託先：台湾企業</a:t>
            </a:r>
            <a:endParaRPr kumimoji="1" lang="ja-JP" altLang="en-US" sz="100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2107C3B-38D9-68FB-BD83-3D57AA5E9211}"/>
              </a:ext>
            </a:extLst>
          </p:cNvPr>
          <p:cNvSpPr/>
          <p:nvPr/>
        </p:nvSpPr>
        <p:spPr>
          <a:xfrm>
            <a:off x="3887792" y="3587977"/>
            <a:ext cx="1925137" cy="253917"/>
          </a:xfrm>
          <a:prstGeom prst="rect">
            <a:avLst/>
          </a:prstGeom>
          <a:solidFill>
            <a:srgbClr val="F8FAFE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200" b="1">
                <a:solidFill>
                  <a:srgbClr val="3750C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サーバ</a:t>
            </a:r>
            <a:endParaRPr kumimoji="1" lang="ja-JP" altLang="en-US" sz="1200" b="1">
              <a:solidFill>
                <a:srgbClr val="3750CE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DEF9E66-73B3-6A56-D0D5-3155A8B9FCB6}"/>
              </a:ext>
            </a:extLst>
          </p:cNvPr>
          <p:cNvSpPr/>
          <p:nvPr/>
        </p:nvSpPr>
        <p:spPr>
          <a:xfrm>
            <a:off x="3704058" y="3191700"/>
            <a:ext cx="2286669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03134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基盤構築フェーズ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8F6C3B76-8334-2F04-6BD7-32537085595A}"/>
              </a:ext>
            </a:extLst>
          </p:cNvPr>
          <p:cNvSpPr/>
          <p:nvPr/>
        </p:nvSpPr>
        <p:spPr>
          <a:xfrm>
            <a:off x="3643105" y="2522974"/>
            <a:ext cx="2343150" cy="3551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PHASE 2</a:t>
            </a:r>
            <a:endParaRPr lang="ja-JP" altLang="en-US" sz="16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2D7B52DC-7394-6502-07EC-0707D655107B}"/>
              </a:ext>
            </a:extLst>
          </p:cNvPr>
          <p:cNvCxnSpPr>
            <a:cxnSpLocks/>
          </p:cNvCxnSpPr>
          <p:nvPr/>
        </p:nvCxnSpPr>
        <p:spPr>
          <a:xfrm>
            <a:off x="3887792" y="5055437"/>
            <a:ext cx="1880234" cy="0"/>
          </a:xfrm>
          <a:prstGeom prst="line">
            <a:avLst/>
          </a:prstGeom>
          <a:ln w="19050">
            <a:solidFill>
              <a:srgbClr val="E2EC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8DC3E6C0-602E-7896-0DC8-D0A4DFFAD1AA}"/>
              </a:ext>
            </a:extLst>
          </p:cNvPr>
          <p:cNvSpPr/>
          <p:nvPr/>
        </p:nvSpPr>
        <p:spPr>
          <a:xfrm>
            <a:off x="4069981" y="5335978"/>
            <a:ext cx="1904242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現在、海外委託業者と　調整中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0C6E88AB-A71A-00E8-5493-68CF759A7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713" y="5256040"/>
            <a:ext cx="288171" cy="242064"/>
          </a:xfrm>
          <a:prstGeom prst="rect">
            <a:avLst/>
          </a:prstGeom>
        </p:spPr>
      </p:pic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87A2669-05AE-11FC-9C12-18359BEE2032}"/>
              </a:ext>
            </a:extLst>
          </p:cNvPr>
          <p:cNvSpPr/>
          <p:nvPr/>
        </p:nvSpPr>
        <p:spPr>
          <a:xfrm>
            <a:off x="4076239" y="5794249"/>
            <a:ext cx="1904242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2026</a:t>
            </a:r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年秋にリリース　予定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A975C52A-797B-87BF-ACA4-80BCF9185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971" y="5726342"/>
            <a:ext cx="288171" cy="242064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81929B26-16FF-C805-262A-D246459EFC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974" y="4176068"/>
            <a:ext cx="895475" cy="724001"/>
          </a:xfrm>
          <a:prstGeom prst="rect">
            <a:avLst/>
          </a:prstGeom>
        </p:spPr>
      </p:pic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E4A12974-B19B-109F-B529-C8272496D1CE}"/>
              </a:ext>
            </a:extLst>
          </p:cNvPr>
          <p:cNvSpPr/>
          <p:nvPr/>
        </p:nvSpPr>
        <p:spPr>
          <a:xfrm>
            <a:off x="6337973" y="2442560"/>
            <a:ext cx="2246862" cy="1573711"/>
          </a:xfrm>
          <a:prstGeom prst="roundRect">
            <a:avLst>
              <a:gd name="adj" fmla="val 15596"/>
            </a:avLst>
          </a:prstGeom>
          <a:solidFill>
            <a:srgbClr val="0738BE"/>
          </a:soli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F9847BD5-4459-58DD-8EB6-E4788A1F0321}"/>
              </a:ext>
            </a:extLst>
          </p:cNvPr>
          <p:cNvSpPr/>
          <p:nvPr/>
        </p:nvSpPr>
        <p:spPr>
          <a:xfrm>
            <a:off x="6320766" y="2889820"/>
            <a:ext cx="2280411" cy="3462633"/>
          </a:xfrm>
          <a:prstGeom prst="roundRect">
            <a:avLst>
              <a:gd name="adj" fmla="val 1281"/>
            </a:avLst>
          </a:prstGeom>
          <a:gradFill>
            <a:gsLst>
              <a:gs pos="0">
                <a:srgbClr val="DADDF5"/>
              </a:gs>
              <a:gs pos="28000">
                <a:srgbClr val="F5F7FC"/>
              </a:gs>
            </a:gsLst>
            <a:lin ang="5400000" scaled="1"/>
          </a:gra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548D178-220B-5E76-723C-E012FCF939BC}"/>
              </a:ext>
            </a:extLst>
          </p:cNvPr>
          <p:cNvSpPr/>
          <p:nvPr/>
        </p:nvSpPr>
        <p:spPr>
          <a:xfrm>
            <a:off x="6514746" y="3587977"/>
            <a:ext cx="1925137" cy="253917"/>
          </a:xfrm>
          <a:prstGeom prst="rect">
            <a:avLst/>
          </a:prstGeom>
          <a:solidFill>
            <a:srgbClr val="F8FAFE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200" b="1">
                <a:solidFill>
                  <a:srgbClr val="3750C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次なる製品</a:t>
            </a:r>
            <a:endParaRPr kumimoji="1" lang="ja-JP" altLang="en-US" sz="1200" b="1">
              <a:solidFill>
                <a:srgbClr val="3750CE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5477A058-D441-52B2-979D-BC8B38E01B6F}"/>
              </a:ext>
            </a:extLst>
          </p:cNvPr>
          <p:cNvSpPr/>
          <p:nvPr/>
        </p:nvSpPr>
        <p:spPr>
          <a:xfrm>
            <a:off x="6331012" y="3191700"/>
            <a:ext cx="2286669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03134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拡張フェーズ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D2E0FB76-8B88-B814-2560-9080AA9DF4BC}"/>
              </a:ext>
            </a:extLst>
          </p:cNvPr>
          <p:cNvSpPr/>
          <p:nvPr/>
        </p:nvSpPr>
        <p:spPr>
          <a:xfrm>
            <a:off x="6270059" y="2522974"/>
            <a:ext cx="2343150" cy="3551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PHASE 3</a:t>
            </a:r>
            <a:endParaRPr lang="ja-JP" altLang="en-US" sz="16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6E8B5D27-859B-703F-E218-78C4D92A01F0}"/>
              </a:ext>
            </a:extLst>
          </p:cNvPr>
          <p:cNvCxnSpPr>
            <a:cxnSpLocks/>
          </p:cNvCxnSpPr>
          <p:nvPr/>
        </p:nvCxnSpPr>
        <p:spPr>
          <a:xfrm>
            <a:off x="6514746" y="5055437"/>
            <a:ext cx="1880234" cy="0"/>
          </a:xfrm>
          <a:prstGeom prst="line">
            <a:avLst/>
          </a:prstGeom>
          <a:ln w="19050">
            <a:solidFill>
              <a:srgbClr val="E2EC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887FAAA4-4BAD-7A32-3E42-2AC659A6E8A2}"/>
              </a:ext>
            </a:extLst>
          </p:cNvPr>
          <p:cNvSpPr/>
          <p:nvPr/>
        </p:nvSpPr>
        <p:spPr>
          <a:xfrm>
            <a:off x="6696935" y="5335978"/>
            <a:ext cx="1904242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新たな地域・製品の検討を継続し、ラインナップをさらに拡充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4E17CFCA-0EC3-C677-9262-3C65B4C67813}"/>
              </a:ext>
            </a:extLst>
          </p:cNvPr>
          <p:cNvSpPr/>
          <p:nvPr/>
        </p:nvSpPr>
        <p:spPr>
          <a:xfrm>
            <a:off x="6703193" y="5889166"/>
            <a:ext cx="1904242" cy="3228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最適な製品・パートナーを選定中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B31E4D63-E3DA-5855-4F7A-8CEA3DA0C040}"/>
              </a:ext>
            </a:extLst>
          </p:cNvPr>
          <p:cNvSpPr/>
          <p:nvPr/>
        </p:nvSpPr>
        <p:spPr>
          <a:xfrm>
            <a:off x="8964927" y="2442560"/>
            <a:ext cx="2246862" cy="1573711"/>
          </a:xfrm>
          <a:prstGeom prst="roundRect">
            <a:avLst>
              <a:gd name="adj" fmla="val 15596"/>
            </a:avLst>
          </a:prstGeom>
          <a:solidFill>
            <a:srgbClr val="032061"/>
          </a:soli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A2A22BE5-B60E-263E-FFAD-9476DD93CE10}"/>
              </a:ext>
            </a:extLst>
          </p:cNvPr>
          <p:cNvSpPr/>
          <p:nvPr/>
        </p:nvSpPr>
        <p:spPr>
          <a:xfrm>
            <a:off x="8947720" y="2899727"/>
            <a:ext cx="2280411" cy="3452726"/>
          </a:xfrm>
          <a:prstGeom prst="roundRect">
            <a:avLst>
              <a:gd name="adj" fmla="val 814"/>
            </a:avLst>
          </a:prstGeom>
          <a:gradFill flip="none" rotWithShape="1">
            <a:gsLst>
              <a:gs pos="51472">
                <a:srgbClr val="F4F7FD"/>
              </a:gs>
              <a:gs pos="28000">
                <a:srgbClr val="E1E8F9"/>
              </a:gs>
              <a:gs pos="0">
                <a:srgbClr val="83A2F3"/>
              </a:gs>
              <a:gs pos="100000">
                <a:srgbClr val="F9FBFD"/>
              </a:gs>
            </a:gsLst>
            <a:lin ang="5400000" scaled="1"/>
            <a:tileRect/>
          </a:gradFill>
          <a:ln w="3175">
            <a:solidFill>
              <a:srgbClr val="E2EDF9"/>
            </a:solidFill>
            <a:prstDash val="sysDot"/>
          </a:ln>
          <a:effectLst/>
        </p:spPr>
        <p:txBody>
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7F4DF2F7-6DAF-2A7C-78FA-51F74839E1F0}"/>
              </a:ext>
            </a:extLst>
          </p:cNvPr>
          <p:cNvSpPr/>
          <p:nvPr/>
        </p:nvSpPr>
        <p:spPr>
          <a:xfrm>
            <a:off x="9141700" y="3587977"/>
            <a:ext cx="1925137" cy="253917"/>
          </a:xfrm>
          <a:prstGeom prst="rect">
            <a:avLst/>
          </a:prstGeom>
          <a:solidFill>
            <a:srgbClr val="F8FAFE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200" b="1">
                <a:solidFill>
                  <a:srgbClr val="3750C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ソリューション</a:t>
            </a:r>
            <a:endParaRPr kumimoji="1" lang="ja-JP" altLang="en-US" sz="1200" b="1">
              <a:solidFill>
                <a:srgbClr val="3750CE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4C881F4F-00B8-72E9-1C3A-E06C395D2DA0}"/>
              </a:ext>
            </a:extLst>
          </p:cNvPr>
          <p:cNvSpPr/>
          <p:nvPr/>
        </p:nvSpPr>
        <p:spPr>
          <a:xfrm>
            <a:off x="8957966" y="3191700"/>
            <a:ext cx="2286669" cy="3228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>
                <a:solidFill>
                  <a:srgbClr val="03134E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統合フェーズ</a:t>
            </a:r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410F1697-F9AD-21C9-9B67-222A4A27F007}"/>
              </a:ext>
            </a:extLst>
          </p:cNvPr>
          <p:cNvSpPr/>
          <p:nvPr/>
        </p:nvSpPr>
        <p:spPr>
          <a:xfrm>
            <a:off x="8897013" y="2522974"/>
            <a:ext cx="2343150" cy="3551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PHASE 4</a:t>
            </a:r>
            <a:endParaRPr lang="ja-JP" altLang="en-US" sz="16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11DFDE3E-D825-8308-2977-1A38BD101027}"/>
              </a:ext>
            </a:extLst>
          </p:cNvPr>
          <p:cNvCxnSpPr>
            <a:cxnSpLocks/>
          </p:cNvCxnSpPr>
          <p:nvPr/>
        </p:nvCxnSpPr>
        <p:spPr>
          <a:xfrm>
            <a:off x="9141700" y="5055437"/>
            <a:ext cx="1880234" cy="0"/>
          </a:xfrm>
          <a:prstGeom prst="line">
            <a:avLst/>
          </a:prstGeom>
          <a:ln w="19050">
            <a:solidFill>
              <a:srgbClr val="E2EC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505D5794-7457-D4F4-8F55-5D75DD8785C2}"/>
              </a:ext>
            </a:extLst>
          </p:cNvPr>
          <p:cNvSpPr/>
          <p:nvPr/>
        </p:nvSpPr>
        <p:spPr>
          <a:xfrm>
            <a:off x="9196292" y="5250914"/>
            <a:ext cx="2093513" cy="66365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WhiteLabel</a:t>
            </a:r>
            <a:r>
              <a:rPr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ラインナップ</a:t>
            </a:r>
            <a:r>
              <a:rPr kumimoji="1" lang="ja-JP" alt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でソリューションパッケージ製品リリース</a:t>
            </a:r>
            <a:endParaRPr kumimoji="1" lang="ja-JP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67" name="図 66">
            <a:extLst>
              <a:ext uri="{FF2B5EF4-FFF2-40B4-BE49-F238E27FC236}">
                <a16:creationId xmlns:a16="http://schemas.microsoft.com/office/drawing/2014/main" id="{6AA9CC35-88E8-9E85-AD36-551F71461B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143" y="5171816"/>
            <a:ext cx="195957" cy="242064"/>
          </a:xfrm>
          <a:prstGeom prst="rect">
            <a:avLst/>
          </a:prstGeom>
        </p:spPr>
      </p:pic>
      <p:pic>
        <p:nvPicPr>
          <p:cNvPr id="68" name="図 67">
            <a:extLst>
              <a:ext uri="{FF2B5EF4-FFF2-40B4-BE49-F238E27FC236}">
                <a16:creationId xmlns:a16="http://schemas.microsoft.com/office/drawing/2014/main" id="{72756A5F-39E9-822D-D598-09D3EE858F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978" y="5833162"/>
            <a:ext cx="195957" cy="242064"/>
          </a:xfrm>
          <a:prstGeom prst="rect">
            <a:avLst/>
          </a:prstGeom>
        </p:spPr>
      </p:pic>
      <p:pic>
        <p:nvPicPr>
          <p:cNvPr id="70" name="図 69">
            <a:extLst>
              <a:ext uri="{FF2B5EF4-FFF2-40B4-BE49-F238E27FC236}">
                <a16:creationId xmlns:a16="http://schemas.microsoft.com/office/drawing/2014/main" id="{9C560DBE-6F42-3F71-7DD2-88D5B37F0F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475" y="4039737"/>
            <a:ext cx="838317" cy="817359"/>
          </a:xfrm>
          <a:prstGeom prst="rect">
            <a:avLst/>
          </a:prstGeom>
        </p:spPr>
      </p:pic>
      <p:pic>
        <p:nvPicPr>
          <p:cNvPr id="72" name="図 71">
            <a:extLst>
              <a:ext uri="{FF2B5EF4-FFF2-40B4-BE49-F238E27FC236}">
                <a16:creationId xmlns:a16="http://schemas.microsoft.com/office/drawing/2014/main" id="{81F50694-8F41-568B-1AF8-F610FD86E7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1211" y="4015957"/>
            <a:ext cx="981212" cy="733527"/>
          </a:xfrm>
          <a:prstGeom prst="rect">
            <a:avLst/>
          </a:prstGeom>
        </p:spPr>
      </p:pic>
      <p:sp>
        <p:nvSpPr>
          <p:cNvPr id="73" name="矢印: 右 72">
            <a:extLst>
              <a:ext uri="{FF2B5EF4-FFF2-40B4-BE49-F238E27FC236}">
                <a16:creationId xmlns:a16="http://schemas.microsoft.com/office/drawing/2014/main" id="{882C1779-E291-FBEE-4DBE-4093A57DA570}"/>
              </a:ext>
            </a:extLst>
          </p:cNvPr>
          <p:cNvSpPr/>
          <p:nvPr/>
        </p:nvSpPr>
        <p:spPr>
          <a:xfrm>
            <a:off x="3295207" y="4098617"/>
            <a:ext cx="498424" cy="614211"/>
          </a:xfrm>
          <a:prstGeom prst="rightArrow">
            <a:avLst/>
          </a:prstGeom>
          <a:gradFill flip="none" rotWithShape="1">
            <a:gsLst>
              <a:gs pos="0">
                <a:srgbClr val="DCEAFA"/>
              </a:gs>
              <a:gs pos="67000">
                <a:srgbClr val="337CDD"/>
              </a:gs>
              <a:gs pos="100000">
                <a:srgbClr val="015BD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矢印: 右 73">
            <a:extLst>
              <a:ext uri="{FF2B5EF4-FFF2-40B4-BE49-F238E27FC236}">
                <a16:creationId xmlns:a16="http://schemas.microsoft.com/office/drawing/2014/main" id="{9F479871-C688-CC4B-6241-2A22ADAFC24E}"/>
              </a:ext>
            </a:extLst>
          </p:cNvPr>
          <p:cNvSpPr/>
          <p:nvPr/>
        </p:nvSpPr>
        <p:spPr>
          <a:xfrm>
            <a:off x="5926095" y="4096685"/>
            <a:ext cx="498424" cy="614211"/>
          </a:xfrm>
          <a:prstGeom prst="rightArrow">
            <a:avLst/>
          </a:prstGeom>
          <a:gradFill flip="none" rotWithShape="1">
            <a:gsLst>
              <a:gs pos="0">
                <a:srgbClr val="DCEAFA"/>
              </a:gs>
              <a:gs pos="72000">
                <a:srgbClr val="2D7AE7"/>
              </a:gs>
              <a:gs pos="100000">
                <a:srgbClr val="0745C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矢印: 右 74">
            <a:extLst>
              <a:ext uri="{FF2B5EF4-FFF2-40B4-BE49-F238E27FC236}">
                <a16:creationId xmlns:a16="http://schemas.microsoft.com/office/drawing/2014/main" id="{A7A01DBF-082E-6373-AB0E-FE22ABBDFC07}"/>
              </a:ext>
            </a:extLst>
          </p:cNvPr>
          <p:cNvSpPr/>
          <p:nvPr/>
        </p:nvSpPr>
        <p:spPr>
          <a:xfrm>
            <a:off x="8574757" y="4112540"/>
            <a:ext cx="498424" cy="614211"/>
          </a:xfrm>
          <a:prstGeom prst="rightArrow">
            <a:avLst/>
          </a:prstGeom>
          <a:gradFill flip="none" rotWithShape="1">
            <a:gsLst>
              <a:gs pos="0">
                <a:srgbClr val="DCEAFA"/>
              </a:gs>
              <a:gs pos="61000">
                <a:srgbClr val="376DF2"/>
              </a:gs>
              <a:gs pos="100000">
                <a:srgbClr val="0129A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1" name="図 80">
            <a:extLst>
              <a:ext uri="{FF2B5EF4-FFF2-40B4-BE49-F238E27FC236}">
                <a16:creationId xmlns:a16="http://schemas.microsoft.com/office/drawing/2014/main" id="{7B09A660-DB12-2815-0A73-0EB5B09BF7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9395" y="5275324"/>
            <a:ext cx="251495" cy="24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3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EF62-4873-24F6-C682-A6DCDB07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2">
            <a:extLst>
              <a:ext uri="{FF2B5EF4-FFF2-40B4-BE49-F238E27FC236}">
                <a16:creationId xmlns:a16="http://schemas.microsoft.com/office/drawing/2014/main" id="{89055659-5CFE-19D1-376E-A29B94C0748E}"/>
              </a:ext>
            </a:extLst>
          </p:cNvPr>
          <p:cNvSpPr txBox="1">
            <a:spLocks/>
          </p:cNvSpPr>
          <p:nvPr/>
        </p:nvSpPr>
        <p:spPr>
          <a:xfrm>
            <a:off x="343221" y="198847"/>
            <a:ext cx="9322878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CTC WhiteLabel</a:t>
            </a:r>
            <a:r>
              <a:rPr lang="ja-JP" altLang="en-US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製品取扱いの戦略的意義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BC45203-169C-13B7-1D7B-F2117764C688}"/>
              </a:ext>
            </a:extLst>
          </p:cNvPr>
          <p:cNvSpPr/>
          <p:nvPr/>
        </p:nvSpPr>
        <p:spPr>
          <a:xfrm>
            <a:off x="0" y="862534"/>
            <a:ext cx="12192000" cy="1592261"/>
          </a:xfrm>
          <a:prstGeom prst="rect">
            <a:avLst/>
          </a:prstGeom>
          <a:solidFill>
            <a:srgbClr val="003CB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ts val="3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000" b="1" kern="0">
                <a:solidFill>
                  <a:srgbClr val="FFFFFF"/>
                </a:solidFill>
                <a:latin typeface="+mn-ea"/>
              </a:rPr>
              <a:t>製品販売ビジネス拡大の一助として</a:t>
            </a:r>
            <a:r>
              <a:rPr kumimoji="0" lang="ja-JP" altLang="en-US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ホワイトラベル製品という</a:t>
            </a:r>
            <a:endParaRPr kumimoji="0" lang="en-US" altLang="ja-JP" sz="3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base" latinLnBrk="0" hangingPunct="0">
              <a:lnSpc>
                <a:spcPts val="3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「新たな</a:t>
            </a:r>
            <a:r>
              <a:rPr kumimoji="0" lang="ja-JP" altLang="en-US" sz="3000" b="1" kern="0">
                <a:solidFill>
                  <a:srgbClr val="FFFFFF"/>
                </a:solidFill>
                <a:latin typeface="+mn-ea"/>
              </a:rPr>
              <a:t>ビジネスモデル</a:t>
            </a:r>
            <a:r>
              <a:rPr kumimoji="0" lang="ja-JP" altLang="en-US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」を建付け、お客様には信頼性と</a:t>
            </a:r>
            <a:endParaRPr kumimoji="0" lang="en-US" altLang="ja-JP" sz="3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0" fontAlgn="base" latinLnBrk="0" hangingPunct="0">
              <a:lnSpc>
                <a:spcPts val="3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コストパフォーマンスを両立した</a:t>
            </a:r>
            <a:r>
              <a:rPr kumimoji="0" lang="ja-JP" altLang="en-US" sz="3000" b="1" kern="0">
                <a:solidFill>
                  <a:srgbClr val="FFFFFF"/>
                </a:solidFill>
                <a:latin typeface="+mn-ea"/>
              </a:rPr>
              <a:t>「</a:t>
            </a:r>
            <a:r>
              <a:rPr kumimoji="0" lang="ja-JP" altLang="en-US" sz="3000" b="1" kern="0">
                <a:solidFill>
                  <a:srgbClr val="FF0000"/>
                </a:solidFill>
                <a:latin typeface="+mn-ea"/>
              </a:rPr>
              <a:t>新たな選択肢</a:t>
            </a:r>
            <a:r>
              <a:rPr kumimoji="0" lang="ja-JP" altLang="en-US" sz="3000" b="1" kern="0">
                <a:solidFill>
                  <a:srgbClr val="FFFFFF"/>
                </a:solidFill>
                <a:latin typeface="+mn-ea"/>
              </a:rPr>
              <a:t>」を提供</a:t>
            </a:r>
            <a:endParaRPr kumimoji="0" lang="ja-JP" altLang="en-US" sz="3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CF169E8-2F2F-57E1-BF7C-01C3B90107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685" b="8210"/>
          <a:stretch>
            <a:fillRect/>
          </a:stretch>
        </p:blipFill>
        <p:spPr>
          <a:xfrm>
            <a:off x="952500" y="2454795"/>
            <a:ext cx="10287000" cy="3984860"/>
          </a:xfrm>
          <a:prstGeom prst="rect">
            <a:avLst/>
          </a:prstGeom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7BCA7B4-FC32-90CC-BA4D-FB5DC66D330C}"/>
              </a:ext>
            </a:extLst>
          </p:cNvPr>
          <p:cNvSpPr/>
          <p:nvPr/>
        </p:nvSpPr>
        <p:spPr>
          <a:xfrm>
            <a:off x="9171710" y="171139"/>
            <a:ext cx="1163782" cy="50085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rgbClr val="FF0000"/>
                </a:solidFill>
              </a:rPr>
              <a:t>社内限定</a:t>
            </a:r>
          </a:p>
        </p:txBody>
      </p:sp>
    </p:spTree>
    <p:extLst>
      <p:ext uri="{BB962C8B-B14F-4D97-AF65-F5344CB8AC3E}">
        <p14:creationId xmlns:p14="http://schemas.microsoft.com/office/powerpoint/2010/main" val="141306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1B10-46C9-E071-C349-039DF55C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2">
            <a:extLst>
              <a:ext uri="{FF2B5EF4-FFF2-40B4-BE49-F238E27FC236}">
                <a16:creationId xmlns:a16="http://schemas.microsoft.com/office/drawing/2014/main" id="{03B030C2-44BF-4A9A-8B14-A36B5353487C}"/>
              </a:ext>
            </a:extLst>
          </p:cNvPr>
          <p:cNvSpPr txBox="1">
            <a:spLocks/>
          </p:cNvSpPr>
          <p:nvPr/>
        </p:nvSpPr>
        <p:spPr>
          <a:xfrm>
            <a:off x="280582" y="315955"/>
            <a:ext cx="10516036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CTC WhiteLabel</a:t>
            </a:r>
            <a:r>
              <a:rPr lang="ja-JP" altLang="en-US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製品販売開始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7193EF4-B40C-D731-6161-0241413D2FE2}"/>
              </a:ext>
            </a:extLst>
          </p:cNvPr>
          <p:cNvSpPr/>
          <p:nvPr/>
        </p:nvSpPr>
        <p:spPr>
          <a:xfrm>
            <a:off x="5542437" y="2156621"/>
            <a:ext cx="5960727" cy="608939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5F5F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kumimoji="0" lang="ja-JP" altLang="en-US" b="1" kern="0">
                <a:solidFill>
                  <a:prstClr val="black">
                    <a:lumMod val="65000"/>
                    <a:lumOff val="35000"/>
                  </a:prst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ストレージ製品</a:t>
            </a:r>
            <a:endParaRPr kumimoji="0" lang="en-US" altLang="ja-JP" b="1" kern="0">
              <a:solidFill>
                <a:prstClr val="black">
                  <a:lumMod val="65000"/>
                  <a:lumOff val="35000"/>
                </a:prst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defRPr/>
            </a:pPr>
            <a:r>
              <a:rPr kumimoji="0" lang="ja-JP" altLang="en-US" b="1" kern="0">
                <a:solidFill>
                  <a:prstClr val="black">
                    <a:lumMod val="65000"/>
                    <a:lumOff val="35000"/>
                  </a:prst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ブランド名：</a:t>
            </a:r>
            <a:r>
              <a:rPr kumimoji="0" lang="en-US" altLang="ja-JP" b="1" kern="0">
                <a:solidFill>
                  <a:prstClr val="black">
                    <a:lumMod val="65000"/>
                    <a:lumOff val="35000"/>
                  </a:prst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DataSphere</a:t>
            </a:r>
            <a:endParaRPr kumimoji="0" lang="ja-JP" altLang="en-US" b="1" kern="0">
              <a:solidFill>
                <a:prstClr val="black">
                  <a:lumMod val="65000"/>
                  <a:lumOff val="35000"/>
                </a:prst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F796091-DD8D-B01B-2E54-9F82477C4FE4}"/>
              </a:ext>
            </a:extLst>
          </p:cNvPr>
          <p:cNvSpPr/>
          <p:nvPr/>
        </p:nvSpPr>
        <p:spPr>
          <a:xfrm>
            <a:off x="877030" y="2151962"/>
            <a:ext cx="3701143" cy="608939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5F5F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kumimoji="0" lang="ja-JP" altLang="en-US" b="1" kern="0">
                <a:solidFill>
                  <a:prstClr val="black">
                    <a:lumMod val="65000"/>
                    <a:lumOff val="35000"/>
                  </a:prst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ネットワーク製品</a:t>
            </a:r>
            <a:endParaRPr kumimoji="0" lang="en-US" altLang="ja-JP" b="1" kern="0">
              <a:solidFill>
                <a:prstClr val="black">
                  <a:lumMod val="65000"/>
                  <a:lumOff val="35000"/>
                </a:prst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defRPr/>
            </a:pPr>
            <a:r>
              <a:rPr kumimoji="0" lang="ja-JP" altLang="en-US" b="1" kern="0">
                <a:solidFill>
                  <a:prstClr val="black">
                    <a:lumMod val="65000"/>
                    <a:lumOff val="35000"/>
                  </a:prst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ブランド名：</a:t>
            </a:r>
            <a:r>
              <a:rPr kumimoji="0" lang="en-US" altLang="ja-JP" b="1" kern="0">
                <a:solidFill>
                  <a:prstClr val="black">
                    <a:lumMod val="65000"/>
                    <a:lumOff val="35000"/>
                  </a:prst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LinkSphere</a:t>
            </a:r>
            <a:endParaRPr kumimoji="0" lang="ja-JP" altLang="en-US" b="1" kern="0">
              <a:solidFill>
                <a:prstClr val="black">
                  <a:lumMod val="65000"/>
                  <a:lumOff val="35000"/>
                </a:prst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E0CEA65-549D-27D5-7C10-11DF56026906}"/>
              </a:ext>
            </a:extLst>
          </p:cNvPr>
          <p:cNvSpPr/>
          <p:nvPr/>
        </p:nvSpPr>
        <p:spPr>
          <a:xfrm>
            <a:off x="0" y="1024282"/>
            <a:ext cx="12192000" cy="684000"/>
          </a:xfrm>
          <a:prstGeom prst="rect">
            <a:avLst/>
          </a:prstGeom>
          <a:solidFill>
            <a:srgbClr val="003CB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22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lang="ja-JP" altLang="en-US" sz="22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lang="en-US" altLang="ja-JP" sz="22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月、</a:t>
            </a:r>
            <a:r>
              <a:rPr lang="en-US" altLang="ja-JP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CTC</a:t>
            </a:r>
            <a:r>
              <a:rPr lang="ja-JP" altLang="en-US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ブランド 第一弾</a:t>
            </a:r>
            <a:endParaRPr lang="en-US" altLang="ja-JP" sz="2200" b="1">
              <a:solidFill>
                <a:srgbClr val="FFFFFF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1EB6034A-DCC3-3901-A037-8E512C465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63" y="3045565"/>
            <a:ext cx="1773195" cy="2502933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24A1AF6-5CC1-E25D-0713-4727883C2E7E}"/>
              </a:ext>
            </a:extLst>
          </p:cNvPr>
          <p:cNvGrpSpPr/>
          <p:nvPr/>
        </p:nvGrpSpPr>
        <p:grpSpPr>
          <a:xfrm>
            <a:off x="2652450" y="3045566"/>
            <a:ext cx="1776864" cy="2502933"/>
            <a:chOff x="6841081" y="1404594"/>
            <a:chExt cx="3147821" cy="4434098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92F61AC0-F51F-1ACA-B5EF-F149681BA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41081" y="1404594"/>
              <a:ext cx="3147821" cy="4434098"/>
            </a:xfrm>
            <a:prstGeom prst="rect">
              <a:avLst/>
            </a:prstGeom>
          </p:spPr>
        </p:pic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E381F589-39AD-3CAD-19F9-FC3F426C31C7}"/>
                </a:ext>
              </a:extLst>
            </p:cNvPr>
            <p:cNvSpPr/>
            <p:nvPr/>
          </p:nvSpPr>
          <p:spPr>
            <a:xfrm>
              <a:off x="8198422" y="3769895"/>
              <a:ext cx="401053" cy="304800"/>
            </a:xfrm>
            <a:prstGeom prst="ellipse">
              <a:avLst/>
            </a:prstGeom>
            <a:solidFill>
              <a:srgbClr val="EFEFEF"/>
            </a:solidFill>
            <a:ln w="3175">
              <a:noFill/>
              <a:prstDash val="sysDot"/>
            </a:ln>
            <a:effectLst/>
          </p:spPr>
          <p:txBody>
      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>
                <a:latin typeface="Arial" panose="020B0604020202020204" pitchFamily="34" charset="0"/>
                <a:ea typeface="メイリオ" panose="020B0604030504040204" pitchFamily="50" charset="-128"/>
              </a:endParaRPr>
            </a:p>
          </p:txBody>
        </p:sp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3ACA3B3B-FAF1-6A84-2A54-7E17BC16BE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25"/>
          <a:stretch>
            <a:fillRect/>
          </a:stretch>
        </p:blipFill>
        <p:spPr>
          <a:xfrm>
            <a:off x="10207741" y="3082238"/>
            <a:ext cx="1708541" cy="2430333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49908F92-3774-633B-6AD3-4EA857238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046" y="3072860"/>
            <a:ext cx="1731400" cy="2442276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21A7219-6E70-EDF6-7184-E8637DDD1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1294" y="3082370"/>
            <a:ext cx="1708541" cy="2430214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7B0DEF7-9FE3-7C04-E10E-42DBCD6CD3F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65"/>
          <a:stretch>
            <a:fillRect/>
          </a:stretch>
        </p:blipFill>
        <p:spPr>
          <a:xfrm>
            <a:off x="6818394" y="3073005"/>
            <a:ext cx="1699119" cy="24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35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70523-C8FA-1C9A-0BCD-28F5CAE91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2">
            <a:extLst>
              <a:ext uri="{FF2B5EF4-FFF2-40B4-BE49-F238E27FC236}">
                <a16:creationId xmlns:a16="http://schemas.microsoft.com/office/drawing/2014/main" id="{A3A58AB6-1ECB-3B2C-DAB3-E885F5164B3C}"/>
              </a:ext>
            </a:extLst>
          </p:cNvPr>
          <p:cNvSpPr txBox="1">
            <a:spLocks/>
          </p:cNvSpPr>
          <p:nvPr/>
        </p:nvSpPr>
        <p:spPr>
          <a:xfrm>
            <a:off x="280582" y="315955"/>
            <a:ext cx="10516036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CTC WhiteLabel</a:t>
            </a:r>
            <a:r>
              <a:rPr lang="ja-JP" altLang="en-US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製品の第二弾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9CF26A-D0DB-DB7F-07D5-CAB495BE6AAD}"/>
              </a:ext>
            </a:extLst>
          </p:cNvPr>
          <p:cNvSpPr/>
          <p:nvPr/>
        </p:nvSpPr>
        <p:spPr>
          <a:xfrm>
            <a:off x="0" y="1024282"/>
            <a:ext cx="12192000" cy="684000"/>
          </a:xfrm>
          <a:prstGeom prst="rect">
            <a:avLst/>
          </a:prstGeom>
          <a:solidFill>
            <a:srgbClr val="003CB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22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lang="ja-JP" altLang="en-US" sz="2200" b="1">
                <a:solidFill>
                  <a:srgbClr val="FFFFFF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年秋</a:t>
            </a:r>
            <a:r>
              <a:rPr lang="ja-JP" altLang="en-US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ごろ、</a:t>
            </a:r>
            <a:r>
              <a:rPr lang="en-US" altLang="ja-JP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CTC</a:t>
            </a:r>
            <a:r>
              <a:rPr lang="ja-JP" altLang="en-US" sz="2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ブランド 「第二弾」 リリース予定</a:t>
            </a:r>
            <a:endParaRPr lang="en-US" altLang="ja-JP" sz="2200" b="1">
              <a:solidFill>
                <a:srgbClr val="FFFFFF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2E8BDFB-E190-1E65-41B8-E8392E329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311" y="2179003"/>
            <a:ext cx="6076525" cy="375041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0454670-9528-A66D-78E8-A2D2E98C2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06355" y="4683211"/>
            <a:ext cx="1768333" cy="650904"/>
          </a:xfrm>
          <a:prstGeom prst="rect">
            <a:avLst/>
          </a:prstGeom>
        </p:spPr>
      </p:pic>
      <p:sp>
        <p:nvSpPr>
          <p:cNvPr id="2" name="楕円 1">
            <a:extLst>
              <a:ext uri="{FF2B5EF4-FFF2-40B4-BE49-F238E27FC236}">
                <a16:creationId xmlns:a16="http://schemas.microsoft.com/office/drawing/2014/main" id="{D8101CFC-385F-54B2-B16F-CDB501057659}"/>
              </a:ext>
            </a:extLst>
          </p:cNvPr>
          <p:cNvSpPr/>
          <p:nvPr/>
        </p:nvSpPr>
        <p:spPr>
          <a:xfrm>
            <a:off x="5535564" y="1821265"/>
            <a:ext cx="2109913" cy="369333"/>
          </a:xfrm>
          <a:prstGeom prst="ellipse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Coming soon</a:t>
            </a:r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4D5A5E1-B172-54D1-70FC-41FFD25FA9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404" y="2393448"/>
            <a:ext cx="2509880" cy="351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03854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D4597C3-9A84-2515-C4F3-EAD77714F4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HUAWEI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 のストレージビジネス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6851" y="886219"/>
            <a:ext cx="112089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</a:rPr>
              <a:t>2024</a:t>
            </a:r>
            <a:r>
              <a:rPr lang="ja-JP" altLang="en-US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</a:rPr>
              <a:t>年の外部ストレージシステムおよびオールフラッシュストレージ市場の</a:t>
            </a:r>
            <a:br>
              <a:rPr lang="en-US" altLang="ja-JP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</a:rPr>
            </a:br>
            <a:r>
              <a:rPr lang="ja-JP" altLang="en-US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</a:rPr>
              <a:t>グローバルに</a:t>
            </a:r>
            <a:r>
              <a:rPr lang="ja-JP" altLang="en-US" b="1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</a:rPr>
              <a:t>おける売り上げシェア： </a:t>
            </a:r>
            <a:r>
              <a:rPr lang="en-US" altLang="ja-JP" sz="4400" b="1" dirty="0">
                <a:solidFill>
                  <a:srgbClr val="0070C0"/>
                </a:solidFill>
                <a:latin typeface="Arial" panose="020B0604020202020204" pitchFamily="34" charset="0"/>
                <a:ea typeface="メイリオ" panose="020B0604030504040204" pitchFamily="50" charset="-128"/>
              </a:rPr>
              <a:t>No.2</a:t>
            </a:r>
            <a:endParaRPr lang="en-US" altLang="ja-JP" sz="2800" b="1" dirty="0">
              <a:solidFill>
                <a:srgbClr val="0070C0"/>
              </a:solidFill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grpSp>
        <p:nvGrpSpPr>
          <p:cNvPr id="100" name="组合 153">
            <a:extLst>
              <a:ext uri="{FF2B5EF4-FFF2-40B4-BE49-F238E27FC236}">
                <a16:creationId xmlns:a16="http://schemas.microsoft.com/office/drawing/2014/main" id="{A69EBD1D-654A-43AC-89A7-248AF0FEF01D}"/>
              </a:ext>
            </a:extLst>
          </p:cNvPr>
          <p:cNvGrpSpPr/>
          <p:nvPr/>
        </p:nvGrpSpPr>
        <p:grpSpPr>
          <a:xfrm>
            <a:off x="1378382" y="2928302"/>
            <a:ext cx="4016521" cy="2788044"/>
            <a:chOff x="11646530" y="18412898"/>
            <a:chExt cx="9302200" cy="3021804"/>
          </a:xfrm>
        </p:grpSpPr>
        <p:sp>
          <p:nvSpPr>
            <p:cNvPr id="101" name="Rectangle 58">
              <a:extLst>
                <a:ext uri="{FF2B5EF4-FFF2-40B4-BE49-F238E27FC236}">
                  <a16:creationId xmlns:a16="http://schemas.microsoft.com/office/drawing/2014/main" id="{42B0DCE2-69CC-43FA-937A-A3EB790D2A6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6810345" y="20436883"/>
              <a:ext cx="1020581" cy="997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02" name="Rectangle 58">
              <a:extLst>
                <a:ext uri="{FF2B5EF4-FFF2-40B4-BE49-F238E27FC236}">
                  <a16:creationId xmlns:a16="http://schemas.microsoft.com/office/drawing/2014/main" id="{C46ABB47-587E-4C2F-AAA5-E6C7ABF085C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259371" y="19899371"/>
              <a:ext cx="1020581" cy="15353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03" name="Line 70">
              <a:extLst>
                <a:ext uri="{FF2B5EF4-FFF2-40B4-BE49-F238E27FC236}">
                  <a16:creationId xmlns:a16="http://schemas.microsoft.com/office/drawing/2014/main" id="{9D881501-A16D-4BE7-AA75-DC9EC3F25A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646530" y="21434527"/>
              <a:ext cx="9302200" cy="0"/>
            </a:xfrm>
            <a:prstGeom prst="line">
              <a:avLst/>
            </a:prstGeom>
            <a:noFill/>
            <a:ln w="5" cap="flat">
              <a:solidFill>
                <a:srgbClr val="D9D9D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25858" tIns="12929" rIns="25858" bIns="1292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23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04" name="Rectangle 58">
              <a:extLst>
                <a:ext uri="{FF2B5EF4-FFF2-40B4-BE49-F238E27FC236}">
                  <a16:creationId xmlns:a16="http://schemas.microsoft.com/office/drawing/2014/main" id="{8920A7E2-FC82-45C4-8191-85A16B46C9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563632" y="18994660"/>
              <a:ext cx="1162067" cy="2440040"/>
            </a:xfrm>
            <a:prstGeom prst="rect">
              <a:avLst/>
            </a:prstGeom>
            <a:solidFill>
              <a:srgbClr val="0070C0"/>
            </a:solidFill>
            <a:ln w="3175" cap="flat">
              <a:solidFill>
                <a:srgbClr val="0070C0"/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05" name="Rectangle 58">
              <a:extLst>
                <a:ext uri="{FF2B5EF4-FFF2-40B4-BE49-F238E27FC236}">
                  <a16:creationId xmlns:a16="http://schemas.microsoft.com/office/drawing/2014/main" id="{150D3B38-0EBC-45C9-A7FE-8DA23400B9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882231" y="18412898"/>
              <a:ext cx="1162067" cy="30218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marL="0" marR="0" lvl="0" indent="0" algn="ctr" defTabSz="2462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6" name="Rectangle 58">
              <a:extLst>
                <a:ext uri="{FF2B5EF4-FFF2-40B4-BE49-F238E27FC236}">
                  <a16:creationId xmlns:a16="http://schemas.microsoft.com/office/drawing/2014/main" id="{2EFED56A-3623-4711-8AED-C57CBFA0D6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347058" y="20500430"/>
              <a:ext cx="944646" cy="934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07" name="Rectangle 58">
              <a:extLst>
                <a:ext uri="{FF2B5EF4-FFF2-40B4-BE49-F238E27FC236}">
                  <a16:creationId xmlns:a16="http://schemas.microsoft.com/office/drawing/2014/main" id="{1AFEEB4B-7462-448C-9571-3C3E4A5A64F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9797445" y="20511021"/>
              <a:ext cx="944646" cy="9236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</p:grpSp>
      <p:grpSp>
        <p:nvGrpSpPr>
          <p:cNvPr id="143" name="组合 153">
            <a:extLst>
              <a:ext uri="{FF2B5EF4-FFF2-40B4-BE49-F238E27FC236}">
                <a16:creationId xmlns:a16="http://schemas.microsoft.com/office/drawing/2014/main" id="{2F2C7A05-1BE0-49A9-BD31-00D871271822}"/>
              </a:ext>
            </a:extLst>
          </p:cNvPr>
          <p:cNvGrpSpPr/>
          <p:nvPr/>
        </p:nvGrpSpPr>
        <p:grpSpPr>
          <a:xfrm>
            <a:off x="6955630" y="3355582"/>
            <a:ext cx="4016521" cy="2366761"/>
            <a:chOff x="11646530" y="18525869"/>
            <a:chExt cx="9302200" cy="2908832"/>
          </a:xfrm>
        </p:grpSpPr>
        <p:sp>
          <p:nvSpPr>
            <p:cNvPr id="144" name="Rectangle 58">
              <a:extLst>
                <a:ext uri="{FF2B5EF4-FFF2-40B4-BE49-F238E27FC236}">
                  <a16:creationId xmlns:a16="http://schemas.microsoft.com/office/drawing/2014/main" id="{0746C09E-EBE7-4757-8946-5873206D7D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6810349" y="19576429"/>
              <a:ext cx="1020581" cy="18582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45" name="Rectangle 58">
              <a:extLst>
                <a:ext uri="{FF2B5EF4-FFF2-40B4-BE49-F238E27FC236}">
                  <a16:creationId xmlns:a16="http://schemas.microsoft.com/office/drawing/2014/main" id="{1EA73810-E0D8-4BBB-A47D-05F1787B81F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259373" y="19091412"/>
              <a:ext cx="1020581" cy="23432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46" name="Line 70">
              <a:extLst>
                <a:ext uri="{FF2B5EF4-FFF2-40B4-BE49-F238E27FC236}">
                  <a16:creationId xmlns:a16="http://schemas.microsoft.com/office/drawing/2014/main" id="{68F8B9A2-120B-45A2-A70F-2FC51FBBE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646530" y="21434527"/>
              <a:ext cx="9302200" cy="0"/>
            </a:xfrm>
            <a:prstGeom prst="line">
              <a:avLst/>
            </a:prstGeom>
            <a:noFill/>
            <a:ln w="5" cap="flat">
              <a:solidFill>
                <a:srgbClr val="D9D9D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25858" tIns="12929" rIns="25858" bIns="1292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23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47" name="Rectangle 58">
              <a:extLst>
                <a:ext uri="{FF2B5EF4-FFF2-40B4-BE49-F238E27FC236}">
                  <a16:creationId xmlns:a16="http://schemas.microsoft.com/office/drawing/2014/main" id="{EAD3065D-8889-4D91-981E-8A23908CC54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563634" y="18687768"/>
              <a:ext cx="1162067" cy="2746933"/>
            </a:xfrm>
            <a:prstGeom prst="rect">
              <a:avLst/>
            </a:prstGeom>
            <a:solidFill>
              <a:srgbClr val="0070C0"/>
            </a:solidFill>
            <a:ln w="3175" cap="flat">
              <a:solidFill>
                <a:srgbClr val="0070C0"/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48" name="Rectangle 58">
              <a:extLst>
                <a:ext uri="{FF2B5EF4-FFF2-40B4-BE49-F238E27FC236}">
                  <a16:creationId xmlns:a16="http://schemas.microsoft.com/office/drawing/2014/main" id="{CEC45F80-D4AF-49F6-A76F-50EDB2CE120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1882234" y="18525869"/>
              <a:ext cx="1162067" cy="29088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marL="0" marR="0" lvl="0" indent="0" algn="ctr" defTabSz="2462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9" name="Rectangle 58">
              <a:extLst>
                <a:ext uri="{FF2B5EF4-FFF2-40B4-BE49-F238E27FC236}">
                  <a16:creationId xmlns:a16="http://schemas.microsoft.com/office/drawing/2014/main" id="{7A6BDA6D-A3B3-4CDF-A083-8ACD7849212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347058" y="19822582"/>
              <a:ext cx="944646" cy="16121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150" name="Rectangle 58">
              <a:extLst>
                <a:ext uri="{FF2B5EF4-FFF2-40B4-BE49-F238E27FC236}">
                  <a16:creationId xmlns:a16="http://schemas.microsoft.com/office/drawing/2014/main" id="{13ADCBFD-7722-4803-8D94-91A2BA75AB0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9797445" y="20563979"/>
              <a:ext cx="944646" cy="8707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 cap="flat">
              <a:solidFill>
                <a:schemeClr val="bg1">
                  <a:lumMod val="85000"/>
                </a:schemeClr>
              </a:solidFill>
              <a:miter lim="400000"/>
            </a:ln>
            <a:effectLst/>
          </p:spPr>
          <p:txBody>
            <a:bodyPr wrap="square" lIns="7182" tIns="7182" rIns="7182" bIns="7182" numCol="1" anchor="ctr">
              <a:noAutofit/>
            </a:bodyPr>
            <a:lstStyle/>
            <a:p>
              <a:pPr marL="0" marR="0" lvl="0" indent="0" algn="ctr" defTabSz="11671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</p:grpSp>
      <p:sp>
        <p:nvSpPr>
          <p:cNvPr id="151" name="矩形 191">
            <a:extLst>
              <a:ext uri="{FF2B5EF4-FFF2-40B4-BE49-F238E27FC236}">
                <a16:creationId xmlns:a16="http://schemas.microsoft.com/office/drawing/2014/main" id="{63FFCBBA-8160-4FD6-AB41-77495F011B71}"/>
              </a:ext>
            </a:extLst>
          </p:cNvPr>
          <p:cNvSpPr/>
          <p:nvPr/>
        </p:nvSpPr>
        <p:spPr>
          <a:xfrm>
            <a:off x="2219208" y="5942139"/>
            <a:ext cx="372024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Source: Gartner, Market Share: External Controller-Based Storage,</a:t>
            </a:r>
            <a:r>
              <a:rPr lang="en-US" altLang="zh-CN" sz="800" dirty="0">
                <a:latin typeface="Arial" panose="020B0604020202020204" pitchFamily="34" charset="0"/>
                <a:ea typeface="等线" panose="02010600030101010101" pitchFamily="2" charset="-122"/>
              </a:rPr>
              <a:t>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2024 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70B015D-F3D2-4CA6-A164-088BE96A40ED}"/>
              </a:ext>
            </a:extLst>
          </p:cNvPr>
          <p:cNvSpPr txBox="1"/>
          <p:nvPr/>
        </p:nvSpPr>
        <p:spPr>
          <a:xfrm>
            <a:off x="998810" y="2407142"/>
            <a:ext cx="477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8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</a:rPr>
              <a:t>External Storage System Revenue in 2024</a:t>
            </a:r>
            <a:endParaRPr kumimoji="1" lang="ja-JP" altLang="en-US" sz="1800" b="1" dirty="0">
              <a:solidFill>
                <a:srgbClr val="002060"/>
              </a:solidFill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75169C9-E3ED-45F8-8305-A1A7C7FDE561}"/>
              </a:ext>
            </a:extLst>
          </p:cNvPr>
          <p:cNvSpPr/>
          <p:nvPr/>
        </p:nvSpPr>
        <p:spPr>
          <a:xfrm>
            <a:off x="851252" y="2236405"/>
            <a:ext cx="5088197" cy="3960504"/>
          </a:xfrm>
          <a:prstGeom prst="rect">
            <a:avLst/>
          </a:prstGeom>
          <a:noFill/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55AB2386-E1D7-43DB-B2FF-7FCD5432B499}"/>
              </a:ext>
            </a:extLst>
          </p:cNvPr>
          <p:cNvSpPr/>
          <p:nvPr/>
        </p:nvSpPr>
        <p:spPr>
          <a:xfrm>
            <a:off x="6457633" y="2236404"/>
            <a:ext cx="5088197" cy="3960504"/>
          </a:xfrm>
          <a:prstGeom prst="rect">
            <a:avLst/>
          </a:prstGeom>
          <a:noFill/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C75EDA1B-A208-46A5-B426-118999872808}"/>
              </a:ext>
            </a:extLst>
          </p:cNvPr>
          <p:cNvSpPr txBox="1"/>
          <p:nvPr/>
        </p:nvSpPr>
        <p:spPr>
          <a:xfrm>
            <a:off x="7015739" y="2407142"/>
            <a:ext cx="3971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8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</a:rPr>
              <a:t>Solid State Array Revenue in 2024</a:t>
            </a:r>
            <a:endParaRPr kumimoji="1" lang="ja-JP" altLang="en-US" sz="1800" b="1" dirty="0">
              <a:solidFill>
                <a:srgbClr val="002060"/>
              </a:solidFill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sp>
        <p:nvSpPr>
          <p:cNvPr id="154" name="矩形 191">
            <a:extLst>
              <a:ext uri="{FF2B5EF4-FFF2-40B4-BE49-F238E27FC236}">
                <a16:creationId xmlns:a16="http://schemas.microsoft.com/office/drawing/2014/main" id="{D7FF6BF6-BD9A-4276-8C5B-E968091022CC}"/>
              </a:ext>
            </a:extLst>
          </p:cNvPr>
          <p:cNvSpPr/>
          <p:nvPr/>
        </p:nvSpPr>
        <p:spPr>
          <a:xfrm>
            <a:off x="7598014" y="5942139"/>
            <a:ext cx="394781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Source: Gartner, Market Share: External Storage System Solid State Array,</a:t>
            </a:r>
            <a:r>
              <a:rPr lang="en-US" altLang="zh-CN" sz="800" dirty="0">
                <a:latin typeface="Arial" panose="020B0604020202020204" pitchFamily="34" charset="0"/>
                <a:ea typeface="等线" panose="02010600030101010101" pitchFamily="2" charset="-122"/>
              </a:rPr>
              <a:t>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2024 </a:t>
            </a:r>
          </a:p>
        </p:txBody>
      </p:sp>
      <p:pic>
        <p:nvPicPr>
          <p:cNvPr id="155" name="图片 37">
            <a:extLst>
              <a:ext uri="{FF2B5EF4-FFF2-40B4-BE49-F238E27FC236}">
                <a16:creationId xmlns:a16="http://schemas.microsoft.com/office/drawing/2014/main" id="{5292620A-D23F-4813-8DA4-E989C34323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0420" y="3125069"/>
            <a:ext cx="1317742" cy="281552"/>
          </a:xfrm>
          <a:prstGeom prst="rect">
            <a:avLst/>
          </a:prstGeom>
        </p:spPr>
      </p:pic>
      <p:pic>
        <p:nvPicPr>
          <p:cNvPr id="156" name="图片 37">
            <a:extLst>
              <a:ext uri="{FF2B5EF4-FFF2-40B4-BE49-F238E27FC236}">
                <a16:creationId xmlns:a16="http://schemas.microsoft.com/office/drawing/2014/main" id="{4705464C-73E9-48AC-9D41-04E87EEE12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2007" y="3135943"/>
            <a:ext cx="1317742" cy="281552"/>
          </a:xfrm>
          <a:prstGeom prst="rect">
            <a:avLst/>
          </a:prstGeom>
        </p:spPr>
      </p:pic>
      <p:sp>
        <p:nvSpPr>
          <p:cNvPr id="9001" name="タイトル CTC">
            <a:extLst>
              <a:ext uri="{FF2B5EF4-FFF2-40B4-BE49-F238E27FC236}">
                <a16:creationId xmlns:a16="http://schemas.microsoft.com/office/drawing/2014/main" id="{08E77BE8-6D71-AFD7-980B-EDF679DD3E0F}"/>
              </a:ext>
            </a:extLst>
          </p:cNvPr>
          <p:cNvSpPr txBox="1">
            <a:spLocks/>
          </p:cNvSpPr>
          <p:nvPr/>
        </p:nvSpPr>
        <p:spPr>
          <a:xfrm>
            <a:off x="280582" y="315955"/>
            <a:ext cx="10516036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ストレージビジネスアップデート</a:t>
            </a:r>
          </a:p>
        </p:txBody>
      </p:sp>
      <p:sp>
        <p:nvSpPr>
          <p:cNvPr id="9002" name="TextBox 9001"/>
          <p:cNvSpPr txBox="1"/>
          <p:nvPr/>
        </p:nvSpPr>
        <p:spPr>
          <a:xfrm>
            <a:off x="3600000" y="6460000"/>
            <a:ext cx="66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95959"/>
                </a:solidFill>
                <a:latin typeface="Meiryo UI"/>
              </a:rPr>
              <a:t>出典：HUAWEI「HUAWEI ストレージポートフォリオ」（CTC様向け、2026年1月13日版）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圆角矩形​​ 6"/>
          <p:cNvSpPr/>
          <p:nvPr/>
        </p:nvSpPr>
        <p:spPr bwMode="auto">
          <a:xfrm>
            <a:off x="7832135" y="1188909"/>
            <a:ext cx="3377082" cy="1528960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rgbClr val="1D1D1A">
                <a:lumMod val="10000"/>
                <a:lumOff val="90000"/>
                <a:alpha val="91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zh-CN" altLang="en-US" sz="2000" kern="0" dirty="0">
              <a:solidFill>
                <a:srgbClr val="1D1D1A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2" name="圆角矩形​​ 4"/>
          <p:cNvSpPr/>
          <p:nvPr/>
        </p:nvSpPr>
        <p:spPr bwMode="auto">
          <a:xfrm>
            <a:off x="912892" y="1188909"/>
            <a:ext cx="3377082" cy="1528960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rgbClr val="1D1D1A">
                <a:lumMod val="10000"/>
                <a:lumOff val="90000"/>
                <a:alpha val="91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zh-CN" altLang="en-US" sz="2000" kern="0" dirty="0">
              <a:solidFill>
                <a:srgbClr val="1D1D1A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" name="圆角矩形​​ 5"/>
          <p:cNvSpPr/>
          <p:nvPr/>
        </p:nvSpPr>
        <p:spPr bwMode="auto">
          <a:xfrm>
            <a:off x="912892" y="4446619"/>
            <a:ext cx="3377082" cy="1528960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rgbClr val="1D1D1A">
                <a:lumMod val="10000"/>
                <a:lumOff val="90000"/>
                <a:alpha val="91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zh-CN" altLang="en-US" sz="2000" kern="0" dirty="0">
              <a:solidFill>
                <a:srgbClr val="1D1D1A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4" name="圆角矩形​​ 3"/>
          <p:cNvSpPr/>
          <p:nvPr/>
        </p:nvSpPr>
        <p:spPr bwMode="auto">
          <a:xfrm>
            <a:off x="7832135" y="4446619"/>
            <a:ext cx="3377082" cy="1528960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rgbClr val="1D1D1A">
                <a:lumMod val="10000"/>
                <a:lumOff val="90000"/>
                <a:alpha val="91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zh-CN" altLang="en-US" sz="2000" kern="0" dirty="0">
              <a:solidFill>
                <a:srgbClr val="1D1D1A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6" name="圆角矩形​​ 2"/>
          <p:cNvSpPr/>
          <p:nvPr/>
        </p:nvSpPr>
        <p:spPr bwMode="auto">
          <a:xfrm>
            <a:off x="4372514" y="2817764"/>
            <a:ext cx="3377082" cy="1528960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rgbClr val="1D1D1A">
                <a:lumMod val="10000"/>
                <a:lumOff val="90000"/>
                <a:alpha val="91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zh-CN" altLang="en-US" sz="2000" kern="0" dirty="0">
              <a:solidFill>
                <a:srgbClr val="1D1D1A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9" name="TextBox 7"/>
          <p:cNvSpPr txBox="1">
            <a:spLocks noChangeArrowheads="1"/>
          </p:cNvSpPr>
          <p:nvPr/>
        </p:nvSpPr>
        <p:spPr bwMode="auto">
          <a:xfrm>
            <a:off x="4372515" y="3089801"/>
            <a:ext cx="3377081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1217219" fontAlgn="ctr">
              <a:defRPr/>
            </a:pPr>
            <a:r>
              <a:rPr lang="en-US" altLang="zh-CN" sz="4000" b="1" kern="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Calibri" pitchFamily="34" charset="0"/>
              </a:rPr>
              <a:t>8,000+ </a:t>
            </a:r>
          </a:p>
          <a:p>
            <a:pPr algn="ctr" defTabSz="1217219" fontAlgn="ctr">
              <a:defRPr/>
            </a:pPr>
            <a:r>
              <a:rPr lang="en-US" altLang="zh-CN" sz="1600" kern="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Calibri" pitchFamily="34" charset="0"/>
              </a:rPr>
              <a:t>R&amp;D </a:t>
            </a:r>
            <a:r>
              <a:rPr lang="ja-JP" altLang="en-US" sz="1600" kern="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Calibri" pitchFamily="34" charset="0"/>
              </a:rPr>
              <a:t>エンジニア</a:t>
            </a:r>
            <a:endParaRPr lang="en-US" altLang="zh-CN" sz="1600" kern="0" dirty="0">
              <a:solidFill>
                <a:schemeClr val="bg1"/>
              </a:solidFill>
              <a:latin typeface="Arial" panose="020B0604020202020204" pitchFamily="34" charset="0"/>
              <a:ea typeface="メイリオ" panose="020B0604030504040204" pitchFamily="50" charset="-128"/>
              <a:cs typeface="Calibri" pitchFamily="34" charset="0"/>
            </a:endParaRPr>
          </a:p>
        </p:txBody>
      </p:sp>
      <p:sp>
        <p:nvSpPr>
          <p:cNvPr id="30" name="TextBox 9"/>
          <p:cNvSpPr txBox="1">
            <a:spLocks noChangeArrowheads="1"/>
          </p:cNvSpPr>
          <p:nvPr/>
        </p:nvSpPr>
        <p:spPr bwMode="auto">
          <a:xfrm>
            <a:off x="8664601" y="1465223"/>
            <a:ext cx="1846659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defTabSz="1217219" font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华文细黑" pitchFamily="2" charset="-122"/>
                <a:cs typeface="Arial" panose="020B0604020202020204" pitchFamily="34" charset="0"/>
              </a:rPr>
              <a:t>30+</a:t>
            </a:r>
          </a:p>
          <a:p>
            <a:pPr algn="ctr" defTabSz="1217341" fontAlgn="ctr"/>
            <a:r>
              <a:rPr lang="ja-JP" altLang="en-US" sz="160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Calibri" pitchFamily="34" charset="0"/>
              </a:rPr>
              <a:t>業界団体への加盟数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メイリオ" panose="020B0604030504040204" pitchFamily="50" charset="-128"/>
              <a:cs typeface="Calibri" pitchFamily="34" charset="0"/>
            </a:endParaRPr>
          </a:p>
        </p:txBody>
      </p:sp>
      <p:sp>
        <p:nvSpPr>
          <p:cNvPr id="31" name="TextBox 11"/>
          <p:cNvSpPr txBox="1">
            <a:spLocks noChangeArrowheads="1"/>
          </p:cNvSpPr>
          <p:nvPr/>
        </p:nvSpPr>
        <p:spPr bwMode="auto">
          <a:xfrm>
            <a:off x="1247079" y="4764823"/>
            <a:ext cx="2690232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1217219" font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华文细黑" pitchFamily="2" charset="-122"/>
                <a:cs typeface="Arial" panose="020B0604020202020204" pitchFamily="34" charset="0"/>
              </a:rPr>
              <a:t>3,200+</a:t>
            </a:r>
          </a:p>
          <a:p>
            <a:pPr algn="ctr" defTabSz="1217341"/>
            <a:r>
              <a:rPr lang="ja-JP" altLang="en-US" sz="160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Calibri" pitchFamily="34" charset="0"/>
              </a:rPr>
              <a:t>ストレージ関連の特許数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メイリオ" panose="020B0604030504040204" pitchFamily="50" charset="-128"/>
              <a:cs typeface="Calibri" pitchFamily="34" charset="0"/>
            </a:endParaRPr>
          </a:p>
        </p:txBody>
      </p:sp>
      <p:sp>
        <p:nvSpPr>
          <p:cNvPr id="32" name="TextBox 13"/>
          <p:cNvSpPr txBox="1">
            <a:spLocks noChangeArrowheads="1"/>
          </p:cNvSpPr>
          <p:nvPr/>
        </p:nvSpPr>
        <p:spPr bwMode="auto">
          <a:xfrm>
            <a:off x="1303380" y="1354301"/>
            <a:ext cx="2577629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defTabSz="1217219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华文细黑" pitchFamily="2" charset="-122"/>
                <a:cs typeface="Arial" panose="020B0604020202020204" pitchFamily="34" charset="0"/>
              </a:rPr>
              <a:t>13</a:t>
            </a:r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华文细黑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华文细黑" pitchFamily="2" charset="-122"/>
                <a:cs typeface="Arial" panose="020B0604020202020204" pitchFamily="34" charset="0"/>
              </a:rPr>
              <a:t>Years </a:t>
            </a:r>
          </a:p>
          <a:p>
            <a:pPr algn="ctr" defTabSz="1217219"/>
            <a:r>
              <a:rPr lang="ja-JP" altLang="en-US" sz="160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ファーウェイ シマンテック </a:t>
            </a:r>
          </a:p>
          <a:p>
            <a:pPr algn="ctr" defTabSz="1217219"/>
            <a:r>
              <a:rPr lang="en-US" altLang="ja-JP" sz="160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2012 </a:t>
            </a:r>
            <a:r>
              <a:rPr lang="ja-JP" altLang="en-US" sz="160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年に </a:t>
            </a:r>
            <a:r>
              <a:rPr lang="en-US" altLang="ja-JP" sz="160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Huawei </a:t>
            </a:r>
            <a:r>
              <a:rPr lang="ja-JP" altLang="en-US" sz="1600" dirty="0">
                <a:solidFill>
                  <a:schemeClr val="bg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が買収</a:t>
            </a:r>
            <a:endParaRPr lang="en-US" altLang="zh-CN" sz="1800" dirty="0">
              <a:solidFill>
                <a:schemeClr val="bg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3" name="TextBox 15"/>
          <p:cNvSpPr txBox="1">
            <a:spLocks noChangeArrowheads="1"/>
          </p:cNvSpPr>
          <p:nvPr/>
        </p:nvSpPr>
        <p:spPr bwMode="auto">
          <a:xfrm>
            <a:off x="8106756" y="4626323"/>
            <a:ext cx="884859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defTabSz="1217219" fontAlgn="ctr"/>
            <a:r>
              <a:rPr lang="en-US" altLang="zh-CN" sz="4000" b="1" dirty="0">
                <a:solidFill>
                  <a:schemeClr val="bg1"/>
                </a:solidFill>
                <a:latin typeface="Arial" panose="020B0604020202020204" pitchFamily="34" charset="0"/>
                <a:ea typeface="华文细黑" pitchFamily="2" charset="-122"/>
                <a:cs typeface="Arial" panose="020B0604020202020204" pitchFamily="34" charset="0"/>
              </a:rPr>
              <a:t>12</a:t>
            </a:r>
          </a:p>
          <a:p>
            <a:pPr algn="ctr" defTabSz="1217219" fontAlgn="ctr"/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华文细黑" pitchFamily="2" charset="-122"/>
                <a:cs typeface="Arial" panose="020B0604020202020204" pitchFamily="34" charset="0"/>
              </a:rPr>
              <a:t> R&amp;D </a:t>
            </a:r>
          </a:p>
          <a:p>
            <a:pPr algn="ctr" defTabSz="1217219" fontAlgn="ctr"/>
            <a:r>
              <a:rPr lang="en-US" altLang="zh-CN" sz="1800" dirty="0">
                <a:solidFill>
                  <a:schemeClr val="bg1"/>
                </a:solidFill>
                <a:latin typeface="Arial" panose="020B0604020202020204" pitchFamily="34" charset="0"/>
                <a:ea typeface="华文细黑" pitchFamily="2" charset="-122"/>
                <a:cs typeface="Arial" panose="020B0604020202020204" pitchFamily="34" charset="0"/>
              </a:rPr>
              <a:t> centers </a:t>
            </a:r>
          </a:p>
        </p:txBody>
      </p:sp>
      <p:sp>
        <p:nvSpPr>
          <p:cNvPr id="34" name="TextBox 15"/>
          <p:cNvSpPr txBox="1">
            <a:spLocks noChangeArrowheads="1"/>
          </p:cNvSpPr>
          <p:nvPr/>
        </p:nvSpPr>
        <p:spPr bwMode="auto">
          <a:xfrm>
            <a:off x="9146910" y="4771036"/>
            <a:ext cx="2028645" cy="840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216976" fontAlgn="ctr">
              <a:lnSpc>
                <a:spcPct val="1300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North America: New technology </a:t>
            </a:r>
          </a:p>
          <a:p>
            <a:pPr defTabSz="1216976" fontAlgn="ctr">
              <a:lnSpc>
                <a:spcPct val="1300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Europe: New media</a:t>
            </a:r>
          </a:p>
          <a:p>
            <a:pPr defTabSz="1216976" fontAlgn="ctr">
              <a:lnSpc>
                <a:spcPct val="1300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India: NAS</a:t>
            </a:r>
          </a:p>
          <a:p>
            <a:pPr defTabSz="1216976" fontAlgn="ctr">
              <a:lnSpc>
                <a:spcPct val="130000"/>
              </a:lnSpc>
            </a:pP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China: Development HQ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0BAF15AA-6272-4539-BE5F-EC3E467FA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2893" y="2817763"/>
            <a:ext cx="3374035" cy="1528669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03487C4C-7838-4FE7-85ED-0698C5B8D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2514" y="1188255"/>
            <a:ext cx="3374677" cy="1528960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1D621FA4-7A09-4A4D-ADDA-7F3BD5B6876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2135" y="2817764"/>
            <a:ext cx="3374035" cy="1528669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5D9D1589-6D57-4CC1-BF32-D84E74BD8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2515" y="4449097"/>
            <a:ext cx="3382682" cy="1526481"/>
          </a:xfrm>
          <a:prstGeom prst="rect">
            <a:avLst/>
          </a:prstGeom>
        </p:spPr>
      </p:pic>
      <p:sp>
        <p:nvSpPr>
          <p:cNvPr id="9001" name="タイトル CTC">
            <a:extLst>
              <a:ext uri="{FF2B5EF4-FFF2-40B4-BE49-F238E27FC236}">
                <a16:creationId xmlns:a16="http://schemas.microsoft.com/office/drawing/2014/main" id="{08E77BE8-6D71-AFD7-980B-EDF679DD3E0F}"/>
              </a:ext>
            </a:extLst>
          </p:cNvPr>
          <p:cNvSpPr txBox="1">
            <a:spLocks/>
          </p:cNvSpPr>
          <p:nvPr/>
        </p:nvSpPr>
        <p:spPr>
          <a:xfrm>
            <a:off x="280582" y="315955"/>
            <a:ext cx="10516036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ストレージビジネスへの投資と成長</a:t>
            </a:r>
          </a:p>
        </p:txBody>
      </p:sp>
      <p:sp>
        <p:nvSpPr>
          <p:cNvPr id="9002" name="TextBox 9001"/>
          <p:cNvSpPr txBox="1"/>
          <p:nvPr/>
        </p:nvSpPr>
        <p:spPr>
          <a:xfrm>
            <a:off x="3600000" y="6460000"/>
            <a:ext cx="66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95959"/>
                </a:solidFill>
                <a:latin typeface="Meiryo UI"/>
              </a:rPr>
              <a:t>出典：HUAWEI「HUAWEI ストレージポートフォリオ」（CTC様向け、2026年1月13日版）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矢印: 右 2">
            <a:extLst>
              <a:ext uri="{FF2B5EF4-FFF2-40B4-BE49-F238E27FC236}">
                <a16:creationId xmlns:a16="http://schemas.microsoft.com/office/drawing/2014/main" id="{AEB9F7B8-EBDF-4873-838F-C8A311AD82EF}"/>
              </a:ext>
            </a:extLst>
          </p:cNvPr>
          <p:cNvSpPr/>
          <p:nvPr/>
        </p:nvSpPr>
        <p:spPr>
          <a:xfrm>
            <a:off x="966932" y="3718496"/>
            <a:ext cx="10801380" cy="265841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rgbClr val="002060"/>
              </a:gs>
              <a:gs pos="92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7E04BB-8352-4DFC-AD81-BECA5291CFC1}"/>
              </a:ext>
            </a:extLst>
          </p:cNvPr>
          <p:cNvSpPr/>
          <p:nvPr/>
        </p:nvSpPr>
        <p:spPr>
          <a:xfrm>
            <a:off x="230602" y="5311869"/>
            <a:ext cx="1553878" cy="885524"/>
          </a:xfrm>
          <a:prstGeom prst="rect">
            <a:avLst/>
          </a:prstGeom>
        </p:spPr>
        <p:txBody>
          <a:bodyPr wrap="square" lIns="36000" tIns="36000" rIns="36000" bIns="18000" anchor="ctr" anchorCtr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ja-JP" altLang="en-US" sz="1400" b="1" dirty="0">
                <a:solidFill>
                  <a:srgbClr val="0070C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業界初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の </a:t>
            </a:r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16Gbps FC+12Gbps SAS 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採用</a:t>
            </a:r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ユニファイドストレージ</a:t>
            </a:r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ja-JP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OceanStor T</a:t>
            </a:r>
          </a:p>
        </p:txBody>
      </p:sp>
      <p:pic>
        <p:nvPicPr>
          <p:cNvPr id="5" name="Picture 8" descr="华为OceanStor T系列统一存储系统- 华为渠道公告-">
            <a:extLst>
              <a:ext uri="{FF2B5EF4-FFF2-40B4-BE49-F238E27FC236}">
                <a16:creationId xmlns:a16="http://schemas.microsoft.com/office/drawing/2014/main" id="{61C5305B-7FE0-4157-85C0-2FC885B6A9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5723" y="4477236"/>
            <a:ext cx="1020748" cy="83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8">
            <a:extLst>
              <a:ext uri="{FF2B5EF4-FFF2-40B4-BE49-F238E27FC236}">
                <a16:creationId xmlns:a16="http://schemas.microsoft.com/office/drawing/2014/main" id="{2F859156-897A-41EF-8D6C-4F0A81624964}"/>
              </a:ext>
            </a:extLst>
          </p:cNvPr>
          <p:cNvCxnSpPr>
            <a:cxnSpLocks/>
          </p:cNvCxnSpPr>
          <p:nvPr/>
        </p:nvCxnSpPr>
        <p:spPr>
          <a:xfrm>
            <a:off x="882357" y="3644255"/>
            <a:ext cx="0" cy="359953"/>
          </a:xfrm>
          <a:prstGeom prst="line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grpSp>
        <p:nvGrpSpPr>
          <p:cNvPr id="12" name="组合 55">
            <a:extLst>
              <a:ext uri="{FF2B5EF4-FFF2-40B4-BE49-F238E27FC236}">
                <a16:creationId xmlns:a16="http://schemas.microsoft.com/office/drawing/2014/main" id="{31C46222-5ED6-4018-833B-58CA5D1ADCB3}"/>
              </a:ext>
            </a:extLst>
          </p:cNvPr>
          <p:cNvGrpSpPr>
            <a:grpSpLocks noChangeAspect="1"/>
          </p:cNvGrpSpPr>
          <p:nvPr/>
        </p:nvGrpSpPr>
        <p:grpSpPr>
          <a:xfrm>
            <a:off x="629140" y="3572265"/>
            <a:ext cx="503934" cy="503934"/>
            <a:chOff x="534966" y="3411388"/>
            <a:chExt cx="585917" cy="58591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3" name="同心圆 56">
              <a:extLst>
                <a:ext uri="{FF2B5EF4-FFF2-40B4-BE49-F238E27FC236}">
                  <a16:creationId xmlns:a16="http://schemas.microsoft.com/office/drawing/2014/main" id="{C0381497-68DB-4F54-BE53-2BBA66984B31}"/>
                </a:ext>
              </a:extLst>
            </p:cNvPr>
            <p:cNvSpPr/>
            <p:nvPr/>
          </p:nvSpPr>
          <p:spPr>
            <a:xfrm>
              <a:off x="534966" y="3411388"/>
              <a:ext cx="585917" cy="585917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91">
                <a:defRPr/>
              </a:pPr>
              <a:endParaRPr lang="zh-CN" altLang="en-US" sz="1200" ker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" name="椭圆 57">
              <a:extLst>
                <a:ext uri="{FF2B5EF4-FFF2-40B4-BE49-F238E27FC236}">
                  <a16:creationId xmlns:a16="http://schemas.microsoft.com/office/drawing/2014/main" id="{0342CE79-9693-41FC-A77E-B06487A5DAF8}"/>
                </a:ext>
              </a:extLst>
            </p:cNvPr>
            <p:cNvSpPr/>
            <p:nvPr/>
          </p:nvSpPr>
          <p:spPr>
            <a:xfrm>
              <a:off x="547754" y="3424176"/>
              <a:ext cx="560341" cy="560341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191">
                <a:defRPr/>
              </a:pPr>
              <a:r>
                <a:rPr lang="en-US" altLang="zh-CN" sz="1200" b="1" kern="0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2012</a:t>
              </a:r>
              <a:endParaRPr lang="zh-CN" altLang="en-US" sz="1200" b="1" kern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16" name="图片 436">
            <a:extLst>
              <a:ext uri="{FF2B5EF4-FFF2-40B4-BE49-F238E27FC236}">
                <a16:creationId xmlns:a16="http://schemas.microsoft.com/office/drawing/2014/main" id="{A4988BD6-88C9-4875-B59C-2ECA313716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65580" y="4529009"/>
            <a:ext cx="1149924" cy="692020"/>
          </a:xfrm>
          <a:prstGeom prst="rect">
            <a:avLst/>
          </a:prstGeom>
        </p:spPr>
      </p:pic>
      <p:pic>
        <p:nvPicPr>
          <p:cNvPr id="19" name="Picture 13" descr="E:\1 平面工作室\01 产品照片归档\存储V3产品\OceanStor V3 product photoV1.0-20141202\OceanStor V3 中高端产品组图\V3系列组图(2U+3U+6U.png">
            <a:extLst>
              <a:ext uri="{FF2B5EF4-FFF2-40B4-BE49-F238E27FC236}">
                <a16:creationId xmlns:a16="http://schemas.microsoft.com/office/drawing/2014/main" id="{0EBF882B-58F3-438C-A753-1D6760CA5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161533" y="2194061"/>
            <a:ext cx="1517465" cy="1184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48AB760D-D3AF-41B8-A807-EB6769DDC67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4559" y="4467293"/>
            <a:ext cx="1166508" cy="446822"/>
          </a:xfrm>
          <a:prstGeom prst="rect">
            <a:avLst/>
          </a:prstGeom>
        </p:spPr>
      </p:pic>
      <p:grpSp>
        <p:nvGrpSpPr>
          <p:cNvPr id="36" name="组合 29">
            <a:extLst>
              <a:ext uri="{FF2B5EF4-FFF2-40B4-BE49-F238E27FC236}">
                <a16:creationId xmlns:a16="http://schemas.microsoft.com/office/drawing/2014/main" id="{86AE4CE0-9EB6-4B97-AEAB-278F7B551F75}"/>
              </a:ext>
            </a:extLst>
          </p:cNvPr>
          <p:cNvGrpSpPr/>
          <p:nvPr/>
        </p:nvGrpSpPr>
        <p:grpSpPr>
          <a:xfrm>
            <a:off x="3152506" y="2194061"/>
            <a:ext cx="1651922" cy="1155142"/>
            <a:chOff x="7321704" y="2477570"/>
            <a:chExt cx="1426927" cy="1192065"/>
          </a:xfrm>
        </p:grpSpPr>
        <p:grpSp>
          <p:nvGrpSpPr>
            <p:cNvPr id="37" name="组合 30">
              <a:extLst>
                <a:ext uri="{FF2B5EF4-FFF2-40B4-BE49-F238E27FC236}">
                  <a16:creationId xmlns:a16="http://schemas.microsoft.com/office/drawing/2014/main" id="{37703239-7C2F-4BB7-BBD4-F85444031E14}"/>
                </a:ext>
              </a:extLst>
            </p:cNvPr>
            <p:cNvGrpSpPr/>
            <p:nvPr/>
          </p:nvGrpSpPr>
          <p:grpSpPr>
            <a:xfrm>
              <a:off x="7321704" y="2477570"/>
              <a:ext cx="1426927" cy="1192065"/>
              <a:chOff x="7242874" y="2477568"/>
              <a:chExt cx="1257615" cy="1050620"/>
            </a:xfrm>
          </p:grpSpPr>
          <p:pic>
            <p:nvPicPr>
              <p:cNvPr id="39" name="Picture 6">
                <a:extLst>
                  <a:ext uri="{FF2B5EF4-FFF2-40B4-BE49-F238E27FC236}">
                    <a16:creationId xmlns:a16="http://schemas.microsoft.com/office/drawing/2014/main" id="{A72EB45C-D773-4FDA-8039-019C6D3731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242874" y="3014730"/>
                <a:ext cx="786165" cy="353948"/>
              </a:xfrm>
              <a:prstGeom prst="rect">
                <a:avLst/>
              </a:prstGeom>
            </p:spPr>
          </p:pic>
          <p:pic>
            <p:nvPicPr>
              <p:cNvPr id="40" name="图片 33">
                <a:extLst>
                  <a:ext uri="{FF2B5EF4-FFF2-40B4-BE49-F238E27FC236}">
                    <a16:creationId xmlns:a16="http://schemas.microsoft.com/office/drawing/2014/main" id="{A832CA74-8739-4C74-9C8F-388503BF31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109924" y="2477568"/>
                <a:ext cx="390565" cy="1050620"/>
              </a:xfrm>
              <a:prstGeom prst="rect">
                <a:avLst/>
              </a:prstGeom>
            </p:spPr>
          </p:pic>
        </p:grpSp>
        <p:pic>
          <p:nvPicPr>
            <p:cNvPr id="38" name="图片 31">
              <a:extLst>
                <a:ext uri="{FF2B5EF4-FFF2-40B4-BE49-F238E27FC236}">
                  <a16:creationId xmlns:a16="http://schemas.microsoft.com/office/drawing/2014/main" id="{D46F5047-A507-40E0-A4EF-97FFD51B1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07429" y="2668822"/>
              <a:ext cx="772336" cy="213449"/>
            </a:xfrm>
            <a:prstGeom prst="rect">
              <a:avLst/>
            </a:prstGeom>
          </p:spPr>
        </p:pic>
      </p:grpSp>
      <p:grpSp>
        <p:nvGrpSpPr>
          <p:cNvPr id="47" name="组合 79">
            <a:extLst>
              <a:ext uri="{FF2B5EF4-FFF2-40B4-BE49-F238E27FC236}">
                <a16:creationId xmlns:a16="http://schemas.microsoft.com/office/drawing/2014/main" id="{8476DFC9-9698-4058-BC63-FDCA15E29104}"/>
              </a:ext>
            </a:extLst>
          </p:cNvPr>
          <p:cNvGrpSpPr>
            <a:grpSpLocks noChangeAspect="1"/>
          </p:cNvGrpSpPr>
          <p:nvPr/>
        </p:nvGrpSpPr>
        <p:grpSpPr>
          <a:xfrm>
            <a:off x="5125044" y="3572265"/>
            <a:ext cx="503934" cy="503934"/>
            <a:chOff x="534966" y="3411388"/>
            <a:chExt cx="585917" cy="58591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8" name="同心圆 80">
              <a:extLst>
                <a:ext uri="{FF2B5EF4-FFF2-40B4-BE49-F238E27FC236}">
                  <a16:creationId xmlns:a16="http://schemas.microsoft.com/office/drawing/2014/main" id="{D04DC78E-D0F5-44C4-8593-1C6BE7601132}"/>
                </a:ext>
              </a:extLst>
            </p:cNvPr>
            <p:cNvSpPr/>
            <p:nvPr/>
          </p:nvSpPr>
          <p:spPr>
            <a:xfrm>
              <a:off x="534966" y="3411388"/>
              <a:ext cx="585917" cy="585917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91">
                <a:defRPr/>
              </a:pPr>
              <a:endParaRPr lang="zh-CN" altLang="en-US" sz="1200" kern="0">
                <a:solidFill>
                  <a:srgbClr val="3F3F3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9" name="椭圆 81">
              <a:extLst>
                <a:ext uri="{FF2B5EF4-FFF2-40B4-BE49-F238E27FC236}">
                  <a16:creationId xmlns:a16="http://schemas.microsoft.com/office/drawing/2014/main" id="{68F984C4-BB95-499F-A68E-DA335A6D2068}"/>
                </a:ext>
              </a:extLst>
            </p:cNvPr>
            <p:cNvSpPr/>
            <p:nvPr/>
          </p:nvSpPr>
          <p:spPr>
            <a:xfrm>
              <a:off x="547754" y="3424176"/>
              <a:ext cx="560341" cy="560341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191">
                <a:defRPr/>
              </a:pPr>
              <a:r>
                <a:rPr lang="en-US" altLang="zh-CN" sz="1200" b="1" kern="0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2020</a:t>
              </a:r>
              <a:endParaRPr lang="zh-CN" altLang="en-US" sz="1200" b="1" kern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50" name="文本框 86">
            <a:extLst>
              <a:ext uri="{FF2B5EF4-FFF2-40B4-BE49-F238E27FC236}">
                <a16:creationId xmlns:a16="http://schemas.microsoft.com/office/drawing/2014/main" id="{5A3FD637-3F27-4744-BDD9-C77A570F0A28}"/>
              </a:ext>
            </a:extLst>
          </p:cNvPr>
          <p:cNvSpPr txBox="1"/>
          <p:nvPr/>
        </p:nvSpPr>
        <p:spPr>
          <a:xfrm>
            <a:off x="5568735" y="4429328"/>
            <a:ext cx="8216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0070C0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Interop </a:t>
            </a:r>
          </a:p>
          <a:p>
            <a:pPr algn="ctr"/>
            <a:r>
              <a:rPr lang="en-US" altLang="zh-CN" sz="1000" dirty="0">
                <a:solidFill>
                  <a:srgbClr val="0070C0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Gold Award</a:t>
            </a:r>
          </a:p>
        </p:txBody>
      </p:sp>
      <p:pic>
        <p:nvPicPr>
          <p:cNvPr id="53" name="图片 4">
            <a:extLst>
              <a:ext uri="{FF2B5EF4-FFF2-40B4-BE49-F238E27FC236}">
                <a16:creationId xmlns:a16="http://schemas.microsoft.com/office/drawing/2014/main" id="{8A2B5F6F-7C38-4E6A-8AAF-CEFF4967899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2056" y="4477794"/>
            <a:ext cx="422458" cy="422458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80AA07C1-55A5-42EB-B637-1AA08F7F40F2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2410" y="4330559"/>
            <a:ext cx="1299357" cy="1045386"/>
          </a:xfrm>
          <a:prstGeom prst="rect">
            <a:avLst/>
          </a:prstGeom>
        </p:spPr>
      </p:pic>
      <p:grpSp>
        <p:nvGrpSpPr>
          <p:cNvPr id="56" name="组合 85">
            <a:extLst>
              <a:ext uri="{FF2B5EF4-FFF2-40B4-BE49-F238E27FC236}">
                <a16:creationId xmlns:a16="http://schemas.microsoft.com/office/drawing/2014/main" id="{65BE4CC3-AC0C-4F71-9057-FA8CCC752CB5}"/>
              </a:ext>
            </a:extLst>
          </p:cNvPr>
          <p:cNvGrpSpPr>
            <a:grpSpLocks noChangeAspect="1"/>
          </p:cNvGrpSpPr>
          <p:nvPr/>
        </p:nvGrpSpPr>
        <p:grpSpPr>
          <a:xfrm>
            <a:off x="6540523" y="3572265"/>
            <a:ext cx="503934" cy="503934"/>
            <a:chOff x="534966" y="3411388"/>
            <a:chExt cx="585917" cy="58591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7" name="同心圆 86">
              <a:extLst>
                <a:ext uri="{FF2B5EF4-FFF2-40B4-BE49-F238E27FC236}">
                  <a16:creationId xmlns:a16="http://schemas.microsoft.com/office/drawing/2014/main" id="{F215151E-8554-43FD-BDAF-1CA852D7CF6D}"/>
                </a:ext>
              </a:extLst>
            </p:cNvPr>
            <p:cNvSpPr/>
            <p:nvPr/>
          </p:nvSpPr>
          <p:spPr>
            <a:xfrm>
              <a:off x="534966" y="3411388"/>
              <a:ext cx="585917" cy="585917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91">
                <a:defRPr/>
              </a:pPr>
              <a:endParaRPr lang="zh-CN" altLang="en-US" sz="1200" kern="0">
                <a:solidFill>
                  <a:srgbClr val="3F3F3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8" name="椭圆 87">
              <a:extLst>
                <a:ext uri="{FF2B5EF4-FFF2-40B4-BE49-F238E27FC236}">
                  <a16:creationId xmlns:a16="http://schemas.microsoft.com/office/drawing/2014/main" id="{A2DB9CC1-DC8E-41DF-87C1-D92EE161DDBA}"/>
                </a:ext>
              </a:extLst>
            </p:cNvPr>
            <p:cNvSpPr/>
            <p:nvPr/>
          </p:nvSpPr>
          <p:spPr>
            <a:xfrm>
              <a:off x="547754" y="3424176"/>
              <a:ext cx="560341" cy="560341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191">
                <a:defRPr/>
              </a:pPr>
              <a:r>
                <a:rPr lang="en-US" altLang="zh-CN" sz="1200" b="1" kern="0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2021</a:t>
              </a:r>
              <a:endParaRPr lang="zh-CN" altLang="en-US" sz="1200" b="1" kern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2" name="组合 85">
            <a:extLst>
              <a:ext uri="{FF2B5EF4-FFF2-40B4-BE49-F238E27FC236}">
                <a16:creationId xmlns:a16="http://schemas.microsoft.com/office/drawing/2014/main" id="{6C65E2D9-C8C1-4F50-AB49-6A359BE9E6A7}"/>
              </a:ext>
            </a:extLst>
          </p:cNvPr>
          <p:cNvGrpSpPr>
            <a:grpSpLocks noChangeAspect="1"/>
          </p:cNvGrpSpPr>
          <p:nvPr/>
        </p:nvGrpSpPr>
        <p:grpSpPr>
          <a:xfrm>
            <a:off x="10786961" y="3588487"/>
            <a:ext cx="503934" cy="503934"/>
            <a:chOff x="534966" y="3411388"/>
            <a:chExt cx="585917" cy="58591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3" name="同心圆 86">
              <a:extLst>
                <a:ext uri="{FF2B5EF4-FFF2-40B4-BE49-F238E27FC236}">
                  <a16:creationId xmlns:a16="http://schemas.microsoft.com/office/drawing/2014/main" id="{74F5FC8C-526F-4240-9CDB-2EE205E50E92}"/>
                </a:ext>
              </a:extLst>
            </p:cNvPr>
            <p:cNvSpPr/>
            <p:nvPr/>
          </p:nvSpPr>
          <p:spPr>
            <a:xfrm>
              <a:off x="534966" y="3411388"/>
              <a:ext cx="585917" cy="585917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91">
                <a:defRPr/>
              </a:pPr>
              <a:endParaRPr lang="zh-CN" altLang="en-US" sz="1200" kern="0">
                <a:solidFill>
                  <a:srgbClr val="3F3F3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4" name="椭圆 87">
              <a:extLst>
                <a:ext uri="{FF2B5EF4-FFF2-40B4-BE49-F238E27FC236}">
                  <a16:creationId xmlns:a16="http://schemas.microsoft.com/office/drawing/2014/main" id="{9F78DD97-6022-462F-9FEF-E43B9D8CD98B}"/>
                </a:ext>
              </a:extLst>
            </p:cNvPr>
            <p:cNvSpPr/>
            <p:nvPr/>
          </p:nvSpPr>
          <p:spPr>
            <a:xfrm>
              <a:off x="547754" y="3424176"/>
              <a:ext cx="560341" cy="560341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191">
                <a:defRPr/>
              </a:pPr>
              <a:r>
                <a:rPr lang="en-US" altLang="zh-CN" sz="1200" b="1" kern="0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2025</a:t>
              </a:r>
              <a:endParaRPr lang="zh-CN" altLang="en-US" sz="1200" b="1" kern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5" name="组合 85">
            <a:extLst>
              <a:ext uri="{FF2B5EF4-FFF2-40B4-BE49-F238E27FC236}">
                <a16:creationId xmlns:a16="http://schemas.microsoft.com/office/drawing/2014/main" id="{761C235D-1D39-47BB-8E02-AD37A6008291}"/>
              </a:ext>
            </a:extLst>
          </p:cNvPr>
          <p:cNvGrpSpPr>
            <a:grpSpLocks noChangeAspect="1"/>
          </p:cNvGrpSpPr>
          <p:nvPr/>
        </p:nvGrpSpPr>
        <p:grpSpPr>
          <a:xfrm>
            <a:off x="9371481" y="3572455"/>
            <a:ext cx="503934" cy="503934"/>
            <a:chOff x="534966" y="3411388"/>
            <a:chExt cx="585917" cy="58591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6" name="同心圆 86">
              <a:extLst>
                <a:ext uri="{FF2B5EF4-FFF2-40B4-BE49-F238E27FC236}">
                  <a16:creationId xmlns:a16="http://schemas.microsoft.com/office/drawing/2014/main" id="{70340D40-9E25-493F-9380-CED3A25B9EB3}"/>
                </a:ext>
              </a:extLst>
            </p:cNvPr>
            <p:cNvSpPr/>
            <p:nvPr/>
          </p:nvSpPr>
          <p:spPr>
            <a:xfrm>
              <a:off x="534966" y="3411388"/>
              <a:ext cx="585917" cy="585917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91">
                <a:defRPr/>
              </a:pPr>
              <a:endParaRPr lang="zh-CN" altLang="en-US" sz="1200" kern="0">
                <a:solidFill>
                  <a:srgbClr val="3F3F3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7" name="椭圆 87">
              <a:extLst>
                <a:ext uri="{FF2B5EF4-FFF2-40B4-BE49-F238E27FC236}">
                  <a16:creationId xmlns:a16="http://schemas.microsoft.com/office/drawing/2014/main" id="{4CCD0FC7-8449-4B88-B61A-0DE240C00113}"/>
                </a:ext>
              </a:extLst>
            </p:cNvPr>
            <p:cNvSpPr/>
            <p:nvPr/>
          </p:nvSpPr>
          <p:spPr>
            <a:xfrm>
              <a:off x="547754" y="3424176"/>
              <a:ext cx="560341" cy="560341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191">
                <a:defRPr/>
              </a:pPr>
              <a:r>
                <a:rPr lang="en-US" altLang="zh-CN" sz="1200" b="1" kern="0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2024</a:t>
              </a:r>
              <a:endParaRPr lang="zh-CN" altLang="en-US" sz="1200" b="1" kern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0" name="组合 70">
            <a:extLst>
              <a:ext uri="{FF2B5EF4-FFF2-40B4-BE49-F238E27FC236}">
                <a16:creationId xmlns:a16="http://schemas.microsoft.com/office/drawing/2014/main" id="{C32DB59A-14DC-4517-B693-A40B804F8B2C}"/>
              </a:ext>
            </a:extLst>
          </p:cNvPr>
          <p:cNvGrpSpPr>
            <a:grpSpLocks noChangeAspect="1"/>
          </p:cNvGrpSpPr>
          <p:nvPr/>
        </p:nvGrpSpPr>
        <p:grpSpPr>
          <a:xfrm>
            <a:off x="1697852" y="3572265"/>
            <a:ext cx="503934" cy="503934"/>
            <a:chOff x="534966" y="3411388"/>
            <a:chExt cx="585917" cy="58591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71" name="同心圆 71">
              <a:extLst>
                <a:ext uri="{FF2B5EF4-FFF2-40B4-BE49-F238E27FC236}">
                  <a16:creationId xmlns:a16="http://schemas.microsoft.com/office/drawing/2014/main" id="{FD249FDD-D763-4978-8456-0402D9A25C8D}"/>
                </a:ext>
              </a:extLst>
            </p:cNvPr>
            <p:cNvSpPr/>
            <p:nvPr/>
          </p:nvSpPr>
          <p:spPr>
            <a:xfrm>
              <a:off x="534966" y="3411388"/>
              <a:ext cx="585917" cy="585917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91">
                <a:defRPr/>
              </a:pPr>
              <a:endParaRPr lang="zh-CN" altLang="en-US" sz="1200" kern="0">
                <a:solidFill>
                  <a:srgbClr val="3F3F3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2" name="椭圆 72">
              <a:extLst>
                <a:ext uri="{FF2B5EF4-FFF2-40B4-BE49-F238E27FC236}">
                  <a16:creationId xmlns:a16="http://schemas.microsoft.com/office/drawing/2014/main" id="{E0011065-6449-4B29-8682-EB0759196FF0}"/>
                </a:ext>
              </a:extLst>
            </p:cNvPr>
            <p:cNvSpPr/>
            <p:nvPr/>
          </p:nvSpPr>
          <p:spPr>
            <a:xfrm>
              <a:off x="547754" y="3424176"/>
              <a:ext cx="560341" cy="560341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191">
                <a:defRPr/>
              </a:pPr>
              <a:r>
                <a:rPr lang="en-US" altLang="zh-CN" sz="1200" b="1" kern="0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2014</a:t>
              </a:r>
              <a:endParaRPr lang="zh-CN" altLang="en-US" sz="1200" b="1" kern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5" name="组合 73">
            <a:extLst>
              <a:ext uri="{FF2B5EF4-FFF2-40B4-BE49-F238E27FC236}">
                <a16:creationId xmlns:a16="http://schemas.microsoft.com/office/drawing/2014/main" id="{7FEE4C49-ACB5-45A8-838A-8DD9F11F7811}"/>
              </a:ext>
            </a:extLst>
          </p:cNvPr>
          <p:cNvGrpSpPr>
            <a:grpSpLocks noChangeAspect="1"/>
          </p:cNvGrpSpPr>
          <p:nvPr/>
        </p:nvGrpSpPr>
        <p:grpSpPr>
          <a:xfrm>
            <a:off x="2766564" y="3572265"/>
            <a:ext cx="503934" cy="503934"/>
            <a:chOff x="534966" y="3411388"/>
            <a:chExt cx="585917" cy="58591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76" name="同心圆 74">
              <a:extLst>
                <a:ext uri="{FF2B5EF4-FFF2-40B4-BE49-F238E27FC236}">
                  <a16:creationId xmlns:a16="http://schemas.microsoft.com/office/drawing/2014/main" id="{CD110D70-2C9E-4292-99CE-6BEA0AC19172}"/>
                </a:ext>
              </a:extLst>
            </p:cNvPr>
            <p:cNvSpPr/>
            <p:nvPr/>
          </p:nvSpPr>
          <p:spPr>
            <a:xfrm>
              <a:off x="534966" y="3411388"/>
              <a:ext cx="585917" cy="585917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91">
                <a:defRPr/>
              </a:pPr>
              <a:endParaRPr lang="zh-CN" altLang="en-US" sz="1200" kern="0">
                <a:solidFill>
                  <a:srgbClr val="3F3F3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7" name="椭圆 75">
              <a:extLst>
                <a:ext uri="{FF2B5EF4-FFF2-40B4-BE49-F238E27FC236}">
                  <a16:creationId xmlns:a16="http://schemas.microsoft.com/office/drawing/2014/main" id="{3F64EEA3-C618-4EAD-B8C3-6E1C4A638087}"/>
                </a:ext>
              </a:extLst>
            </p:cNvPr>
            <p:cNvSpPr/>
            <p:nvPr/>
          </p:nvSpPr>
          <p:spPr>
            <a:xfrm>
              <a:off x="547754" y="3424176"/>
              <a:ext cx="560341" cy="560341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191">
                <a:defRPr/>
              </a:pPr>
              <a:r>
                <a:rPr lang="en-US" altLang="zh-CN" sz="1200" b="1" kern="0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2017</a:t>
              </a:r>
              <a:endParaRPr lang="zh-CN" altLang="en-US" sz="1200" b="1" kern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0" name="组合 70">
            <a:extLst>
              <a:ext uri="{FF2B5EF4-FFF2-40B4-BE49-F238E27FC236}">
                <a16:creationId xmlns:a16="http://schemas.microsoft.com/office/drawing/2014/main" id="{B7E0D265-C999-4CF7-B826-CE144F081FCB}"/>
              </a:ext>
            </a:extLst>
          </p:cNvPr>
          <p:cNvGrpSpPr>
            <a:grpSpLocks noChangeAspect="1"/>
          </p:cNvGrpSpPr>
          <p:nvPr/>
        </p:nvGrpSpPr>
        <p:grpSpPr>
          <a:xfrm>
            <a:off x="3835276" y="3572265"/>
            <a:ext cx="503934" cy="503934"/>
            <a:chOff x="534966" y="3411388"/>
            <a:chExt cx="585917" cy="58591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1" name="同心圆 71">
              <a:extLst>
                <a:ext uri="{FF2B5EF4-FFF2-40B4-BE49-F238E27FC236}">
                  <a16:creationId xmlns:a16="http://schemas.microsoft.com/office/drawing/2014/main" id="{98BA22FB-2289-4CDF-A533-9B9CB4AD519E}"/>
                </a:ext>
              </a:extLst>
            </p:cNvPr>
            <p:cNvSpPr/>
            <p:nvPr/>
          </p:nvSpPr>
          <p:spPr>
            <a:xfrm>
              <a:off x="534966" y="3411388"/>
              <a:ext cx="585917" cy="585917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91">
                <a:defRPr/>
              </a:pPr>
              <a:endParaRPr lang="zh-CN" altLang="en-US" sz="1200" kern="0">
                <a:solidFill>
                  <a:srgbClr val="3F3F3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2" name="椭圆 72">
              <a:extLst>
                <a:ext uri="{FF2B5EF4-FFF2-40B4-BE49-F238E27FC236}">
                  <a16:creationId xmlns:a16="http://schemas.microsoft.com/office/drawing/2014/main" id="{CB6580A6-4435-4852-AE08-28BEE0A3330E}"/>
                </a:ext>
              </a:extLst>
            </p:cNvPr>
            <p:cNvSpPr/>
            <p:nvPr/>
          </p:nvSpPr>
          <p:spPr>
            <a:xfrm>
              <a:off x="547754" y="3424176"/>
              <a:ext cx="560341" cy="560341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191">
                <a:defRPr/>
              </a:pPr>
              <a:r>
                <a:rPr lang="en-US" altLang="zh-CN" sz="1200" b="1" kern="0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2018</a:t>
              </a:r>
              <a:endParaRPr lang="zh-CN" altLang="en-US" sz="1200" b="1" kern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8" name="组合 85">
            <a:extLst>
              <a:ext uri="{FF2B5EF4-FFF2-40B4-BE49-F238E27FC236}">
                <a16:creationId xmlns:a16="http://schemas.microsoft.com/office/drawing/2014/main" id="{2BF8454D-E0BA-4F5B-9A46-46EE9D63CD36}"/>
              </a:ext>
            </a:extLst>
          </p:cNvPr>
          <p:cNvGrpSpPr>
            <a:grpSpLocks noChangeAspect="1"/>
          </p:cNvGrpSpPr>
          <p:nvPr/>
        </p:nvGrpSpPr>
        <p:grpSpPr>
          <a:xfrm>
            <a:off x="7956002" y="3561457"/>
            <a:ext cx="503934" cy="503934"/>
            <a:chOff x="534966" y="3411388"/>
            <a:chExt cx="585917" cy="585917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9" name="同心圆 86">
              <a:extLst>
                <a:ext uri="{FF2B5EF4-FFF2-40B4-BE49-F238E27FC236}">
                  <a16:creationId xmlns:a16="http://schemas.microsoft.com/office/drawing/2014/main" id="{F673A709-8709-4643-9B1B-AD8CCC310045}"/>
                </a:ext>
              </a:extLst>
            </p:cNvPr>
            <p:cNvSpPr/>
            <p:nvPr/>
          </p:nvSpPr>
          <p:spPr>
            <a:xfrm>
              <a:off x="534966" y="3411388"/>
              <a:ext cx="585917" cy="585917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91">
                <a:defRPr/>
              </a:pPr>
              <a:endParaRPr lang="zh-CN" altLang="en-US" sz="1200" kern="0">
                <a:solidFill>
                  <a:srgbClr val="3F3F3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0" name="椭圆 87">
              <a:extLst>
                <a:ext uri="{FF2B5EF4-FFF2-40B4-BE49-F238E27FC236}">
                  <a16:creationId xmlns:a16="http://schemas.microsoft.com/office/drawing/2014/main" id="{5B58A2A4-56A6-4E8E-ABE5-7D068E06C827}"/>
                </a:ext>
              </a:extLst>
            </p:cNvPr>
            <p:cNvSpPr/>
            <p:nvPr/>
          </p:nvSpPr>
          <p:spPr>
            <a:xfrm>
              <a:off x="547754" y="3424176"/>
              <a:ext cx="560341" cy="560341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defTabSz="914191">
                <a:defRPr/>
              </a:pPr>
              <a:r>
                <a:rPr lang="en-US" altLang="zh-CN" sz="1200" b="1" kern="0" dirty="0">
                  <a:solidFill>
                    <a:srgbClr val="0070C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2023</a:t>
              </a:r>
              <a:endParaRPr lang="zh-CN" altLang="en-US" sz="1200" b="1" kern="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94" name="矩形 3">
            <a:extLst>
              <a:ext uri="{FF2B5EF4-FFF2-40B4-BE49-F238E27FC236}">
                <a16:creationId xmlns:a16="http://schemas.microsoft.com/office/drawing/2014/main" id="{9A80E52F-E594-4A29-B1CE-99A767211C4E}"/>
              </a:ext>
            </a:extLst>
          </p:cNvPr>
          <p:cNvSpPr/>
          <p:nvPr/>
        </p:nvSpPr>
        <p:spPr>
          <a:xfrm>
            <a:off x="1205948" y="1583629"/>
            <a:ext cx="1553878" cy="631608"/>
          </a:xfrm>
          <a:prstGeom prst="rect">
            <a:avLst/>
          </a:prstGeom>
        </p:spPr>
        <p:txBody>
          <a:bodyPr wrap="square" lIns="36000" tIns="36000" rIns="36000" bIns="18000" anchor="ctr" anchorCtr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SAN / NAS</a:t>
            </a:r>
            <a:b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コンバージドストレージ</a:t>
            </a:r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ja-JP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OceanStor V3</a:t>
            </a:r>
          </a:p>
        </p:txBody>
      </p:sp>
      <p:sp>
        <p:nvSpPr>
          <p:cNvPr id="97" name="矩形 3">
            <a:extLst>
              <a:ext uri="{FF2B5EF4-FFF2-40B4-BE49-F238E27FC236}">
                <a16:creationId xmlns:a16="http://schemas.microsoft.com/office/drawing/2014/main" id="{7030EFFA-0288-42F9-AC9F-28CBD429583D}"/>
              </a:ext>
            </a:extLst>
          </p:cNvPr>
          <p:cNvSpPr/>
          <p:nvPr/>
        </p:nvSpPr>
        <p:spPr>
          <a:xfrm>
            <a:off x="2078637" y="4957909"/>
            <a:ext cx="2008606" cy="685469"/>
          </a:xfrm>
          <a:prstGeom prst="rect">
            <a:avLst/>
          </a:prstGeom>
        </p:spPr>
        <p:txBody>
          <a:bodyPr wrap="square" lIns="36000" tIns="36000" rIns="36000" bIns="18000" anchor="ctr" anchorCtr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ja-JP" altLang="en-US" sz="1400" b="1" dirty="0">
                <a:solidFill>
                  <a:srgbClr val="0070C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業界最速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のオールフラッシュ</a:t>
            </a:r>
            <a:b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ストレージ</a:t>
            </a:r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zh-CN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OceanStor Dorado V3</a:t>
            </a:r>
          </a:p>
        </p:txBody>
      </p: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D7295252-EC2D-4D6F-B9D3-7D48797C483B}"/>
              </a:ext>
            </a:extLst>
          </p:cNvPr>
          <p:cNvCxnSpPr/>
          <p:nvPr/>
        </p:nvCxnSpPr>
        <p:spPr>
          <a:xfrm>
            <a:off x="882357" y="4092421"/>
            <a:ext cx="0" cy="305273"/>
          </a:xfrm>
          <a:prstGeom prst="line">
            <a:avLst/>
          </a:prstGeom>
          <a:ln>
            <a:solidFill>
              <a:srgbClr val="0070C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AE6833F1-90BC-46C2-B7BA-D9019206EA84}"/>
              </a:ext>
            </a:extLst>
          </p:cNvPr>
          <p:cNvCxnSpPr>
            <a:cxnSpLocks/>
          </p:cNvCxnSpPr>
          <p:nvPr/>
        </p:nvCxnSpPr>
        <p:spPr>
          <a:xfrm flipV="1">
            <a:off x="1942032" y="3267183"/>
            <a:ext cx="0" cy="305273"/>
          </a:xfrm>
          <a:prstGeom prst="line">
            <a:avLst/>
          </a:prstGeom>
          <a:ln>
            <a:solidFill>
              <a:srgbClr val="0070C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3">
            <a:extLst>
              <a:ext uri="{FF2B5EF4-FFF2-40B4-BE49-F238E27FC236}">
                <a16:creationId xmlns:a16="http://schemas.microsoft.com/office/drawing/2014/main" id="{79E82FF6-21EE-40CA-B0C1-866410719C9A}"/>
              </a:ext>
            </a:extLst>
          </p:cNvPr>
          <p:cNvSpPr/>
          <p:nvPr/>
        </p:nvSpPr>
        <p:spPr>
          <a:xfrm>
            <a:off x="3132172" y="1435691"/>
            <a:ext cx="1910141" cy="685469"/>
          </a:xfrm>
          <a:prstGeom prst="rect">
            <a:avLst/>
          </a:prstGeom>
        </p:spPr>
        <p:txBody>
          <a:bodyPr wrap="square" lIns="36000" tIns="36000" rIns="36000" bIns="18000" anchor="ctr" anchorCtr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ja-JP" altLang="en-US" sz="1400" b="1" dirty="0">
                <a:solidFill>
                  <a:srgbClr val="0070C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業界初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の </a:t>
            </a:r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End-to-End 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オール</a:t>
            </a:r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NVMe 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フラッシュストレージ</a:t>
            </a:r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zh-CN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OceanStor Dorado V6</a:t>
            </a:r>
          </a:p>
        </p:txBody>
      </p: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65F43D6B-8064-4D94-9E60-F8F4BE8AD013}"/>
              </a:ext>
            </a:extLst>
          </p:cNvPr>
          <p:cNvCxnSpPr>
            <a:cxnSpLocks/>
          </p:cNvCxnSpPr>
          <p:nvPr/>
        </p:nvCxnSpPr>
        <p:spPr>
          <a:xfrm flipV="1">
            <a:off x="4087243" y="3267183"/>
            <a:ext cx="0" cy="305273"/>
          </a:xfrm>
          <a:prstGeom prst="line">
            <a:avLst/>
          </a:prstGeom>
          <a:ln>
            <a:solidFill>
              <a:srgbClr val="0070C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矩形 3">
            <a:extLst>
              <a:ext uri="{FF2B5EF4-FFF2-40B4-BE49-F238E27FC236}">
                <a16:creationId xmlns:a16="http://schemas.microsoft.com/office/drawing/2014/main" id="{4E1C9055-BBC9-4F92-9929-D6EA01A4202E}"/>
              </a:ext>
            </a:extLst>
          </p:cNvPr>
          <p:cNvSpPr/>
          <p:nvPr/>
        </p:nvSpPr>
        <p:spPr>
          <a:xfrm>
            <a:off x="4408343" y="5297454"/>
            <a:ext cx="2008606" cy="1008635"/>
          </a:xfrm>
          <a:prstGeom prst="rect">
            <a:avLst/>
          </a:prstGeom>
        </p:spPr>
        <p:txBody>
          <a:bodyPr wrap="square" lIns="36000" tIns="36000" rIns="36000" bIns="18000" anchor="ctr" anchorCtr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ja-JP" altLang="en-US" sz="1400" b="1" dirty="0">
                <a:solidFill>
                  <a:srgbClr val="0070C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業界初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のセマンティクス・</a:t>
            </a:r>
            <a:b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ロスレステクノロジによる真のマルチプロトコル対応</a:t>
            </a:r>
            <a:b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分散ストレージ</a:t>
            </a:r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zh-CN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OceanStor Pacific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A18BEFEB-6EA2-474A-B2C5-636D14127CF4}"/>
              </a:ext>
            </a:extLst>
          </p:cNvPr>
          <p:cNvCxnSpPr/>
          <p:nvPr/>
        </p:nvCxnSpPr>
        <p:spPr>
          <a:xfrm>
            <a:off x="3017813" y="4092421"/>
            <a:ext cx="0" cy="305273"/>
          </a:xfrm>
          <a:prstGeom prst="line">
            <a:avLst/>
          </a:prstGeom>
          <a:ln>
            <a:solidFill>
              <a:srgbClr val="0070C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34E13A11-6F8A-457E-B4D9-FE92B099746D}"/>
              </a:ext>
            </a:extLst>
          </p:cNvPr>
          <p:cNvCxnSpPr/>
          <p:nvPr/>
        </p:nvCxnSpPr>
        <p:spPr>
          <a:xfrm>
            <a:off x="5375248" y="4092421"/>
            <a:ext cx="0" cy="305273"/>
          </a:xfrm>
          <a:prstGeom prst="line">
            <a:avLst/>
          </a:prstGeom>
          <a:ln>
            <a:solidFill>
              <a:srgbClr val="0070C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Picture 8" descr="https://info.support.huawei.com/storage/static/gallery-image/oceanprotect_x9000/render/front_right_top_view.png">
            <a:extLst>
              <a:ext uri="{FF2B5EF4-FFF2-40B4-BE49-F238E27FC236}">
                <a16:creationId xmlns:a16="http://schemas.microsoft.com/office/drawing/2014/main" id="{7B7DC01F-79F0-423C-B506-6346C211D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77510" y="2492000"/>
            <a:ext cx="1227708" cy="690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49AAA28A-9845-40FB-AD4E-94D5A7EDD248}"/>
              </a:ext>
            </a:extLst>
          </p:cNvPr>
          <p:cNvCxnSpPr>
            <a:cxnSpLocks/>
          </p:cNvCxnSpPr>
          <p:nvPr/>
        </p:nvCxnSpPr>
        <p:spPr>
          <a:xfrm flipV="1">
            <a:off x="6784460" y="3267183"/>
            <a:ext cx="0" cy="305273"/>
          </a:xfrm>
          <a:prstGeom prst="line">
            <a:avLst/>
          </a:prstGeom>
          <a:ln>
            <a:solidFill>
              <a:srgbClr val="0070C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3">
            <a:extLst>
              <a:ext uri="{FF2B5EF4-FFF2-40B4-BE49-F238E27FC236}">
                <a16:creationId xmlns:a16="http://schemas.microsoft.com/office/drawing/2014/main" id="{09C4DBC8-DE0F-44A3-94AC-464D945E7B62}"/>
              </a:ext>
            </a:extLst>
          </p:cNvPr>
          <p:cNvSpPr/>
          <p:nvPr/>
        </p:nvSpPr>
        <p:spPr>
          <a:xfrm>
            <a:off x="5761881" y="1801840"/>
            <a:ext cx="2190794" cy="685469"/>
          </a:xfrm>
          <a:prstGeom prst="rect">
            <a:avLst/>
          </a:prstGeom>
        </p:spPr>
        <p:txBody>
          <a:bodyPr wrap="square" lIns="36000" tIns="36000" rIns="36000" bIns="18000" anchor="ctr" anchorCtr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ja-JP" altLang="en-US" sz="1400" b="1" dirty="0">
                <a:solidFill>
                  <a:srgbClr val="0070C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業界最速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のバックアップ性能とリストア性能を誇る</a:t>
            </a:r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zh-CN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Ocean</a:t>
            </a:r>
            <a:r>
              <a:rPr lang="en-US" altLang="ja-JP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Protect</a:t>
            </a:r>
            <a:endParaRPr lang="en-US" altLang="zh-CN" sz="1400" b="1" dirty="0">
              <a:solidFill>
                <a:srgbClr val="002060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3FE534EE-5F17-47B9-B406-DBFB58B9BB12}"/>
              </a:ext>
            </a:extLst>
          </p:cNvPr>
          <p:cNvCxnSpPr/>
          <p:nvPr/>
        </p:nvCxnSpPr>
        <p:spPr>
          <a:xfrm>
            <a:off x="8207969" y="4092421"/>
            <a:ext cx="0" cy="305273"/>
          </a:xfrm>
          <a:prstGeom prst="line">
            <a:avLst/>
          </a:prstGeom>
          <a:ln>
            <a:solidFill>
              <a:srgbClr val="0070C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3">
            <a:extLst>
              <a:ext uri="{FF2B5EF4-FFF2-40B4-BE49-F238E27FC236}">
                <a16:creationId xmlns:a16="http://schemas.microsoft.com/office/drawing/2014/main" id="{E51818C5-A538-48AE-8855-24226F1A0578}"/>
              </a:ext>
            </a:extLst>
          </p:cNvPr>
          <p:cNvSpPr/>
          <p:nvPr/>
        </p:nvSpPr>
        <p:spPr>
          <a:xfrm>
            <a:off x="7202075" y="5349015"/>
            <a:ext cx="2008606" cy="1062496"/>
          </a:xfrm>
          <a:prstGeom prst="rect">
            <a:avLst/>
          </a:prstGeom>
        </p:spPr>
        <p:txBody>
          <a:bodyPr wrap="square" lIns="36000" tIns="36000" rIns="36000" bIns="18000" anchor="ctr" anchorCtr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ja-JP" altLang="en-US" sz="1400" b="1" dirty="0">
                <a:solidFill>
                  <a:srgbClr val="0070C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業界初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のネットワークとストレージ連携による多レイヤ型</a:t>
            </a:r>
            <a:b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ランサム対策ソリューション</a:t>
            </a:r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zh-CN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Ransomware </a:t>
            </a:r>
            <a:r>
              <a:rPr lang="en-US" altLang="ja-JP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Protection</a:t>
            </a:r>
            <a:endParaRPr lang="en-US" altLang="zh-CN" sz="1400" b="1" dirty="0">
              <a:solidFill>
                <a:srgbClr val="002060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116" name="図 115">
            <a:extLst>
              <a:ext uri="{FF2B5EF4-FFF2-40B4-BE49-F238E27FC236}">
                <a16:creationId xmlns:a16="http://schemas.microsoft.com/office/drawing/2014/main" id="{63143953-53C9-4BCF-9E38-FF216FD04213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3182" y="4454249"/>
            <a:ext cx="1486393" cy="8235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7" name="图片 4">
            <a:extLst>
              <a:ext uri="{FF2B5EF4-FFF2-40B4-BE49-F238E27FC236}">
                <a16:creationId xmlns:a16="http://schemas.microsoft.com/office/drawing/2014/main" id="{7F2B001E-8DCF-438D-8C6A-DCC7AEED5679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1273" y="2624027"/>
            <a:ext cx="1644349" cy="511895"/>
          </a:xfrm>
          <a:prstGeom prst="flowChartAlternateProcess">
            <a:avLst/>
          </a:prstGeom>
        </p:spPr>
      </p:pic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72A37422-516F-4A28-B1A5-0239E20C86B9}"/>
              </a:ext>
            </a:extLst>
          </p:cNvPr>
          <p:cNvCxnSpPr>
            <a:cxnSpLocks/>
          </p:cNvCxnSpPr>
          <p:nvPr/>
        </p:nvCxnSpPr>
        <p:spPr>
          <a:xfrm flipV="1">
            <a:off x="9613923" y="3267183"/>
            <a:ext cx="0" cy="305273"/>
          </a:xfrm>
          <a:prstGeom prst="line">
            <a:avLst/>
          </a:prstGeom>
          <a:ln>
            <a:solidFill>
              <a:srgbClr val="0070C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3">
            <a:extLst>
              <a:ext uri="{FF2B5EF4-FFF2-40B4-BE49-F238E27FC236}">
                <a16:creationId xmlns:a16="http://schemas.microsoft.com/office/drawing/2014/main" id="{9FA85553-5C9E-4432-8CD4-50203E49DEE4}"/>
              </a:ext>
            </a:extLst>
          </p:cNvPr>
          <p:cNvSpPr/>
          <p:nvPr/>
        </p:nvSpPr>
        <p:spPr>
          <a:xfrm>
            <a:off x="8586190" y="1366645"/>
            <a:ext cx="1958205" cy="1254856"/>
          </a:xfrm>
          <a:prstGeom prst="rect">
            <a:avLst/>
          </a:prstGeom>
        </p:spPr>
        <p:txBody>
          <a:bodyPr wrap="square" lIns="36000" tIns="36000" rIns="36000" bIns="18000" anchor="ctr" anchorCtr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altLang="ja-JP" sz="1050" dirty="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DCIG </a:t>
            </a:r>
            <a:r>
              <a:rPr lang="ja-JP" altLang="en-US" sz="1050" dirty="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による </a:t>
            </a:r>
            <a:r>
              <a:rPr lang="en-US" altLang="ja-JP" sz="1050" dirty="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VMware </a:t>
            </a:r>
            <a:r>
              <a:rPr lang="ja-JP" altLang="en-US" sz="105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の代替</a:t>
            </a:r>
            <a:br>
              <a:rPr lang="en-US" altLang="ja-JP" sz="105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ソリューション </a:t>
            </a:r>
            <a:r>
              <a:rPr lang="en-US" altLang="ja-JP" sz="1600" b="1" dirty="0">
                <a:solidFill>
                  <a:srgbClr val="0070C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TOP5</a:t>
            </a:r>
            <a:r>
              <a:rPr lang="en-US" altLang="ja-JP" sz="1050" dirty="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 </a:t>
            </a:r>
            <a:r>
              <a:rPr lang="ja-JP" altLang="en-US" sz="1050" dirty="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に</a:t>
            </a:r>
            <a:br>
              <a:rPr lang="en-US" altLang="ja-JP" sz="1050" dirty="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 dirty="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ランクインした</a:t>
            </a:r>
            <a:br>
              <a:rPr lang="en-US" altLang="ja-JP" sz="1050" dirty="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 dirty="0"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仮想化ソリューション</a:t>
            </a:r>
            <a:endParaRPr lang="en-US" altLang="ja-JP" sz="1050" dirty="0"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ja-JP" sz="1400" b="1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Datacenter Virtualization </a:t>
            </a:r>
            <a:r>
              <a:rPr lang="en-US" altLang="ja-JP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Solution</a:t>
            </a:r>
            <a:endParaRPr lang="en-US" altLang="zh-CN" sz="1400" b="1" dirty="0">
              <a:solidFill>
                <a:srgbClr val="002060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21" name="矩形 3">
            <a:extLst>
              <a:ext uri="{FF2B5EF4-FFF2-40B4-BE49-F238E27FC236}">
                <a16:creationId xmlns:a16="http://schemas.microsoft.com/office/drawing/2014/main" id="{EF92B999-62E9-46B7-A5A0-4A2D0108B911}"/>
              </a:ext>
            </a:extLst>
          </p:cNvPr>
          <p:cNvSpPr/>
          <p:nvPr/>
        </p:nvSpPr>
        <p:spPr>
          <a:xfrm>
            <a:off x="10018245" y="5204958"/>
            <a:ext cx="2008606" cy="1170217"/>
          </a:xfrm>
          <a:prstGeom prst="rect">
            <a:avLst/>
          </a:prstGeom>
        </p:spPr>
        <p:txBody>
          <a:bodyPr wrap="square" lIns="36000" tIns="36000" rIns="36000" bIns="18000" anchor="ctr" anchorCtr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ja-JP" altLang="en-US" sz="1400" b="1" dirty="0">
                <a:solidFill>
                  <a:srgbClr val="0070C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業界初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のロングメモリ機能（</a:t>
            </a:r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KV Cache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の長期保持</a:t>
            </a:r>
            <a:r>
              <a:rPr lang="ja-JP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）</a:t>
            </a:r>
            <a:r>
              <a:rPr lang="en-US" altLang="ja-JP"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+</a:t>
            </a:r>
            <a:br>
              <a:rPr lang="en-US" altLang="ja-JP"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高</a:t>
            </a:r>
            <a:r>
              <a:rPr lang="en-US" altLang="ja-JP"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IOPS</a:t>
            </a:r>
            <a:r>
              <a:rPr lang="ja-JP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と高帯域性能を両立した</a:t>
            </a:r>
            <a:r>
              <a:rPr lang="en-US" altLang="ja-JP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 AI </a:t>
            </a:r>
            <a:r>
              <a:rPr lang="ja-JP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向けオールフラッシュ</a:t>
            </a:r>
            <a:br>
              <a:rPr lang="en-US" altLang="ja-JP"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</a:br>
            <a:r>
              <a:rPr lang="ja-JP" alt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ストレージ</a:t>
            </a:r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>
              <a:spcBef>
                <a:spcPts val="300"/>
              </a:spcBef>
            </a:pPr>
            <a:r>
              <a:rPr lang="en-US" altLang="ja-JP" sz="1400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OceanStor A800</a:t>
            </a:r>
            <a:endParaRPr lang="en-US" altLang="zh-CN" sz="1400" b="1" dirty="0">
              <a:solidFill>
                <a:srgbClr val="002060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7D8D378B-93E8-430B-857E-2FD3BD333D14}"/>
              </a:ext>
            </a:extLst>
          </p:cNvPr>
          <p:cNvCxnSpPr/>
          <p:nvPr/>
        </p:nvCxnSpPr>
        <p:spPr>
          <a:xfrm>
            <a:off x="11038928" y="4092421"/>
            <a:ext cx="0" cy="305273"/>
          </a:xfrm>
          <a:prstGeom prst="line">
            <a:avLst/>
          </a:prstGeom>
          <a:ln>
            <a:solidFill>
              <a:srgbClr val="0070C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82">
            <a:extLst>
              <a:ext uri="{FF2B5EF4-FFF2-40B4-BE49-F238E27FC236}">
                <a16:creationId xmlns:a16="http://schemas.microsoft.com/office/drawing/2014/main" id="{AEA4D3C2-1350-4C5D-A9AB-27B78E68B7F2}"/>
              </a:ext>
            </a:extLst>
          </p:cNvPr>
          <p:cNvSpPr txBox="1"/>
          <p:nvPr/>
        </p:nvSpPr>
        <p:spPr>
          <a:xfrm>
            <a:off x="230602" y="838544"/>
            <a:ext cx="11796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solidFill>
                  <a:srgbClr val="002060"/>
                </a:solidFill>
                <a:latin typeface="Arial" panose="020B0604020202020204" pitchFamily="34" charset="0"/>
                <a:ea typeface="メイリオ" panose="020B0604030504040204" pitchFamily="50" charset="-128"/>
              </a:rPr>
              <a:t>業界をリードする製品を市場に投入</a:t>
            </a:r>
            <a:endParaRPr lang="en-US" altLang="zh-CN" b="1" dirty="0">
              <a:solidFill>
                <a:srgbClr val="002060"/>
              </a:solidFill>
              <a:latin typeface="Arial" panose="020B0604020202020204" pitchFamily="34" charset="0"/>
              <a:ea typeface="メイリオ" panose="020B0604030504040204" pitchFamily="50" charset="-128"/>
            </a:endParaRPr>
          </a:p>
        </p:txBody>
      </p:sp>
      <p:pic>
        <p:nvPicPr>
          <p:cNvPr id="124" name="图片 26">
            <a:extLst>
              <a:ext uri="{FF2B5EF4-FFF2-40B4-BE49-F238E27FC236}">
                <a16:creationId xmlns:a16="http://schemas.microsoft.com/office/drawing/2014/main" id="{5E342107-662E-4683-B3A5-A536A57DB680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069294" y="4482709"/>
            <a:ext cx="410908" cy="481512"/>
          </a:xfrm>
          <a:prstGeom prst="rect">
            <a:avLst/>
          </a:prstGeom>
        </p:spPr>
      </p:pic>
      <p:pic>
        <p:nvPicPr>
          <p:cNvPr id="125" name="Picture 2" descr="Table listing the DCIG TOP 5 Enterprise VMware vSphere Alternatives Global Edition in alphabetical order">
            <a:extLst>
              <a:ext uri="{FF2B5EF4-FFF2-40B4-BE49-F238E27FC236}">
                <a16:creationId xmlns:a16="http://schemas.microsoft.com/office/drawing/2014/main" id="{2967E1EC-4675-4CAE-B73C-CE537EFD2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30792" y="1498804"/>
            <a:ext cx="955771" cy="1263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01" name="タイトル CTC">
            <a:extLst>
              <a:ext uri="{FF2B5EF4-FFF2-40B4-BE49-F238E27FC236}">
                <a16:creationId xmlns:a16="http://schemas.microsoft.com/office/drawing/2014/main" id="{08E77BE8-6D71-AFD7-980B-EDF679DD3E0F}"/>
              </a:ext>
            </a:extLst>
          </p:cNvPr>
          <p:cNvSpPr txBox="1">
            <a:spLocks/>
          </p:cNvSpPr>
          <p:nvPr/>
        </p:nvSpPr>
        <p:spPr>
          <a:xfrm>
            <a:off x="280582" y="315955"/>
            <a:ext cx="10516036" cy="5008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b="1" i="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j-cs"/>
              </a:defRPr>
            </a:lvl1pPr>
          </a:lstStyle>
          <a:p>
            <a:r>
              <a:rPr lang="en-US" altLang="ja-JP">
                <a:solidFill>
                  <a:srgbClr val="013D86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継続的な研究開発とイノベーション</a:t>
            </a:r>
          </a:p>
        </p:txBody>
      </p:sp>
      <p:sp>
        <p:nvSpPr>
          <p:cNvPr id="9002" name="TextBox 9001"/>
          <p:cNvSpPr txBox="1"/>
          <p:nvPr/>
        </p:nvSpPr>
        <p:spPr>
          <a:xfrm>
            <a:off x="3600000" y="6460000"/>
            <a:ext cx="66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95959"/>
                </a:solidFill>
                <a:latin typeface="Meiryo UI"/>
              </a:rPr>
              <a:t>出典：HUAWEI「HUAWEI ストレージポートフォリオ」（CTC様向け、2026年1月13日版）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5_CorpColor_ver.1">
  <a:themeElements>
    <a:clrScheme name="CTC_Blue">
      <a:dk1>
        <a:srgbClr val="FFFFFF"/>
      </a:dk1>
      <a:lt1>
        <a:srgbClr val="013C85"/>
      </a:lt1>
      <a:dk2>
        <a:srgbClr val="CACACA"/>
      </a:dk2>
      <a:lt2>
        <a:srgbClr val="005CCA"/>
      </a:lt2>
      <a:accent1>
        <a:srgbClr val="F5F5F5"/>
      </a:accent1>
      <a:accent2>
        <a:srgbClr val="01B1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9BEEA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25_White_ver.1">
  <a:themeElements>
    <a:clrScheme name="CTC_White">
      <a:dk1>
        <a:srgbClr val="013C85"/>
      </a:dk1>
      <a:lt1>
        <a:srgbClr val="FFFFFF"/>
      </a:lt1>
      <a:dk2>
        <a:srgbClr val="013C85"/>
      </a:dk2>
      <a:lt2>
        <a:srgbClr val="CACACA"/>
      </a:lt2>
      <a:accent1>
        <a:srgbClr val="005CCA"/>
      </a:accent1>
      <a:accent2>
        <a:srgbClr val="01B0C9"/>
      </a:accent2>
      <a:accent3>
        <a:srgbClr val="009244"/>
      </a:accent3>
      <a:accent4>
        <a:srgbClr val="E80000"/>
      </a:accent4>
      <a:accent5>
        <a:srgbClr val="FFFF00"/>
      </a:accent5>
      <a:accent6>
        <a:srgbClr val="000000"/>
      </a:accent6>
      <a:hlink>
        <a:srgbClr val="4C8DDA"/>
      </a:hlink>
      <a:folHlink>
        <a:srgbClr val="98BEE9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50000"/>
            </a:schemeClr>
          </a:solidFill>
          <a:prstDash val="sysDot"/>
        </a:ln>
        <a:effectLst>
          <a:outerShdw blurRad="50800" dist="38100" dir="2700000" algn="tl" rotWithShape="0">
            <a:schemeClr val="accent6">
              <a:alpha val="40000"/>
            </a:schemeClr>
          </a:outerShdw>
        </a:effectLst>
      </a:spPr>
      <a:bodyPr rot="0" spcFirstLastPara="0" vertOverflow="overflow" horzOverflow="overflow" vert="horz" wrap="square" lIns="91434" tIns="45717" rIns="91434" bIns="45717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200" dirty="0">
            <a:latin typeface="Arial" panose="020B0604020202020204" pitchFamily="34" charset="0"/>
            <a:ea typeface="メイリオ" panose="020B0604030504040204" pitchFamily="50" charset="-128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2013 - 2022 テーマ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391AD2DD042724B8C57EC0D2B3A837B" ma:contentTypeVersion="13" ma:contentTypeDescription="新しいドキュメントを作成します。" ma:contentTypeScope="" ma:versionID="5b6e8e5b4f28a22b0f7d7839b9b9e677">
  <xsd:schema xmlns:xsd="http://www.w3.org/2001/XMLSchema" xmlns:xs="http://www.w3.org/2001/XMLSchema" xmlns:p="http://schemas.microsoft.com/office/2006/metadata/properties" xmlns:ns2="924d0279-21cc-40ec-8f06-55d03a7b3595" xmlns:ns3="4c4fc297-de46-4f2a-b32d-20a495087e88" targetNamespace="http://schemas.microsoft.com/office/2006/metadata/properties" ma:root="true" ma:fieldsID="0a071a41c443c91ffa25d536699aa8fc" ns2:_="" ns3:_="">
    <xsd:import namespace="924d0279-21cc-40ec-8f06-55d03a7b3595"/>
    <xsd:import namespace="4c4fc297-de46-4f2a-b32d-20a495087e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d0279-21cc-40ec-8f06-55d03a7b35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6bc6290a-8cd6-4a27-9e67-61465016f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4fc297-de46-4f2a-b32d-20a495087e8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a20879a-82ba-407c-b4ab-ae9bb93fdc1f}" ma:internalName="TaxCatchAll" ma:showField="CatchAllData" ma:web="4c4fc297-de46-4f2a-b32d-20a495087e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4fc297-de46-4f2a-b32d-20a495087e88" xsi:nil="true"/>
    <lcf76f155ced4ddcb4097134ff3c332f xmlns="924d0279-21cc-40ec-8f06-55d03a7b359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168F19D-A182-4D83-8B32-2BFBF4204C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1FA200-1CBC-4FDA-8B36-28836B96A203}">
  <ds:schemaRefs>
    <ds:schemaRef ds:uri="4c4fc297-de46-4f2a-b32d-20a495087e88"/>
    <ds:schemaRef ds:uri="924d0279-21cc-40ec-8f06-55d03a7b35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307AAD-B73B-4096-93F0-6385A35D7CB9}">
  <ds:schemaRefs>
    <ds:schemaRef ds:uri="4c4fc297-de46-4f2a-b32d-20a495087e88"/>
    <ds:schemaRef ds:uri="924d0279-21cc-40ec-8f06-55d03a7b35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39</Slides>
  <Notes>32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2025_CorpColor_ver.1</vt:lpstr>
      <vt:lpstr>2025_White_ver.1</vt:lpstr>
      <vt:lpstr>Office 2013 - 2022 テーマ</vt:lpstr>
      <vt:lpstr>1_Office 2013 - 2022 テーマ</vt:lpstr>
      <vt:lpstr>WhiteLabel製品のご紹介</vt:lpstr>
      <vt:lpstr>WhiteLabel製品とは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LinkSphere ネットワーク製品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DataSphere ストレージ製品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CoreSphere サーバ製品</vt:lpstr>
      <vt:lpstr>PowerPoint Presentation</vt:lpstr>
      <vt:lpstr>PowerPoint Presentation</vt:lpstr>
      <vt:lpstr>WhiteLabel製品の保守</vt:lpstr>
      <vt:lpstr>PowerPoint Presentation</vt:lpstr>
      <vt:lpstr>PowerPoint Presentation</vt:lpstr>
      <vt:lpstr>PowerPoint Presentation</vt:lpstr>
      <vt:lpstr>検証機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DataSphere勉強会（1. ホワイトラベル概要説明）</dc:title>
  <dc:creator>崔　善珠</dc:creator>
  <cp:revision>1</cp:revision>
  <cp:lastPrinted>2026-06-30T03:08:11Z</cp:lastPrinted>
  <dcterms:created xsi:type="dcterms:W3CDTF">2026-02-05T03:46:01Z</dcterms:created>
  <dcterms:modified xsi:type="dcterms:W3CDTF">2026-09-28T05:11:40Z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0x010100A391AD2DD042724B8C57EC0D2B3A837B</vt:lpwstr>
  </property>
  <property fmtid="{D5CDD505-2E9C-101B-9397-08002B2CF9AE}" pid="4" name="MSIP_Label_babb27ca-7868-470c-8d5b-74df37759162_Enabled">
    <vt:lpwstr>true</vt:lpwstr>
  </property>
  <property fmtid="{D5CDD505-2E9C-101B-9397-08002B2CF9AE}" pid="5" name="MSIP_Label_babb27ca-7868-470c-8d5b-74df37759162_SetDate">
    <vt:lpwstr>2026-07-07T09:49:09Z</vt:lpwstr>
  </property>
  <property fmtid="{D5CDD505-2E9C-101B-9397-08002B2CF9AE}" pid="6" name="MSIP_Label_babb27ca-7868-470c-8d5b-74df37759162_Method">
    <vt:lpwstr>Privileged</vt:lpwstr>
  </property>
  <property fmtid="{D5CDD505-2E9C-101B-9397-08002B2CF9AE}" pid="7" name="MSIP_Label_babb27ca-7868-470c-8d5b-74df37759162_Name">
    <vt:lpwstr>babb27ca-7868-470c-8d5b-74df37759162</vt:lpwstr>
  </property>
  <property fmtid="{D5CDD505-2E9C-101B-9397-08002B2CF9AE}" pid="8" name="MSIP_Label_babb27ca-7868-470c-8d5b-74df37759162_SiteId">
    <vt:lpwstr>bdda4ca5-4ffd-4f47-9e0d-ce56ad194b37</vt:lpwstr>
  </property>
  <property fmtid="{D5CDD505-2E9C-101B-9397-08002B2CF9AE}" pid="9" name="MSIP_Label_babb27ca-7868-470c-8d5b-74df37759162_ActionId">
    <vt:lpwstr>30dbabaa-f994-4c7f-841e-b301aa6ff410</vt:lpwstr>
  </property>
  <property fmtid="{D5CDD505-2E9C-101B-9397-08002B2CF9AE}" pid="10" name="MSIP_Label_babb27ca-7868-470c-8d5b-74df37759162_ContentBits">
    <vt:lpwstr>0</vt:lpwstr>
  </property>
  <property fmtid="{D5CDD505-2E9C-101B-9397-08002B2CF9AE}" pid="11" name="MSIP_Label_babb27ca-7868-470c-8d5b-74df37759162_Tag">
    <vt:lpwstr>10, 0, 1, 1</vt:lpwstr>
  </property>
</Properties>
</file>